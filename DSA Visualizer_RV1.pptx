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60" r:id="rId5"/>
    <p:sldId id="259" r:id="rId6"/>
    <p:sldId id="282" r:id="rId7"/>
    <p:sldId id="285" r:id="rId8"/>
    <p:sldId id="283" r:id="rId9"/>
    <p:sldId id="284" r:id="rId10"/>
    <p:sldId id="263" r:id="rId11"/>
    <p:sldId id="264" r:id="rId12"/>
    <p:sldId id="265" r:id="rId13"/>
    <p:sldId id="280" r:id="rId14"/>
    <p:sldId id="278" r:id="rId15"/>
    <p:sldId id="279" r:id="rId16"/>
    <p:sldId id="267" r:id="rId17"/>
    <p:sldId id="266" r:id="rId18"/>
    <p:sldId id="281" r:id="rId19"/>
    <p:sldId id="269" r:id="rId20"/>
    <p:sldId id="268" r:id="rId21"/>
    <p:sldId id="288" r:id="rId22"/>
    <p:sldId id="270" r:id="rId23"/>
    <p:sldId id="286" r:id="rId24"/>
    <p:sldId id="287" r:id="rId25"/>
    <p:sldId id="272" r:id="rId26"/>
    <p:sldId id="273" r:id="rId27"/>
    <p:sldId id="274" r:id="rId28"/>
    <p:sldId id="289" r:id="rId29"/>
    <p:sldId id="275"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78832" autoAdjust="0"/>
  </p:normalViewPr>
  <p:slideViewPr>
    <p:cSldViewPr snapToGrid="0" snapToObjects="1">
      <p:cViewPr varScale="1">
        <p:scale>
          <a:sx n="87" d="100"/>
          <a:sy n="87" d="100"/>
        </p:scale>
        <p:origin x="105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66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ED45-01C0-D9B1-054A-D9A29D059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460F0-44E9-FDE3-FDB9-A4516C128E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BCD1C-C55B-C6F9-08D1-E864938A24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34360-9032-EA87-BCE8-10FAC2F0D52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49353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1E1FC-E798-6892-6D7D-2B5F665B7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008E2-CE87-B2E4-9604-CBF6137E1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0ECCD-432F-CCD4-F39E-DF153B579F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AFE8BD-9B93-4B51-9DDF-212663780B4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57057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216B4-7B64-5F4E-6E57-CA1E5F4E4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034B3-1117-5425-9136-2629DE3E8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CE5C3-93BE-8B62-24C9-B90D57B05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90384-AC17-72A6-B56A-FFBDEDFE24C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16333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sử dụng thuật toán đệ quy để tính tọa độ các node BST, tự động giảm khoảng cách ngang theo độ sâu và áp dụng Auto-Scaling để tránh chồng lấn hoặc tràn màn hình. Node được vẽ bằng DOM, cạnh được vẽ bằng SVG nhằm tối ưu hiệu ứng trực quan và hiệu năng hiển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5213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94D7-1DD6-CE87-C74B-A522BF894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BC946-A487-4190-AA04-CA8CE2620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22411-B4AC-4EAB-AC2C-8699CE6E4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2F539D-6401-876F-ADC5-F4C8EE9B99F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044478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So sánh đáp án người dùng chọn. </a:t>
            </a:r>
            <a:endParaRPr lang="en-US" dirty="0"/>
          </a:p>
          <a:p>
            <a:r>
              <a:rPr lang="vi-VN" dirty="0"/>
              <a:t>Tính tổng điểm. </a:t>
            </a:r>
            <a:endParaRPr lang="en-US" dirty="0"/>
          </a:p>
          <a:p>
            <a:r>
              <a:rPr lang="vi-VN" dirty="0"/>
              <a:t>Hiển thị số câu đúng/sai.</a:t>
            </a:r>
            <a:endParaRPr lang="en-US" dirty="0"/>
          </a:p>
          <a:p>
            <a:r>
              <a:rPr lang="vi-VN" dirty="0"/>
              <a:t>Đưa ra kết quả cuối cùng.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9EECA-9D9A-65A0-5699-61E259A6D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BED28-FB84-132A-279E-EF5BC2B6D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E7C20-D69A-534D-91A4-CCF384F756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FB838-BE21-410A-18DF-2A36BD64A88C}"/>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567728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C7EB-CCE4-BD14-E545-F348EE639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E08BD-9973-7C2D-B762-F762CD5EF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3012A-B147-2E53-27B2-069CADCD23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D2C128-83DA-963D-7AEC-8EA58553E56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72010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8EB7C-E03F-F23D-3A60-F220AEEBA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51981-1887-752A-7BFD-D7D76BFA9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5FD22-AB72-9AFC-D9E9-7C226BCB3F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A1376F-3FC8-8375-FD30-0161A427D90E}"/>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742486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1B3A6B"/>
          </a:solidFill>
          <a:ln w="12700">
            <a:solidFill>
              <a:srgbClr val="1B3A6B"/>
            </a:solidFill>
            <a:prstDash val="solid"/>
          </a:ln>
        </p:spPr>
        <p:txBody>
          <a:bodyPr/>
          <a:lstStyle/>
          <a:p>
            <a:endParaRPr lang="en-US"/>
          </a:p>
        </p:txBody>
      </p:sp>
      <p:sp>
        <p:nvSpPr>
          <p:cNvPr id="3" name="Shape 1"/>
          <p:cNvSpPr/>
          <p:nvPr/>
        </p:nvSpPr>
        <p:spPr>
          <a:xfrm>
            <a:off x="0" y="0"/>
            <a:ext cx="109728" cy="5143500"/>
          </a:xfrm>
          <a:prstGeom prst="rect">
            <a:avLst/>
          </a:prstGeom>
          <a:solidFill>
            <a:srgbClr val="2563EB"/>
          </a:solidFill>
          <a:ln w="12700">
            <a:solidFill>
              <a:srgbClr val="2563EB"/>
            </a:solidFill>
            <a:prstDash val="solid"/>
          </a:ln>
        </p:spPr>
        <p:txBody>
          <a:bodyPr/>
          <a:lstStyle/>
          <a:p>
            <a:endParaRPr lang="en-US"/>
          </a:p>
        </p:txBody>
      </p:sp>
      <p:sp>
        <p:nvSpPr>
          <p:cNvPr id="4" name="Shape 2"/>
          <p:cNvSpPr/>
          <p:nvPr/>
        </p:nvSpPr>
        <p:spPr>
          <a:xfrm>
            <a:off x="292608" y="79248"/>
            <a:ext cx="2377440" cy="292608"/>
          </a:xfrm>
          <a:prstGeom prst="roundRect">
            <a:avLst/>
          </a:prstGeom>
          <a:solidFill>
            <a:srgbClr val="EFF6FF"/>
          </a:solidFill>
          <a:ln w="12700">
            <a:solidFill>
              <a:srgbClr val="BFDBFE"/>
            </a:solidFill>
            <a:prstDash val="solid"/>
          </a:ln>
        </p:spPr>
        <p:txBody>
          <a:bodyPr/>
          <a:lstStyle/>
          <a:p>
            <a:endParaRPr lang="en-US"/>
          </a:p>
        </p:txBody>
      </p:sp>
      <p:sp>
        <p:nvSpPr>
          <p:cNvPr id="5" name="Text 3"/>
          <p:cNvSpPr/>
          <p:nvPr/>
        </p:nvSpPr>
        <p:spPr>
          <a:xfrm>
            <a:off x="292608" y="79248"/>
            <a:ext cx="2377440" cy="292608"/>
          </a:xfrm>
          <a:prstGeom prst="rect">
            <a:avLst/>
          </a:prstGeom>
          <a:noFill/>
          <a:ln/>
        </p:spPr>
        <p:txBody>
          <a:bodyPr wrap="square" rtlCol="0" anchor="ctr"/>
          <a:lstStyle/>
          <a:p>
            <a:pPr marL="0" indent="0" algn="ctr">
              <a:buNone/>
            </a:pPr>
            <a:r>
              <a:rPr lang="en-US" sz="850" b="1" dirty="0">
                <a:solidFill>
                  <a:srgbClr val="2563EB"/>
                </a:solidFill>
                <a:latin typeface="Calibri" pitchFamily="34" charset="0"/>
                <a:ea typeface="Calibri" pitchFamily="34" charset="-122"/>
                <a:cs typeface="Calibri" pitchFamily="34" charset="-120"/>
              </a:rPr>
              <a:t>ĐỒ ÁN MÔN HỌC — TRÍ TUỆ NHÂN TẠO</a:t>
            </a:r>
            <a:endParaRPr lang="en-US" sz="850" dirty="0"/>
          </a:p>
        </p:txBody>
      </p:sp>
      <p:sp>
        <p:nvSpPr>
          <p:cNvPr id="6" name="Text 4"/>
          <p:cNvSpPr/>
          <p:nvPr/>
        </p:nvSpPr>
        <p:spPr>
          <a:xfrm>
            <a:off x="201168" y="518160"/>
            <a:ext cx="4572000" cy="1188720"/>
          </a:xfrm>
          <a:prstGeom prst="rect">
            <a:avLst/>
          </a:prstGeom>
          <a:noFill/>
          <a:ln/>
        </p:spPr>
        <p:txBody>
          <a:bodyPr wrap="square" rtlCol="0" anchor="ctr"/>
          <a:lstStyle/>
          <a:p>
            <a:pPr marL="0" indent="0" algn="l">
              <a:lnSpc>
                <a:spcPct val="115000"/>
              </a:lnSpc>
              <a:buNone/>
            </a:pPr>
            <a:r>
              <a:rPr lang="en-US" sz="2800" b="1" dirty="0">
                <a:solidFill>
                  <a:srgbClr val="1B3A6B"/>
                </a:solidFill>
                <a:latin typeface="Calibri" pitchFamily="34" charset="0"/>
                <a:ea typeface="Calibri" pitchFamily="34" charset="-122"/>
                <a:cs typeface="Calibri" pitchFamily="34" charset="-120"/>
              </a:rPr>
              <a:t>XÂY DỰNG HỆ THỐNG</a:t>
            </a:r>
            <a:endParaRPr lang="en-US" sz="2800" dirty="0"/>
          </a:p>
          <a:p>
            <a:pPr marL="0" indent="0" algn="l">
              <a:lnSpc>
                <a:spcPct val="115000"/>
              </a:lnSpc>
              <a:buNone/>
            </a:pPr>
            <a:r>
              <a:rPr lang="en-US" sz="2800" b="1" dirty="0">
                <a:solidFill>
                  <a:srgbClr val="1B3A6B"/>
                </a:solidFill>
                <a:latin typeface="Calibri" pitchFamily="34" charset="0"/>
                <a:ea typeface="Calibri" pitchFamily="34" charset="-122"/>
                <a:cs typeface="Calibri" pitchFamily="34" charset="-120"/>
              </a:rPr>
              <a:t>MINH HỌA THUẬT TOÁN</a:t>
            </a:r>
            <a:endParaRPr lang="en-US" sz="2800" dirty="0"/>
          </a:p>
        </p:txBody>
      </p:sp>
      <p:sp>
        <p:nvSpPr>
          <p:cNvPr id="7" name="Text 5"/>
          <p:cNvSpPr/>
          <p:nvPr/>
        </p:nvSpPr>
        <p:spPr>
          <a:xfrm>
            <a:off x="201168" y="1706880"/>
            <a:ext cx="4572000" cy="411480"/>
          </a:xfrm>
          <a:prstGeom prst="rect">
            <a:avLst/>
          </a:prstGeom>
          <a:noFill/>
          <a:ln/>
        </p:spPr>
        <p:txBody>
          <a:bodyPr wrap="square" rtlCol="0" anchor="ctr"/>
          <a:lstStyle/>
          <a:p>
            <a:pPr marL="0" indent="0">
              <a:buNone/>
            </a:pPr>
            <a:r>
              <a:rPr lang="en-US" sz="1600" i="1" dirty="0">
                <a:solidFill>
                  <a:srgbClr val="475569"/>
                </a:solidFill>
                <a:latin typeface="Calibri" pitchFamily="34" charset="0"/>
                <a:ea typeface="Calibri" pitchFamily="34" charset="-122"/>
                <a:cs typeface="Calibri" pitchFamily="34" charset="-120"/>
              </a:rPr>
              <a:t>Singly Linked List, Binary Search Tree</a:t>
            </a:r>
            <a:endParaRPr lang="en-US" sz="1600" dirty="0"/>
          </a:p>
        </p:txBody>
      </p:sp>
      <p:sp>
        <p:nvSpPr>
          <p:cNvPr id="8" name="Shape 6"/>
          <p:cNvSpPr/>
          <p:nvPr/>
        </p:nvSpPr>
        <p:spPr>
          <a:xfrm>
            <a:off x="201168" y="2182368"/>
            <a:ext cx="4114800" cy="27432"/>
          </a:xfrm>
          <a:prstGeom prst="rect">
            <a:avLst/>
          </a:prstGeom>
          <a:solidFill>
            <a:srgbClr val="E2E8F0"/>
          </a:solidFill>
          <a:ln w="12700">
            <a:solidFill>
              <a:srgbClr val="E2E8F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228600" y="2328672"/>
            <a:ext cx="320040" cy="320040"/>
          </a:xfrm>
          <a:prstGeom prst="rect">
            <a:avLst/>
          </a:prstGeom>
        </p:spPr>
      </p:pic>
      <p:sp>
        <p:nvSpPr>
          <p:cNvPr id="10" name="Text 7"/>
          <p:cNvSpPr/>
          <p:nvPr/>
        </p:nvSpPr>
        <p:spPr>
          <a:xfrm>
            <a:off x="621792" y="2328672"/>
            <a:ext cx="4114800" cy="320040"/>
          </a:xfrm>
          <a:prstGeom prst="rect">
            <a:avLst/>
          </a:prstGeom>
          <a:noFill/>
          <a:ln/>
        </p:spPr>
        <p:txBody>
          <a:bodyPr wrap="square" rtlCol="0" anchor="ctr"/>
          <a:lstStyle/>
          <a:p>
            <a:pPr marL="0" indent="0">
              <a:buNone/>
            </a:pPr>
            <a:r>
              <a:rPr lang="en-US" sz="1300" dirty="0" err="1">
                <a:solidFill>
                  <a:srgbClr val="475569"/>
                </a:solidFill>
                <a:latin typeface="Calibri" pitchFamily="34" charset="0"/>
                <a:ea typeface="Calibri" pitchFamily="34" charset="-122"/>
                <a:cs typeface="Calibri" pitchFamily="34" charset="-120"/>
              </a:rPr>
              <a:t>Nhóm</a:t>
            </a:r>
            <a:r>
              <a:rPr lang="en-US" sz="1300" dirty="0">
                <a:solidFill>
                  <a:srgbClr val="475569"/>
                </a:solidFill>
                <a:latin typeface="Calibri" pitchFamily="34" charset="0"/>
                <a:ea typeface="Calibri" pitchFamily="34" charset="-122"/>
                <a:cs typeface="Calibri" pitchFamily="34" charset="-120"/>
              </a:rPr>
              <a:t> 11</a:t>
            </a:r>
            <a:endParaRPr lang="en-US" sz="1300" dirty="0"/>
          </a:p>
        </p:txBody>
      </p:sp>
      <p:pic>
        <p:nvPicPr>
          <p:cNvPr id="11" name="Image 1" descr="preencoded.png"/>
          <p:cNvPicPr>
            <a:picLocks noChangeAspect="1"/>
          </p:cNvPicPr>
          <p:nvPr/>
        </p:nvPicPr>
        <p:blipFill>
          <a:blip r:embed="rId4"/>
          <a:stretch>
            <a:fillRect/>
          </a:stretch>
        </p:blipFill>
        <p:spPr>
          <a:xfrm>
            <a:off x="228600" y="2731008"/>
            <a:ext cx="320040" cy="320040"/>
          </a:xfrm>
          <a:prstGeom prst="rect">
            <a:avLst/>
          </a:prstGeom>
        </p:spPr>
      </p:pic>
      <p:sp>
        <p:nvSpPr>
          <p:cNvPr id="12" name="Text 8"/>
          <p:cNvSpPr/>
          <p:nvPr/>
        </p:nvSpPr>
        <p:spPr>
          <a:xfrm>
            <a:off x="621792" y="2731008"/>
            <a:ext cx="4114800" cy="32004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HTML5  ·  CSS3  ·  JavaScript</a:t>
            </a:r>
            <a:endParaRPr lang="en-US" sz="1300" dirty="0"/>
          </a:p>
        </p:txBody>
      </p:sp>
      <p:sp>
        <p:nvSpPr>
          <p:cNvPr id="13" name="Shape 9"/>
          <p:cNvSpPr/>
          <p:nvPr/>
        </p:nvSpPr>
        <p:spPr>
          <a:xfrm>
            <a:off x="201168" y="3188208"/>
            <a:ext cx="4114800" cy="27432"/>
          </a:xfrm>
          <a:prstGeom prst="rect">
            <a:avLst/>
          </a:prstGeom>
          <a:solidFill>
            <a:srgbClr val="E2E8F0"/>
          </a:solidFill>
          <a:ln w="12700">
            <a:solidFill>
              <a:srgbClr val="E2E8F0"/>
            </a:solidFill>
            <a:prstDash val="solid"/>
          </a:ln>
        </p:spPr>
        <p:txBody>
          <a:bodyPr/>
          <a:lstStyle/>
          <a:p>
            <a:endParaRPr lang="en-US"/>
          </a:p>
        </p:txBody>
      </p:sp>
      <p:sp>
        <p:nvSpPr>
          <p:cNvPr id="15" name="Text 11"/>
          <p:cNvSpPr/>
          <p:nvPr/>
        </p:nvSpPr>
        <p:spPr>
          <a:xfrm>
            <a:off x="5029200" y="731520"/>
            <a:ext cx="4114800" cy="1280160"/>
          </a:xfrm>
          <a:prstGeom prst="rect">
            <a:avLst/>
          </a:prstGeom>
          <a:noFill/>
          <a:ln/>
        </p:spPr>
        <p:txBody>
          <a:bodyPr wrap="square" rtlCol="0" anchor="ctr"/>
          <a:lstStyle/>
          <a:p>
            <a:pPr marL="0" indent="0" algn="ctr">
              <a:buNone/>
            </a:pPr>
            <a:r>
              <a:rPr lang="en-US" sz="7200" b="1" dirty="0">
                <a:solidFill>
                  <a:srgbClr val="3B82F6"/>
                </a:solidFill>
                <a:latin typeface="Calibri" pitchFamily="34" charset="0"/>
                <a:ea typeface="Calibri" pitchFamily="34" charset="-122"/>
                <a:cs typeface="Calibri" pitchFamily="34" charset="-120"/>
              </a:rPr>
              <a:t>DSA</a:t>
            </a:r>
            <a:endParaRPr lang="en-US" sz="7200" dirty="0"/>
          </a:p>
        </p:txBody>
      </p:sp>
      <p:sp>
        <p:nvSpPr>
          <p:cNvPr id="16" name="Text 12"/>
          <p:cNvSpPr/>
          <p:nvPr/>
        </p:nvSpPr>
        <p:spPr>
          <a:xfrm>
            <a:off x="5029200" y="1920240"/>
            <a:ext cx="4114800" cy="502920"/>
          </a:xfrm>
          <a:prstGeom prst="rect">
            <a:avLst/>
          </a:prstGeom>
          <a:noFill/>
          <a:ln/>
        </p:spPr>
        <p:txBody>
          <a:bodyPr wrap="square" rtlCol="0" anchor="ctr"/>
          <a:lstStyle/>
          <a:p>
            <a:pPr marL="0" indent="0" algn="ctr">
              <a:buNone/>
            </a:pPr>
            <a:r>
              <a:rPr lang="en-US" sz="2100" b="1" kern="0" spc="500" dirty="0">
                <a:solidFill>
                  <a:srgbClr val="D97706"/>
                </a:solidFill>
                <a:latin typeface="Calibri" pitchFamily="34" charset="0"/>
                <a:ea typeface="Calibri" pitchFamily="34" charset="-122"/>
                <a:cs typeface="Calibri" pitchFamily="34" charset="-120"/>
              </a:rPr>
              <a:t>VISUALIZER</a:t>
            </a:r>
            <a:endParaRPr lang="en-US" sz="2100" dirty="0"/>
          </a:p>
        </p:txBody>
      </p:sp>
      <p:sp>
        <p:nvSpPr>
          <p:cNvPr id="17" name="Shape 13"/>
          <p:cNvSpPr/>
          <p:nvPr/>
        </p:nvSpPr>
        <p:spPr>
          <a:xfrm>
            <a:off x="5669280" y="2496312"/>
            <a:ext cx="2834640" cy="36576"/>
          </a:xfrm>
          <a:prstGeom prst="rect">
            <a:avLst/>
          </a:prstGeom>
          <a:solidFill>
            <a:srgbClr val="3B82F6"/>
          </a:solidFill>
          <a:ln w="12700">
            <a:solidFill>
              <a:srgbClr val="3B82F6"/>
            </a:solidFill>
            <a:prstDash val="solid"/>
          </a:ln>
        </p:spPr>
        <p:txBody>
          <a:bodyPr/>
          <a:lstStyle/>
          <a:p>
            <a:endParaRPr lang="en-US"/>
          </a:p>
        </p:txBody>
      </p:sp>
      <p:sp>
        <p:nvSpPr>
          <p:cNvPr id="18" name="Text 14"/>
          <p:cNvSpPr/>
          <p:nvPr/>
        </p:nvSpPr>
        <p:spPr>
          <a:xfrm>
            <a:off x="5029200" y="2651760"/>
            <a:ext cx="4114800" cy="365760"/>
          </a:xfrm>
          <a:prstGeom prst="rect">
            <a:avLst/>
          </a:prstGeom>
          <a:noFill/>
          <a:ln/>
        </p:spPr>
        <p:txBody>
          <a:bodyPr wrap="square" rtlCol="0" anchor="ctr"/>
          <a:lstStyle/>
          <a:p>
            <a:pPr marL="0" indent="0" algn="ctr">
              <a:buNone/>
            </a:pPr>
            <a:r>
              <a:rPr lang="en-US" sz="1200" i="1" dirty="0">
                <a:solidFill>
                  <a:srgbClr val="93C5FD"/>
                </a:solidFill>
                <a:latin typeface="Calibri" pitchFamily="34" charset="0"/>
                <a:ea typeface="Calibri" pitchFamily="34" charset="-122"/>
                <a:cs typeface="Calibri" pitchFamily="34" charset="-120"/>
              </a:rPr>
              <a:t>Học thuật toán — Nhìn thấy — Chạm vào</a:t>
            </a:r>
            <a:endParaRPr lang="en-US" sz="1200" dirty="0"/>
          </a:p>
        </p:txBody>
      </p:sp>
      <p:sp>
        <p:nvSpPr>
          <p:cNvPr id="19" name="Shape 15"/>
          <p:cNvSpPr/>
          <p:nvPr/>
        </p:nvSpPr>
        <p:spPr>
          <a:xfrm>
            <a:off x="5029200" y="4617720"/>
            <a:ext cx="4114800" cy="525780"/>
          </a:xfrm>
          <a:prstGeom prst="rect">
            <a:avLst/>
          </a:prstGeom>
          <a:solidFill>
            <a:srgbClr val="162D54"/>
          </a:solidFill>
          <a:ln w="12700">
            <a:solidFill>
              <a:srgbClr val="162D54"/>
            </a:solidFill>
            <a:prstDash val="solid"/>
          </a:ln>
        </p:spPr>
        <p:txBody>
          <a:bodyPr/>
          <a:lstStyle/>
          <a:p>
            <a:endParaRPr lang="en-US"/>
          </a:p>
        </p:txBody>
      </p:sp>
      <p:sp>
        <p:nvSpPr>
          <p:cNvPr id="20" name="Text 16"/>
          <p:cNvSpPr/>
          <p:nvPr/>
        </p:nvSpPr>
        <p:spPr>
          <a:xfrm>
            <a:off x="5029200" y="4617720"/>
            <a:ext cx="4114800" cy="525780"/>
          </a:xfrm>
          <a:prstGeom prst="rect">
            <a:avLst/>
          </a:prstGeom>
          <a:noFill/>
          <a:ln/>
        </p:spPr>
        <p:txBody>
          <a:bodyPr wrap="square" rtlCol="0" anchor="ctr"/>
          <a:lstStyle/>
          <a:p>
            <a:pPr algn="ctr"/>
            <a:r>
              <a:rPr lang="en-US" sz="1200" b="1" dirty="0">
                <a:solidFill>
                  <a:srgbClr val="FCD34D"/>
                </a:solidFill>
                <a:latin typeface="Calibri" pitchFamily="34" charset="0"/>
                <a:ea typeface="Calibri" pitchFamily="34" charset="-122"/>
                <a:cs typeface="Calibri" pitchFamily="34" charset="-120"/>
              </a:rPr>
              <a:t>🌐 </a:t>
            </a:r>
            <a:r>
              <a:rPr lang="en-US" sz="1200" i="1" dirty="0" err="1">
                <a:solidFill>
                  <a:srgbClr val="7DD3FC"/>
                </a:solidFill>
                <a:latin typeface="Calibri" pitchFamily="34" charset="0"/>
                <a:ea typeface="Calibri" pitchFamily="34" charset="-122"/>
                <a:cs typeface="Calibri" pitchFamily="34" charset="-120"/>
              </a:rPr>
              <a:t>dsai-ivory.vercel.app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NỘI DUNG TRÌNH BÀY, </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Nội dung trình bày</a:t>
            </a:r>
            <a:endParaRPr lang="en-US" sz="3000" dirty="0"/>
          </a:p>
        </p:txBody>
      </p:sp>
      <p:sp>
        <p:nvSpPr>
          <p:cNvPr id="5" name="Shape 3"/>
          <p:cNvSpPr/>
          <p:nvPr/>
        </p:nvSpPr>
        <p:spPr>
          <a:xfrm>
            <a:off x="320040" y="1243584"/>
            <a:ext cx="8503920" cy="32004"/>
          </a:xfrm>
          <a:prstGeom prst="rect">
            <a:avLst/>
          </a:prstGeom>
          <a:solidFill>
            <a:srgbClr val="2563EB"/>
          </a:solidFill>
          <a:ln w="12700">
            <a:solidFill>
              <a:srgbClr val="2563EB"/>
            </a:solidFill>
            <a:prstDash val="solid"/>
          </a:ln>
        </p:spPr>
        <p:txBody>
          <a:bodyPr/>
          <a:lstStyle/>
          <a:p>
            <a:endParaRPr lang="en-US"/>
          </a:p>
        </p:txBody>
      </p:sp>
      <p:sp>
        <p:nvSpPr>
          <p:cNvPr id="6" name="Shape 4"/>
          <p:cNvSpPr/>
          <p:nvPr/>
        </p:nvSpPr>
        <p:spPr>
          <a:xfrm>
            <a:off x="320040" y="1641348"/>
            <a:ext cx="420624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641348"/>
            <a:ext cx="64008" cy="1024128"/>
          </a:xfrm>
          <a:prstGeom prst="rect">
            <a:avLst/>
          </a:prstGeom>
          <a:solidFill>
            <a:srgbClr val="2563EB"/>
          </a:solidFill>
          <a:ln w="12700">
            <a:solidFill>
              <a:srgbClr val="2563EB"/>
            </a:solidFill>
            <a:prstDash val="solid"/>
          </a:ln>
        </p:spPr>
        <p:txBody>
          <a:bodyPr/>
          <a:lstStyle/>
          <a:p>
            <a:endParaRPr lang="en-US"/>
          </a:p>
        </p:txBody>
      </p:sp>
      <p:sp>
        <p:nvSpPr>
          <p:cNvPr id="8" name="Shape 6"/>
          <p:cNvSpPr/>
          <p:nvPr/>
        </p:nvSpPr>
        <p:spPr>
          <a:xfrm>
            <a:off x="502920" y="1915668"/>
            <a:ext cx="475488" cy="475488"/>
          </a:xfrm>
          <a:prstGeom prst="ellipse">
            <a:avLst/>
          </a:prstGeom>
          <a:solidFill>
            <a:srgbClr val="F0F9FF"/>
          </a:solidFill>
          <a:ln w="12700">
            <a:solidFill>
              <a:srgbClr val="2563EB"/>
            </a:solidFill>
            <a:prstDash val="solid"/>
          </a:ln>
        </p:spPr>
        <p:txBody>
          <a:bodyPr/>
          <a:lstStyle/>
          <a:p>
            <a:endParaRPr lang="en-US"/>
          </a:p>
        </p:txBody>
      </p:sp>
      <p:sp>
        <p:nvSpPr>
          <p:cNvPr id="9" name="Text 7"/>
          <p:cNvSpPr/>
          <p:nvPr/>
        </p:nvSpPr>
        <p:spPr>
          <a:xfrm>
            <a:off x="502920" y="1915668"/>
            <a:ext cx="475488" cy="475488"/>
          </a:xfrm>
          <a:prstGeom prst="rect">
            <a:avLst/>
          </a:prstGeom>
          <a:noFill/>
          <a:ln/>
        </p:spPr>
        <p:txBody>
          <a:bodyPr wrap="square" lIns="0" tIns="0" rIns="0" bIns="0" rtlCol="0" anchor="ctr"/>
          <a:lstStyle/>
          <a:p>
            <a:pPr marL="0" indent="0" algn="ctr">
              <a:buNone/>
            </a:pPr>
            <a:r>
              <a:rPr lang="en-US" sz="1500" b="1" dirty="0">
                <a:solidFill>
                  <a:srgbClr val="2563EB"/>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1097280" y="1732788"/>
            <a:ext cx="3246120" cy="38404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  Đặt vấn đề</a:t>
            </a:r>
            <a:endParaRPr lang="en-US" sz="1500" dirty="0"/>
          </a:p>
        </p:txBody>
      </p:sp>
      <p:sp>
        <p:nvSpPr>
          <p:cNvPr id="11" name="Text 9"/>
          <p:cNvSpPr/>
          <p:nvPr/>
        </p:nvSpPr>
        <p:spPr>
          <a:xfrm>
            <a:off x="1097280" y="2171700"/>
            <a:ext cx="3246120" cy="411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Tại sao DSA khó học? Thực trạng giảng dạy </a:t>
            </a:r>
            <a:r>
              <a:rPr lang="en-US" sz="1100" dirty="0" err="1">
                <a:solidFill>
                  <a:srgbClr val="475569"/>
                </a:solidFill>
                <a:latin typeface="Calibri" pitchFamily="34" charset="0"/>
                <a:ea typeface="Calibri" pitchFamily="34" charset="-122"/>
                <a:cs typeface="Calibri" pitchFamily="34" charset="-120"/>
              </a:rPr>
              <a:t>hiện</a:t>
            </a:r>
            <a:r>
              <a:rPr lang="en-US" sz="1100" dirty="0">
                <a:solidFill>
                  <a:srgbClr val="475569"/>
                </a:solidFill>
                <a:latin typeface="Calibri" pitchFamily="34" charset="0"/>
                <a:ea typeface="Calibri" pitchFamily="34" charset="-122"/>
                <a:cs typeface="Calibri" pitchFamily="34" charset="-120"/>
              </a:rPr>
              <a:t> nay</a:t>
            </a:r>
          </a:p>
          <a:p>
            <a:r>
              <a:rPr lang="en-US" sz="1100" dirty="0">
                <a:solidFill>
                  <a:srgbClr val="475569"/>
                </a:solidFill>
                <a:latin typeface="Calibri" pitchFamily="34" charset="0"/>
                <a:ea typeface="Calibri" pitchFamily="34" charset="-122"/>
                <a:cs typeface="Calibri" pitchFamily="34" charset="-120"/>
              </a:rPr>
              <a:t>So </a:t>
            </a:r>
            <a:r>
              <a:rPr lang="en-US" sz="1100" dirty="0" err="1">
                <a:solidFill>
                  <a:srgbClr val="475569"/>
                </a:solidFill>
                <a:latin typeface="Calibri" pitchFamily="34" charset="0"/>
                <a:ea typeface="Calibri" pitchFamily="34" charset="-122"/>
                <a:cs typeface="Calibri" pitchFamily="34" charset="-120"/>
              </a:rPr>
              <a:t>sánh</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VisuAlgo</a:t>
            </a:r>
            <a:r>
              <a:rPr lang="en-US" sz="1100" dirty="0">
                <a:solidFill>
                  <a:srgbClr val="475569"/>
                </a:solidFill>
                <a:latin typeface="Calibri" pitchFamily="34" charset="0"/>
                <a:ea typeface="Calibri" pitchFamily="34" charset="-122"/>
                <a:cs typeface="Calibri" pitchFamily="34" charset="-120"/>
              </a:rPr>
              <a:t>, USFCA </a:t>
            </a:r>
            <a:r>
              <a:rPr lang="en-US" sz="1100" dirty="0" err="1">
                <a:solidFill>
                  <a:srgbClr val="475569"/>
                </a:solidFill>
                <a:latin typeface="Calibri" pitchFamily="34" charset="0"/>
                <a:ea typeface="Calibri" pitchFamily="34" charset="-122"/>
                <a:cs typeface="Calibri" pitchFamily="34" charset="-120"/>
              </a:rPr>
              <a:t>và</a:t>
            </a:r>
            <a:r>
              <a:rPr lang="en-US" sz="1100" dirty="0">
                <a:solidFill>
                  <a:srgbClr val="475569"/>
                </a:solidFill>
                <a:latin typeface="Calibri" pitchFamily="34" charset="0"/>
                <a:ea typeface="Calibri" pitchFamily="34" charset="-122"/>
                <a:cs typeface="Calibri" pitchFamily="34" charset="-120"/>
              </a:rPr>
              <a:t> 3 </a:t>
            </a:r>
            <a:r>
              <a:rPr lang="en-US" sz="1100" dirty="0" err="1">
                <a:solidFill>
                  <a:srgbClr val="475569"/>
                </a:solidFill>
                <a:latin typeface="Calibri" pitchFamily="34" charset="0"/>
                <a:ea typeface="Calibri" pitchFamily="34" charset="-122"/>
                <a:cs typeface="Calibri" pitchFamily="34" charset="-120"/>
              </a:rPr>
              <a:t>khoảng</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trống</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nghiên</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cứu</a:t>
            </a:r>
            <a:endParaRPr lang="en-US" sz="1100" dirty="0"/>
          </a:p>
          <a:p>
            <a:pPr marL="0" indent="0">
              <a:buNone/>
            </a:pPr>
            <a:endParaRPr lang="en-US" sz="1100" dirty="0"/>
          </a:p>
        </p:txBody>
      </p:sp>
      <p:sp>
        <p:nvSpPr>
          <p:cNvPr id="12" name="Shape 10"/>
          <p:cNvSpPr/>
          <p:nvPr/>
        </p:nvSpPr>
        <p:spPr>
          <a:xfrm>
            <a:off x="4736592" y="1641348"/>
            <a:ext cx="420624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736592" y="1641348"/>
            <a:ext cx="64008" cy="1024128"/>
          </a:xfrm>
          <a:prstGeom prst="rect">
            <a:avLst/>
          </a:prstGeom>
          <a:solidFill>
            <a:srgbClr val="0891B2"/>
          </a:solidFill>
          <a:ln w="12700">
            <a:solidFill>
              <a:srgbClr val="0891B2"/>
            </a:solidFill>
            <a:prstDash val="solid"/>
          </a:ln>
        </p:spPr>
        <p:txBody>
          <a:bodyPr/>
          <a:lstStyle/>
          <a:p>
            <a:endParaRPr lang="en-US"/>
          </a:p>
        </p:txBody>
      </p:sp>
      <p:sp>
        <p:nvSpPr>
          <p:cNvPr id="14" name="Shape 12"/>
          <p:cNvSpPr/>
          <p:nvPr/>
        </p:nvSpPr>
        <p:spPr>
          <a:xfrm>
            <a:off x="4919472" y="1915668"/>
            <a:ext cx="475488" cy="475488"/>
          </a:xfrm>
          <a:prstGeom prst="ellipse">
            <a:avLst/>
          </a:prstGeom>
          <a:solidFill>
            <a:srgbClr val="F0F9FF"/>
          </a:solidFill>
          <a:ln w="12700">
            <a:solidFill>
              <a:srgbClr val="0891B2"/>
            </a:solidFill>
            <a:prstDash val="solid"/>
          </a:ln>
        </p:spPr>
        <p:txBody>
          <a:bodyPr/>
          <a:lstStyle/>
          <a:p>
            <a:endParaRPr lang="en-US"/>
          </a:p>
        </p:txBody>
      </p:sp>
      <p:sp>
        <p:nvSpPr>
          <p:cNvPr id="15" name="Text 13"/>
          <p:cNvSpPr/>
          <p:nvPr/>
        </p:nvSpPr>
        <p:spPr>
          <a:xfrm>
            <a:off x="4919472" y="1915668"/>
            <a:ext cx="475488" cy="475488"/>
          </a:xfrm>
          <a:prstGeom prst="rect">
            <a:avLst/>
          </a:prstGeom>
          <a:noFill/>
          <a:ln/>
        </p:spPr>
        <p:txBody>
          <a:bodyPr wrap="square" lIns="0" tIns="0" rIns="0" bIns="0" rtlCol="0" anchor="ctr"/>
          <a:lstStyle/>
          <a:p>
            <a:pPr marL="0" indent="0" algn="ctr">
              <a:buNone/>
            </a:pPr>
            <a:r>
              <a:rPr lang="en-US" sz="1500" b="1" dirty="0">
                <a:solidFill>
                  <a:srgbClr val="0891B2"/>
                </a:solidFill>
                <a:latin typeface="Calibri" pitchFamily="34" charset="0"/>
                <a:ea typeface="Calibri" pitchFamily="34" charset="-122"/>
                <a:cs typeface="Calibri" pitchFamily="34" charset="-120"/>
              </a:rPr>
              <a:t>02</a:t>
            </a:r>
            <a:endParaRPr lang="en-US" sz="1500" dirty="0"/>
          </a:p>
        </p:txBody>
      </p:sp>
      <p:sp>
        <p:nvSpPr>
          <p:cNvPr id="16" name="Text 14"/>
          <p:cNvSpPr/>
          <p:nvPr/>
        </p:nvSpPr>
        <p:spPr>
          <a:xfrm>
            <a:off x="5513832" y="1732788"/>
            <a:ext cx="3246120" cy="384048"/>
          </a:xfrm>
          <a:prstGeom prst="rect">
            <a:avLst/>
          </a:prstGeom>
          <a:noFill/>
          <a:ln/>
        </p:spPr>
        <p:txBody>
          <a:bodyPr wrap="square" rtlCol="0" anchor="ctr"/>
          <a:lstStyle/>
          <a:p>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Cơ</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sở</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lý</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thuyết</a:t>
            </a:r>
            <a:endParaRPr lang="en-US" sz="1500" dirty="0"/>
          </a:p>
        </p:txBody>
      </p:sp>
      <p:sp>
        <p:nvSpPr>
          <p:cNvPr id="17" name="Text 15"/>
          <p:cNvSpPr/>
          <p:nvPr/>
        </p:nvSpPr>
        <p:spPr>
          <a:xfrm>
            <a:off x="5513832" y="2171700"/>
            <a:ext cx="3246120" cy="411480"/>
          </a:xfrm>
          <a:prstGeom prst="rect">
            <a:avLst/>
          </a:prstGeom>
          <a:noFill/>
          <a:ln/>
        </p:spPr>
        <p:txBody>
          <a:bodyPr wrap="square" rtlCol="0" anchor="ctr"/>
          <a:lstStyle/>
          <a:p>
            <a:pPr marL="0" indent="0">
              <a:buNone/>
            </a:pPr>
            <a:endParaRPr lang="en-US" sz="1100" dirty="0"/>
          </a:p>
        </p:txBody>
      </p:sp>
      <p:sp>
        <p:nvSpPr>
          <p:cNvPr id="18" name="Shape 16"/>
          <p:cNvSpPr/>
          <p:nvPr/>
        </p:nvSpPr>
        <p:spPr>
          <a:xfrm>
            <a:off x="320040" y="2875788"/>
            <a:ext cx="420624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320040" y="2875788"/>
            <a:ext cx="64008" cy="1024128"/>
          </a:xfrm>
          <a:prstGeom prst="rect">
            <a:avLst/>
          </a:prstGeom>
          <a:solidFill>
            <a:srgbClr val="D97706"/>
          </a:solidFill>
          <a:ln w="12700">
            <a:solidFill>
              <a:srgbClr val="D97706"/>
            </a:solidFill>
            <a:prstDash val="solid"/>
          </a:ln>
        </p:spPr>
        <p:txBody>
          <a:bodyPr/>
          <a:lstStyle/>
          <a:p>
            <a:endParaRPr lang="en-US"/>
          </a:p>
        </p:txBody>
      </p:sp>
      <p:sp>
        <p:nvSpPr>
          <p:cNvPr id="20" name="Shape 18"/>
          <p:cNvSpPr/>
          <p:nvPr/>
        </p:nvSpPr>
        <p:spPr>
          <a:xfrm>
            <a:off x="502920" y="3150108"/>
            <a:ext cx="475488" cy="475488"/>
          </a:xfrm>
          <a:prstGeom prst="ellipse">
            <a:avLst/>
          </a:prstGeom>
          <a:solidFill>
            <a:srgbClr val="F0F9FF"/>
          </a:solidFill>
          <a:ln w="12700">
            <a:solidFill>
              <a:srgbClr val="D97706"/>
            </a:solidFill>
            <a:prstDash val="solid"/>
          </a:ln>
        </p:spPr>
        <p:txBody>
          <a:bodyPr/>
          <a:lstStyle/>
          <a:p>
            <a:endParaRPr lang="en-US"/>
          </a:p>
        </p:txBody>
      </p:sp>
      <p:sp>
        <p:nvSpPr>
          <p:cNvPr id="21" name="Text 19"/>
          <p:cNvSpPr/>
          <p:nvPr/>
        </p:nvSpPr>
        <p:spPr>
          <a:xfrm>
            <a:off x="502920" y="3150108"/>
            <a:ext cx="475488" cy="475488"/>
          </a:xfrm>
          <a:prstGeom prst="rect">
            <a:avLst/>
          </a:prstGeom>
          <a:noFill/>
          <a:ln/>
        </p:spPr>
        <p:txBody>
          <a:bodyPr wrap="square" lIns="0" tIns="0" rIns="0" bIns="0" rtlCol="0" anchor="ctr"/>
          <a:lstStyle/>
          <a:p>
            <a:pPr marL="0" indent="0" algn="ctr">
              <a:buNone/>
            </a:pPr>
            <a:r>
              <a:rPr lang="en-US" sz="1500" b="1" dirty="0">
                <a:solidFill>
                  <a:srgbClr val="D97706"/>
                </a:solidFill>
                <a:latin typeface="Calibri" pitchFamily="34" charset="0"/>
                <a:ea typeface="Calibri" pitchFamily="34" charset="-122"/>
                <a:cs typeface="Calibri" pitchFamily="34" charset="-120"/>
              </a:rPr>
              <a:t>03</a:t>
            </a:r>
            <a:endParaRPr lang="en-US" sz="1500" dirty="0"/>
          </a:p>
        </p:txBody>
      </p:sp>
      <p:sp>
        <p:nvSpPr>
          <p:cNvPr id="22" name="Text 20"/>
          <p:cNvSpPr/>
          <p:nvPr/>
        </p:nvSpPr>
        <p:spPr>
          <a:xfrm>
            <a:off x="1097280" y="2967228"/>
            <a:ext cx="3246120" cy="384048"/>
          </a:xfrm>
          <a:prstGeom prst="rect">
            <a:avLst/>
          </a:prstGeom>
          <a:noFill/>
          <a:ln/>
        </p:spPr>
        <p:txBody>
          <a:bodyPr wrap="square" rtlCol="0" anchor="ctr"/>
          <a:lstStyle/>
          <a:p>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Kiến</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trúc</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kỹ</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thuật</a:t>
            </a:r>
            <a:endParaRPr lang="en-US" sz="1500" dirty="0"/>
          </a:p>
        </p:txBody>
      </p:sp>
      <p:sp>
        <p:nvSpPr>
          <p:cNvPr id="23" name="Text 21"/>
          <p:cNvSpPr/>
          <p:nvPr/>
        </p:nvSpPr>
        <p:spPr>
          <a:xfrm>
            <a:off x="5456629" y="2121408"/>
            <a:ext cx="3246120" cy="411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Linked List, BST, các thao tác và độ phức tạp Big-O</a:t>
            </a:r>
            <a:endParaRPr lang="en-US" sz="1100" dirty="0"/>
          </a:p>
        </p:txBody>
      </p:sp>
      <p:sp>
        <p:nvSpPr>
          <p:cNvPr id="24" name="Shape 22"/>
          <p:cNvSpPr/>
          <p:nvPr/>
        </p:nvSpPr>
        <p:spPr>
          <a:xfrm>
            <a:off x="4736592" y="2875788"/>
            <a:ext cx="420624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736592" y="2875788"/>
            <a:ext cx="64008" cy="1024128"/>
          </a:xfrm>
          <a:prstGeom prst="rect">
            <a:avLst/>
          </a:prstGeom>
          <a:solidFill>
            <a:srgbClr val="16A34A"/>
          </a:solidFill>
          <a:ln w="12700">
            <a:solidFill>
              <a:srgbClr val="16A34A"/>
            </a:solidFill>
            <a:prstDash val="solid"/>
          </a:ln>
        </p:spPr>
        <p:txBody>
          <a:bodyPr/>
          <a:lstStyle/>
          <a:p>
            <a:endParaRPr lang="en-US"/>
          </a:p>
        </p:txBody>
      </p:sp>
      <p:sp>
        <p:nvSpPr>
          <p:cNvPr id="26" name="Shape 24"/>
          <p:cNvSpPr/>
          <p:nvPr/>
        </p:nvSpPr>
        <p:spPr>
          <a:xfrm>
            <a:off x="4919472" y="3150108"/>
            <a:ext cx="475488" cy="475488"/>
          </a:xfrm>
          <a:prstGeom prst="ellipse">
            <a:avLst/>
          </a:prstGeom>
          <a:solidFill>
            <a:srgbClr val="F0F9FF"/>
          </a:solidFill>
          <a:ln w="12700">
            <a:solidFill>
              <a:srgbClr val="16A34A"/>
            </a:solidFill>
            <a:prstDash val="solid"/>
          </a:ln>
        </p:spPr>
        <p:txBody>
          <a:bodyPr/>
          <a:lstStyle/>
          <a:p>
            <a:endParaRPr lang="en-US"/>
          </a:p>
        </p:txBody>
      </p:sp>
      <p:sp>
        <p:nvSpPr>
          <p:cNvPr id="27" name="Text 25"/>
          <p:cNvSpPr/>
          <p:nvPr/>
        </p:nvSpPr>
        <p:spPr>
          <a:xfrm>
            <a:off x="4919472" y="3150108"/>
            <a:ext cx="475488" cy="475488"/>
          </a:xfrm>
          <a:prstGeom prst="rect">
            <a:avLst/>
          </a:prstGeom>
          <a:noFill/>
          <a:ln/>
        </p:spPr>
        <p:txBody>
          <a:bodyPr wrap="square" lIns="0" tIns="0" rIns="0" bIns="0" rtlCol="0" anchor="ctr"/>
          <a:lstStyle/>
          <a:p>
            <a:pPr algn="ctr"/>
            <a:r>
              <a:rPr lang="en-US" sz="1500" b="1" dirty="0">
                <a:solidFill>
                  <a:srgbClr val="16A34A"/>
                </a:solidFill>
                <a:latin typeface="Calibri" pitchFamily="34" charset="0"/>
                <a:ea typeface="Calibri" pitchFamily="34" charset="-122"/>
                <a:cs typeface="Calibri" pitchFamily="34" charset="-120"/>
              </a:rPr>
              <a:t>04</a:t>
            </a:r>
          </a:p>
        </p:txBody>
      </p:sp>
      <p:sp>
        <p:nvSpPr>
          <p:cNvPr id="28" name="Text 26"/>
          <p:cNvSpPr/>
          <p:nvPr/>
        </p:nvSpPr>
        <p:spPr>
          <a:xfrm>
            <a:off x="5513832" y="2967228"/>
            <a:ext cx="3246120" cy="384048"/>
          </a:xfrm>
          <a:prstGeom prst="rect">
            <a:avLst/>
          </a:prstGeom>
          <a:noFill/>
          <a:ln/>
        </p:spPr>
        <p:txBody>
          <a:bodyPr wrap="square" rtlCol="0" anchor="ctr"/>
          <a:lstStyle/>
          <a:p>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Kết</a:t>
            </a:r>
            <a:r>
              <a:rPr lang="en-US" sz="1500" b="1" dirty="0">
                <a:solidFill>
                  <a:srgbClr val="1B3A6B"/>
                </a:solidFill>
                <a:latin typeface="Calibri" pitchFamily="34" charset="0"/>
                <a:ea typeface="Calibri" pitchFamily="34" charset="-122"/>
                <a:cs typeface="Calibri" pitchFamily="34" charset="-120"/>
              </a:rPr>
              <a:t> </a:t>
            </a:r>
            <a:r>
              <a:rPr lang="en-US" sz="1500" b="1" dirty="0" err="1">
                <a:solidFill>
                  <a:srgbClr val="1B3A6B"/>
                </a:solidFill>
                <a:latin typeface="Calibri" pitchFamily="34" charset="0"/>
                <a:ea typeface="Calibri" pitchFamily="34" charset="-122"/>
                <a:cs typeface="Calibri" pitchFamily="34" charset="-120"/>
              </a:rPr>
              <a:t>quả</a:t>
            </a:r>
            <a:r>
              <a:rPr lang="en-US" sz="1500" b="1" dirty="0">
                <a:solidFill>
                  <a:srgbClr val="1B3A6B"/>
                </a:solidFill>
                <a:latin typeface="Calibri" pitchFamily="34" charset="0"/>
                <a:ea typeface="Calibri" pitchFamily="34" charset="-122"/>
                <a:cs typeface="Calibri" pitchFamily="34" charset="-120"/>
              </a:rPr>
              <a:t> &amp; </a:t>
            </a:r>
            <a:r>
              <a:rPr lang="en-US" sz="1500" b="1" dirty="0" err="1">
                <a:solidFill>
                  <a:srgbClr val="1B3A6B"/>
                </a:solidFill>
                <a:latin typeface="Calibri" pitchFamily="34" charset="0"/>
                <a:ea typeface="Calibri" pitchFamily="34" charset="-122"/>
                <a:cs typeface="Calibri" pitchFamily="34" charset="-120"/>
              </a:rPr>
              <a:t>Tương</a:t>
            </a:r>
            <a:r>
              <a:rPr lang="en-US" sz="1500" b="1" dirty="0">
                <a:solidFill>
                  <a:srgbClr val="1B3A6B"/>
                </a:solidFill>
                <a:latin typeface="Calibri" pitchFamily="34" charset="0"/>
                <a:ea typeface="Calibri" pitchFamily="34" charset="-122"/>
                <a:cs typeface="Calibri" pitchFamily="34" charset="-120"/>
              </a:rPr>
              <a:t> lai</a:t>
            </a:r>
            <a:endParaRPr lang="en-US" sz="1500" dirty="0"/>
          </a:p>
        </p:txBody>
      </p:sp>
      <p:sp>
        <p:nvSpPr>
          <p:cNvPr id="29" name="Text 27"/>
          <p:cNvSpPr/>
          <p:nvPr/>
        </p:nvSpPr>
        <p:spPr>
          <a:xfrm>
            <a:off x="1129284" y="3387852"/>
            <a:ext cx="3246120" cy="411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Time-Travel Engine, Auto-Scaling, Live Big-O, Gamification</a:t>
            </a:r>
            <a:endParaRPr lang="en-US" sz="1100" dirty="0"/>
          </a:p>
        </p:txBody>
      </p:sp>
      <p:sp>
        <p:nvSpPr>
          <p:cNvPr id="35" name="Text 33"/>
          <p:cNvSpPr/>
          <p:nvPr/>
        </p:nvSpPr>
        <p:spPr>
          <a:xfrm>
            <a:off x="5513832" y="3351276"/>
            <a:ext cx="3175839" cy="411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Kết quả đạt được, đánh giá và hướng phát triển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1 — TỔNG QUAN ĐỀ TÀI</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DSA — Tại sao sinh viên gặp khó khăn?</a:t>
            </a:r>
            <a:endParaRPr lang="en-US" sz="3000" dirty="0"/>
          </a:p>
        </p:txBody>
      </p:sp>
      <p:sp>
        <p:nvSpPr>
          <p:cNvPr id="5" name="Shape 3"/>
          <p:cNvSpPr/>
          <p:nvPr/>
        </p:nvSpPr>
        <p:spPr>
          <a:xfrm>
            <a:off x="320040" y="1243584"/>
            <a:ext cx="8503920" cy="32004"/>
          </a:xfrm>
          <a:prstGeom prst="rect">
            <a:avLst/>
          </a:prstGeom>
          <a:solidFill>
            <a:srgbClr val="2563EB"/>
          </a:solidFill>
          <a:ln w="12700">
            <a:solidFill>
              <a:srgbClr val="2563EB"/>
            </a:solidFill>
            <a:prstDash val="solid"/>
          </a:ln>
        </p:spPr>
        <p:txBody>
          <a:bodyPr/>
          <a:lstStyle/>
          <a:p>
            <a:endParaRPr lang="en-US"/>
          </a:p>
        </p:txBody>
      </p:sp>
      <p:sp>
        <p:nvSpPr>
          <p:cNvPr id="6" name="Shape 4"/>
          <p:cNvSpPr/>
          <p:nvPr/>
        </p:nvSpPr>
        <p:spPr>
          <a:xfrm>
            <a:off x="320040" y="1389888"/>
            <a:ext cx="2377440" cy="3429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389888"/>
            <a:ext cx="2377440" cy="54864"/>
          </a:xfrm>
          <a:prstGeom prst="rect">
            <a:avLst/>
          </a:prstGeom>
          <a:solidFill>
            <a:srgbClr val="2563EB"/>
          </a:solidFill>
          <a:ln w="12700">
            <a:solidFill>
              <a:srgbClr val="2563EB"/>
            </a:solidFill>
            <a:prstDash val="solid"/>
          </a:ln>
        </p:spPr>
        <p:txBody>
          <a:bodyPr/>
          <a:lstStyle/>
          <a:p>
            <a:endParaRPr lang="en-US"/>
          </a:p>
        </p:txBody>
      </p:sp>
      <p:sp>
        <p:nvSpPr>
          <p:cNvPr id="8" name="Text 6"/>
          <p:cNvSpPr/>
          <p:nvPr/>
        </p:nvSpPr>
        <p:spPr>
          <a:xfrm>
            <a:off x="320040" y="1508760"/>
            <a:ext cx="2377440" cy="1005840"/>
          </a:xfrm>
          <a:prstGeom prst="rect">
            <a:avLst/>
          </a:prstGeom>
          <a:noFill/>
          <a:ln/>
        </p:spPr>
        <p:txBody>
          <a:bodyPr wrap="square" rtlCol="0" anchor="ctr"/>
          <a:lstStyle/>
          <a:p>
            <a:pPr marL="0" indent="0" algn="ctr">
              <a:buNone/>
            </a:pPr>
            <a:r>
              <a:rPr lang="en-US" sz="6400" b="1" dirty="0">
                <a:solidFill>
                  <a:srgbClr val="2563EB"/>
                </a:solidFill>
                <a:latin typeface="Calibri" pitchFamily="34" charset="0"/>
                <a:ea typeface="Calibri" pitchFamily="34" charset="-122"/>
                <a:cs typeface="Calibri" pitchFamily="34" charset="-120"/>
              </a:rPr>
              <a:t>85%</a:t>
            </a:r>
            <a:endParaRPr lang="en-US" sz="6400" dirty="0"/>
          </a:p>
        </p:txBody>
      </p:sp>
      <p:sp>
        <p:nvSpPr>
          <p:cNvPr id="9" name="Text 7"/>
          <p:cNvSpPr/>
          <p:nvPr/>
        </p:nvSpPr>
        <p:spPr>
          <a:xfrm>
            <a:off x="457200" y="2542032"/>
            <a:ext cx="2103120" cy="1097280"/>
          </a:xfrm>
          <a:prstGeom prst="rect">
            <a:avLst/>
          </a:prstGeom>
          <a:noFill/>
          <a:ln/>
        </p:spPr>
        <p:txBody>
          <a:bodyPr wrap="square" rtlCol="0" anchor="ctr"/>
          <a:lstStyle/>
          <a:p>
            <a:pPr marL="0" indent="0" algn="ctr">
              <a:buNone/>
            </a:pPr>
            <a:r>
              <a:rPr lang="en-US" sz="1150" i="1" dirty="0">
                <a:solidFill>
                  <a:srgbClr val="475569"/>
                </a:solidFill>
                <a:latin typeface="Calibri" pitchFamily="34" charset="0"/>
                <a:ea typeface="Calibri" pitchFamily="34" charset="-122"/>
                <a:cs typeface="Calibri" pitchFamily="34" charset="-120"/>
              </a:rPr>
              <a:t>ỹ sư phần mềm cho rằng DSA là yếu tố then chốt trong phỏng vấn tại Google, Meta, Amazon...</a:t>
            </a:r>
            <a:endParaRPr lang="en-US" sz="1150" dirty="0"/>
          </a:p>
        </p:txBody>
      </p:sp>
      <p:sp>
        <p:nvSpPr>
          <p:cNvPr id="10" name="Text 8"/>
          <p:cNvSpPr/>
          <p:nvPr/>
        </p:nvSpPr>
        <p:spPr>
          <a:xfrm>
            <a:off x="457200" y="3749040"/>
            <a:ext cx="2103120" cy="5029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Nguồn: Stack Overflow</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Developer Survey 2023</a:t>
            </a:r>
            <a:endParaRPr lang="en-US" sz="1000" dirty="0"/>
          </a:p>
        </p:txBody>
      </p:sp>
      <p:sp>
        <p:nvSpPr>
          <p:cNvPr id="11" name="Shape 9"/>
          <p:cNvSpPr/>
          <p:nvPr/>
        </p:nvSpPr>
        <p:spPr>
          <a:xfrm>
            <a:off x="2926080" y="1387294"/>
            <a:ext cx="5897880" cy="10698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926080" y="1389888"/>
            <a:ext cx="64008" cy="1069848"/>
          </a:xfrm>
          <a:prstGeom prst="rect">
            <a:avLst/>
          </a:prstGeom>
          <a:solidFill>
            <a:srgbClr val="DC2626"/>
          </a:solidFill>
          <a:ln w="12700">
            <a:solidFill>
              <a:srgbClr val="DC2626"/>
            </a:solidFill>
            <a:prstDash val="solid"/>
          </a:ln>
        </p:spPr>
        <p:txBody>
          <a:bodyPr/>
          <a:lstStyle/>
          <a:p>
            <a:endParaRPr lang="en-US"/>
          </a:p>
        </p:txBody>
      </p:sp>
      <p:sp>
        <p:nvSpPr>
          <p:cNvPr id="13" name="Text 11"/>
          <p:cNvSpPr/>
          <p:nvPr/>
        </p:nvSpPr>
        <p:spPr>
          <a:xfrm>
            <a:off x="3017520" y="1481328"/>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3621024" y="1463040"/>
            <a:ext cx="502920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Không thể nhìn thấy</a:t>
            </a:r>
            <a:endParaRPr lang="en-US" sz="1500" dirty="0"/>
          </a:p>
        </p:txBody>
      </p:sp>
      <p:sp>
        <p:nvSpPr>
          <p:cNvPr id="15" name="Text 13"/>
          <p:cNvSpPr/>
          <p:nvPr/>
        </p:nvSpPr>
        <p:spPr>
          <a:xfrm>
            <a:off x="3621024" y="1874520"/>
            <a:ext cx="5029200" cy="50292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IDE chỉ trả về kết quả cuối — toàn bộ quá trình con trỏ &amp; bộ nhớ bị ẩn</a:t>
            </a:r>
            <a:endParaRPr lang="en-US" sz="1200" dirty="0"/>
          </a:p>
        </p:txBody>
      </p:sp>
      <p:sp>
        <p:nvSpPr>
          <p:cNvPr id="16" name="Shape 14"/>
          <p:cNvSpPr/>
          <p:nvPr/>
        </p:nvSpPr>
        <p:spPr>
          <a:xfrm>
            <a:off x="2926080" y="2578608"/>
            <a:ext cx="5897880" cy="10698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926080" y="2578608"/>
            <a:ext cx="64008" cy="1069848"/>
          </a:xfrm>
          <a:prstGeom prst="rect">
            <a:avLst/>
          </a:prstGeom>
          <a:solidFill>
            <a:srgbClr val="EA580C"/>
          </a:solidFill>
          <a:ln w="12700">
            <a:solidFill>
              <a:srgbClr val="EA580C"/>
            </a:solidFill>
            <a:prstDash val="solid"/>
          </a:ln>
        </p:spPr>
        <p:txBody>
          <a:bodyPr/>
          <a:lstStyle/>
          <a:p>
            <a:endParaRPr lang="en-US"/>
          </a:p>
        </p:txBody>
      </p:sp>
      <p:sp>
        <p:nvSpPr>
          <p:cNvPr id="18" name="Text 16"/>
          <p:cNvSpPr/>
          <p:nvPr/>
        </p:nvSpPr>
        <p:spPr>
          <a:xfrm>
            <a:off x="3017520" y="2670048"/>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9" name="Text 17"/>
          <p:cNvSpPr/>
          <p:nvPr/>
        </p:nvSpPr>
        <p:spPr>
          <a:xfrm>
            <a:off x="3621024" y="2651760"/>
            <a:ext cx="502920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Trừu tượng cực cao</a:t>
            </a:r>
            <a:endParaRPr lang="en-US" sz="1500" dirty="0"/>
          </a:p>
        </p:txBody>
      </p:sp>
      <p:sp>
        <p:nvSpPr>
          <p:cNvPr id="20" name="Text 18"/>
          <p:cNvSpPr/>
          <p:nvPr/>
        </p:nvSpPr>
        <p:spPr>
          <a:xfrm>
            <a:off x="3621024" y="3063240"/>
            <a:ext cx="5029200" cy="50292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Pointer trỏ đến pointer, Call Stack đệ quy, HEAP... không thể hình dung</a:t>
            </a:r>
            <a:endParaRPr lang="en-US" sz="1200" dirty="0"/>
          </a:p>
        </p:txBody>
      </p:sp>
      <p:sp>
        <p:nvSpPr>
          <p:cNvPr id="21" name="Shape 19"/>
          <p:cNvSpPr/>
          <p:nvPr/>
        </p:nvSpPr>
        <p:spPr>
          <a:xfrm>
            <a:off x="2926080" y="3767328"/>
            <a:ext cx="5897880" cy="10698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2926080" y="3767328"/>
            <a:ext cx="64008" cy="1069848"/>
          </a:xfrm>
          <a:prstGeom prst="rect">
            <a:avLst/>
          </a:prstGeom>
          <a:solidFill>
            <a:srgbClr val="D97706"/>
          </a:solidFill>
          <a:ln w="12700">
            <a:solidFill>
              <a:srgbClr val="D97706"/>
            </a:solidFill>
            <a:prstDash val="solid"/>
          </a:ln>
        </p:spPr>
        <p:txBody>
          <a:bodyPr/>
          <a:lstStyle/>
          <a:p>
            <a:endParaRPr lang="en-US"/>
          </a:p>
        </p:txBody>
      </p:sp>
      <p:sp>
        <p:nvSpPr>
          <p:cNvPr id="23" name="Text 21"/>
          <p:cNvSpPr/>
          <p:nvPr/>
        </p:nvSpPr>
        <p:spPr>
          <a:xfrm>
            <a:off x="3017520" y="3858768"/>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4" name="Text 22"/>
          <p:cNvSpPr/>
          <p:nvPr/>
        </p:nvSpPr>
        <p:spPr>
          <a:xfrm>
            <a:off x="3621024" y="3840480"/>
            <a:ext cx="502920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Slide tĩnh, thụ động</a:t>
            </a:r>
            <a:endParaRPr lang="en-US" sz="1500" dirty="0"/>
          </a:p>
        </p:txBody>
      </p:sp>
      <p:sp>
        <p:nvSpPr>
          <p:cNvPr id="25" name="Text 23"/>
          <p:cNvSpPr/>
          <p:nvPr/>
        </p:nvSpPr>
        <p:spPr>
          <a:xfrm>
            <a:off x="3621024" y="4251960"/>
            <a:ext cx="5029200" cy="50292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Giảng viên chỉ đưa "ảnh chụp" trạng thái đầu/cuối — bỏ mất tiến trình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1 — GIẢI PHÁP ĐỀ XUẤT</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DSA Visualizer — Hệ sinh thái học tập tương tác</a:t>
            </a:r>
            <a:endParaRPr lang="en-US" sz="3000" dirty="0"/>
          </a:p>
        </p:txBody>
      </p:sp>
      <p:sp>
        <p:nvSpPr>
          <p:cNvPr id="5" name="Shape 3"/>
          <p:cNvSpPr/>
          <p:nvPr/>
        </p:nvSpPr>
        <p:spPr>
          <a:xfrm>
            <a:off x="302660" y="1243584"/>
            <a:ext cx="8503920" cy="32004"/>
          </a:xfrm>
          <a:prstGeom prst="rect">
            <a:avLst/>
          </a:prstGeom>
          <a:solidFill>
            <a:srgbClr val="2563EB"/>
          </a:solidFill>
          <a:ln w="12700">
            <a:solidFill>
              <a:srgbClr val="2563EB"/>
            </a:solidFill>
            <a:prstDash val="solid"/>
          </a:ln>
        </p:spPr>
        <p:txBody>
          <a:bodyPr/>
          <a:lstStyle/>
          <a:p>
            <a:endParaRPr lang="en-US"/>
          </a:p>
        </p:txBody>
      </p:sp>
      <p:sp>
        <p:nvSpPr>
          <p:cNvPr id="6" name="Shape 4"/>
          <p:cNvSpPr/>
          <p:nvPr/>
        </p:nvSpPr>
        <p:spPr>
          <a:xfrm>
            <a:off x="320040" y="141732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521208" y="1618488"/>
            <a:ext cx="530352" cy="530352"/>
          </a:xfrm>
          <a:prstGeom prst="ellipse">
            <a:avLst/>
          </a:prstGeom>
          <a:solidFill>
            <a:srgbClr val="EFF6FF"/>
          </a:solidFill>
          <a:ln w="12700">
            <a:solidFill>
              <a:srgbClr val="D9770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48640" y="1645920"/>
            <a:ext cx="475488" cy="475488"/>
          </a:xfrm>
          <a:prstGeom prst="rect">
            <a:avLst/>
          </a:prstGeom>
        </p:spPr>
      </p:pic>
      <p:sp>
        <p:nvSpPr>
          <p:cNvPr id="9" name="Text 6"/>
          <p:cNvSpPr/>
          <p:nvPr/>
        </p:nvSpPr>
        <p:spPr>
          <a:xfrm>
            <a:off x="1161288" y="161848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Time-Travel</a:t>
            </a:r>
            <a:endParaRPr lang="en-US" sz="1400" dirty="0"/>
          </a:p>
        </p:txBody>
      </p:sp>
      <p:sp>
        <p:nvSpPr>
          <p:cNvPr id="10" name="Text 7"/>
          <p:cNvSpPr/>
          <p:nvPr/>
        </p:nvSpPr>
        <p:spPr>
          <a:xfrm>
            <a:off x="1161288" y="207568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Play · Pause · Prev · Next · Speed</a:t>
            </a:r>
            <a:endParaRPr lang="en-US" sz="1100" dirty="0"/>
          </a:p>
        </p:txBody>
      </p:sp>
      <p:sp>
        <p:nvSpPr>
          <p:cNvPr id="11" name="Shape 8"/>
          <p:cNvSpPr/>
          <p:nvPr/>
        </p:nvSpPr>
        <p:spPr>
          <a:xfrm>
            <a:off x="521208" y="2825496"/>
            <a:ext cx="2295144" cy="36576"/>
          </a:xfrm>
          <a:prstGeom prst="rect">
            <a:avLst/>
          </a:prstGeom>
          <a:solidFill>
            <a:srgbClr val="D97706"/>
          </a:solidFill>
          <a:ln w="12700">
            <a:solidFill>
              <a:srgbClr val="D97706"/>
            </a:solidFill>
            <a:prstDash val="solid"/>
          </a:ln>
        </p:spPr>
        <p:txBody>
          <a:bodyPr/>
          <a:lstStyle/>
          <a:p>
            <a:endParaRPr lang="en-US"/>
          </a:p>
        </p:txBody>
      </p:sp>
      <p:sp>
        <p:nvSpPr>
          <p:cNvPr id="12" name="Shape 9"/>
          <p:cNvSpPr/>
          <p:nvPr/>
        </p:nvSpPr>
        <p:spPr>
          <a:xfrm>
            <a:off x="3200400" y="141732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0"/>
          <p:cNvSpPr/>
          <p:nvPr/>
        </p:nvSpPr>
        <p:spPr>
          <a:xfrm>
            <a:off x="3401568" y="1618488"/>
            <a:ext cx="530352" cy="530352"/>
          </a:xfrm>
          <a:prstGeom prst="ellipse">
            <a:avLst/>
          </a:prstGeom>
          <a:solidFill>
            <a:srgbClr val="EFF6FF"/>
          </a:solidFill>
          <a:ln w="12700">
            <a:solidFill>
              <a:srgbClr val="16A34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29000" y="1645920"/>
            <a:ext cx="475488" cy="475488"/>
          </a:xfrm>
          <a:prstGeom prst="rect">
            <a:avLst/>
          </a:prstGeom>
        </p:spPr>
      </p:pic>
      <p:sp>
        <p:nvSpPr>
          <p:cNvPr id="15" name="Text 11"/>
          <p:cNvSpPr/>
          <p:nvPr/>
        </p:nvSpPr>
        <p:spPr>
          <a:xfrm>
            <a:off x="4041648" y="161848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Live Big-O</a:t>
            </a:r>
            <a:endParaRPr lang="en-US" sz="1400" dirty="0"/>
          </a:p>
        </p:txBody>
      </p:sp>
      <p:sp>
        <p:nvSpPr>
          <p:cNvPr id="16" name="Text 12"/>
          <p:cNvSpPr/>
          <p:nvPr/>
        </p:nvSpPr>
        <p:spPr>
          <a:xfrm>
            <a:off x="4041648" y="207568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Đếm thao tác theo thời gian thực</a:t>
            </a:r>
            <a:endParaRPr lang="en-US" sz="1100" dirty="0"/>
          </a:p>
        </p:txBody>
      </p:sp>
      <p:sp>
        <p:nvSpPr>
          <p:cNvPr id="17" name="Shape 13"/>
          <p:cNvSpPr/>
          <p:nvPr/>
        </p:nvSpPr>
        <p:spPr>
          <a:xfrm>
            <a:off x="3401568" y="2825496"/>
            <a:ext cx="2295144" cy="36576"/>
          </a:xfrm>
          <a:prstGeom prst="rect">
            <a:avLst/>
          </a:prstGeom>
          <a:solidFill>
            <a:srgbClr val="16A34A"/>
          </a:solidFill>
          <a:ln w="12700">
            <a:solidFill>
              <a:srgbClr val="16A34A"/>
            </a:solidFill>
            <a:prstDash val="solid"/>
          </a:ln>
        </p:spPr>
        <p:txBody>
          <a:bodyPr/>
          <a:lstStyle/>
          <a:p>
            <a:endParaRPr lang="en-US"/>
          </a:p>
        </p:txBody>
      </p:sp>
      <p:sp>
        <p:nvSpPr>
          <p:cNvPr id="18" name="Shape 14"/>
          <p:cNvSpPr/>
          <p:nvPr/>
        </p:nvSpPr>
        <p:spPr>
          <a:xfrm>
            <a:off x="6080760" y="141732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5"/>
          <p:cNvSpPr/>
          <p:nvPr/>
        </p:nvSpPr>
        <p:spPr>
          <a:xfrm>
            <a:off x="6281928" y="1618488"/>
            <a:ext cx="530352" cy="530352"/>
          </a:xfrm>
          <a:prstGeom prst="ellipse">
            <a:avLst/>
          </a:prstGeom>
          <a:solidFill>
            <a:srgbClr val="EFF6FF"/>
          </a:solidFill>
          <a:ln w="12700">
            <a:solidFill>
              <a:srgbClr val="EA580C"/>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309360" y="1645920"/>
            <a:ext cx="475488" cy="475488"/>
          </a:xfrm>
          <a:prstGeom prst="rect">
            <a:avLst/>
          </a:prstGeom>
        </p:spPr>
      </p:pic>
      <p:sp>
        <p:nvSpPr>
          <p:cNvPr id="21" name="Text 16"/>
          <p:cNvSpPr/>
          <p:nvPr/>
        </p:nvSpPr>
        <p:spPr>
          <a:xfrm>
            <a:off x="6922008" y="161848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Pseudocode Sync</a:t>
            </a:r>
            <a:endParaRPr lang="en-US" sz="1400" dirty="0"/>
          </a:p>
        </p:txBody>
      </p:sp>
      <p:sp>
        <p:nvSpPr>
          <p:cNvPr id="22" name="Text 17"/>
          <p:cNvSpPr/>
          <p:nvPr/>
        </p:nvSpPr>
        <p:spPr>
          <a:xfrm>
            <a:off x="6922008" y="207568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Đồng bộ mã giả từng mili-giây</a:t>
            </a:r>
            <a:endParaRPr lang="en-US" sz="1100" dirty="0"/>
          </a:p>
        </p:txBody>
      </p:sp>
      <p:sp>
        <p:nvSpPr>
          <p:cNvPr id="23" name="Shape 18"/>
          <p:cNvSpPr/>
          <p:nvPr/>
        </p:nvSpPr>
        <p:spPr>
          <a:xfrm>
            <a:off x="6281928" y="2825496"/>
            <a:ext cx="2295144" cy="36576"/>
          </a:xfrm>
          <a:prstGeom prst="rect">
            <a:avLst/>
          </a:prstGeom>
          <a:solidFill>
            <a:srgbClr val="EA580C"/>
          </a:solidFill>
          <a:ln w="12700">
            <a:solidFill>
              <a:srgbClr val="EA580C"/>
            </a:solidFill>
            <a:prstDash val="solid"/>
          </a:ln>
        </p:spPr>
        <p:txBody>
          <a:bodyPr/>
          <a:lstStyle/>
          <a:p>
            <a:endParaRPr lang="en-US"/>
          </a:p>
        </p:txBody>
      </p:sp>
      <p:sp>
        <p:nvSpPr>
          <p:cNvPr id="24" name="Shape 19"/>
          <p:cNvSpPr/>
          <p:nvPr/>
        </p:nvSpPr>
        <p:spPr>
          <a:xfrm>
            <a:off x="320040" y="320040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0"/>
          <p:cNvSpPr/>
          <p:nvPr/>
        </p:nvSpPr>
        <p:spPr>
          <a:xfrm>
            <a:off x="521208" y="3401568"/>
            <a:ext cx="530352" cy="530352"/>
          </a:xfrm>
          <a:prstGeom prst="ellipse">
            <a:avLst/>
          </a:prstGeom>
          <a:solidFill>
            <a:srgbClr val="EFF6FF"/>
          </a:solidFill>
          <a:ln w="12700">
            <a:solidFill>
              <a:srgbClr val="7C3AED"/>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548640" y="3429000"/>
            <a:ext cx="475488" cy="475488"/>
          </a:xfrm>
          <a:prstGeom prst="rect">
            <a:avLst/>
          </a:prstGeom>
        </p:spPr>
      </p:pic>
      <p:sp>
        <p:nvSpPr>
          <p:cNvPr id="27" name="Text 21"/>
          <p:cNvSpPr/>
          <p:nvPr/>
        </p:nvSpPr>
        <p:spPr>
          <a:xfrm>
            <a:off x="1161288" y="340156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Gamification</a:t>
            </a:r>
            <a:endParaRPr lang="en-US" sz="1400" dirty="0"/>
          </a:p>
        </p:txBody>
      </p:sp>
      <p:sp>
        <p:nvSpPr>
          <p:cNvPr id="28" name="Text 22"/>
          <p:cNvSpPr/>
          <p:nvPr/>
        </p:nvSpPr>
        <p:spPr>
          <a:xfrm>
            <a:off x="1161288" y="385876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Sĩ Tử + Chiến Binh + Auto-Grading</a:t>
            </a:r>
            <a:endParaRPr lang="en-US" sz="1100" dirty="0"/>
          </a:p>
        </p:txBody>
      </p:sp>
      <p:sp>
        <p:nvSpPr>
          <p:cNvPr id="29" name="Shape 23"/>
          <p:cNvSpPr/>
          <p:nvPr/>
        </p:nvSpPr>
        <p:spPr>
          <a:xfrm>
            <a:off x="521208" y="4608576"/>
            <a:ext cx="2295144" cy="36576"/>
          </a:xfrm>
          <a:prstGeom prst="rect">
            <a:avLst/>
          </a:prstGeom>
          <a:solidFill>
            <a:srgbClr val="7C3AED"/>
          </a:solidFill>
          <a:ln w="12700">
            <a:solidFill>
              <a:srgbClr val="7C3AED"/>
            </a:solidFill>
            <a:prstDash val="solid"/>
          </a:ln>
        </p:spPr>
        <p:txBody>
          <a:bodyPr/>
          <a:lstStyle/>
          <a:p>
            <a:endParaRPr lang="en-US"/>
          </a:p>
        </p:txBody>
      </p:sp>
      <p:sp>
        <p:nvSpPr>
          <p:cNvPr id="30" name="Shape 24"/>
          <p:cNvSpPr/>
          <p:nvPr/>
        </p:nvSpPr>
        <p:spPr>
          <a:xfrm>
            <a:off x="3200400" y="320040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5"/>
          <p:cNvSpPr/>
          <p:nvPr/>
        </p:nvSpPr>
        <p:spPr>
          <a:xfrm>
            <a:off x="3401568" y="3401568"/>
            <a:ext cx="530352" cy="530352"/>
          </a:xfrm>
          <a:prstGeom prst="ellipse">
            <a:avLst/>
          </a:prstGeom>
          <a:solidFill>
            <a:srgbClr val="EFF6FF"/>
          </a:solidFill>
          <a:ln w="12700">
            <a:solidFill>
              <a:srgbClr val="0891B2"/>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3429000" y="3429000"/>
            <a:ext cx="475488" cy="475488"/>
          </a:xfrm>
          <a:prstGeom prst="rect">
            <a:avLst/>
          </a:prstGeom>
        </p:spPr>
      </p:pic>
      <p:sp>
        <p:nvSpPr>
          <p:cNvPr id="33" name="Text 26"/>
          <p:cNvSpPr/>
          <p:nvPr/>
        </p:nvSpPr>
        <p:spPr>
          <a:xfrm>
            <a:off x="4041648" y="340156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Hybrid Rendering</a:t>
            </a:r>
            <a:endParaRPr lang="en-US" sz="1400" dirty="0"/>
          </a:p>
        </p:txBody>
      </p:sp>
      <p:sp>
        <p:nvSpPr>
          <p:cNvPr id="34" name="Text 27"/>
          <p:cNvSpPr/>
          <p:nvPr/>
        </p:nvSpPr>
        <p:spPr>
          <a:xfrm>
            <a:off x="4041648" y="385876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DOM + SVG — Canvas ảo 3000px</a:t>
            </a:r>
            <a:endParaRPr lang="en-US" sz="1100" dirty="0"/>
          </a:p>
        </p:txBody>
      </p:sp>
      <p:sp>
        <p:nvSpPr>
          <p:cNvPr id="35" name="Shape 28"/>
          <p:cNvSpPr/>
          <p:nvPr/>
        </p:nvSpPr>
        <p:spPr>
          <a:xfrm>
            <a:off x="3401568" y="4608576"/>
            <a:ext cx="2295144" cy="36576"/>
          </a:xfrm>
          <a:prstGeom prst="rect">
            <a:avLst/>
          </a:prstGeom>
          <a:solidFill>
            <a:srgbClr val="0891B2"/>
          </a:solidFill>
          <a:ln w="12700">
            <a:solidFill>
              <a:srgbClr val="0891B2"/>
            </a:solidFill>
            <a:prstDash val="solid"/>
          </a:ln>
        </p:spPr>
        <p:txBody>
          <a:bodyPr/>
          <a:lstStyle/>
          <a:p>
            <a:endParaRPr lang="en-US"/>
          </a:p>
        </p:txBody>
      </p:sp>
      <p:sp>
        <p:nvSpPr>
          <p:cNvPr id="36" name="Shape 29"/>
          <p:cNvSpPr/>
          <p:nvPr/>
        </p:nvSpPr>
        <p:spPr>
          <a:xfrm>
            <a:off x="6080760" y="3200400"/>
            <a:ext cx="2697480" cy="15727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7" name="Shape 30"/>
          <p:cNvSpPr/>
          <p:nvPr/>
        </p:nvSpPr>
        <p:spPr>
          <a:xfrm>
            <a:off x="6281928" y="3401568"/>
            <a:ext cx="530352" cy="530352"/>
          </a:xfrm>
          <a:prstGeom prst="ellipse">
            <a:avLst/>
          </a:prstGeom>
          <a:solidFill>
            <a:srgbClr val="EFF6FF"/>
          </a:solidFill>
          <a:ln w="12700">
            <a:solidFill>
              <a:srgbClr val="2563EB"/>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6309360" y="3429000"/>
            <a:ext cx="475488" cy="475488"/>
          </a:xfrm>
          <a:prstGeom prst="rect">
            <a:avLst/>
          </a:prstGeom>
        </p:spPr>
      </p:pic>
      <p:sp>
        <p:nvSpPr>
          <p:cNvPr id="39" name="Text 31"/>
          <p:cNvSpPr/>
          <p:nvPr/>
        </p:nvSpPr>
        <p:spPr>
          <a:xfrm>
            <a:off x="6922008" y="3401568"/>
            <a:ext cx="1719072" cy="384048"/>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Dark/Light Mode</a:t>
            </a:r>
            <a:endParaRPr lang="en-US" sz="1400" dirty="0"/>
          </a:p>
        </p:txBody>
      </p:sp>
      <p:sp>
        <p:nvSpPr>
          <p:cNvPr id="40" name="Text 32"/>
          <p:cNvSpPr/>
          <p:nvPr/>
        </p:nvSpPr>
        <p:spPr>
          <a:xfrm>
            <a:off x="6922008" y="3858768"/>
            <a:ext cx="1719072"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localStorage + Early Injection</a:t>
            </a:r>
            <a:endParaRPr lang="en-US" sz="1100" dirty="0"/>
          </a:p>
        </p:txBody>
      </p:sp>
      <p:sp>
        <p:nvSpPr>
          <p:cNvPr id="41" name="Shape 33"/>
          <p:cNvSpPr/>
          <p:nvPr/>
        </p:nvSpPr>
        <p:spPr>
          <a:xfrm>
            <a:off x="6281928" y="4608576"/>
            <a:ext cx="2295144" cy="36576"/>
          </a:xfrm>
          <a:prstGeom prst="rect">
            <a:avLst/>
          </a:prstGeom>
          <a:solidFill>
            <a:srgbClr val="2563EB"/>
          </a:solidFill>
          <a:ln w="12700">
            <a:solidFill>
              <a:srgbClr val="2563EB"/>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1 — NGHIÊN CỨU LIÊN QUAN</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So sánh các nền tảng Visualizer hiện hành</a:t>
            </a:r>
            <a:endParaRPr lang="en-US" sz="3000" dirty="0"/>
          </a:p>
        </p:txBody>
      </p:sp>
      <p:sp>
        <p:nvSpPr>
          <p:cNvPr id="5" name="Shape 3"/>
          <p:cNvSpPr/>
          <p:nvPr/>
        </p:nvSpPr>
        <p:spPr>
          <a:xfrm>
            <a:off x="320040" y="1243584"/>
            <a:ext cx="8503920" cy="32004"/>
          </a:xfrm>
          <a:prstGeom prst="rect">
            <a:avLst/>
          </a:prstGeom>
          <a:solidFill>
            <a:srgbClr val="2563EB"/>
          </a:solidFill>
          <a:ln w="12700">
            <a:solidFill>
              <a:srgbClr val="2563EB"/>
            </a:solidFill>
            <a:prstDash val="solid"/>
          </a:ln>
        </p:spPr>
        <p:txBody>
          <a:bodyPr/>
          <a:lstStyle/>
          <a:p>
            <a:endParaRPr lang="en-US"/>
          </a:p>
        </p:txBody>
      </p:sp>
      <p:sp>
        <p:nvSpPr>
          <p:cNvPr id="6" name="Shape 4"/>
          <p:cNvSpPr/>
          <p:nvPr/>
        </p:nvSpPr>
        <p:spPr>
          <a:xfrm>
            <a:off x="320040" y="1389888"/>
            <a:ext cx="1920240" cy="457200"/>
          </a:xfrm>
          <a:prstGeom prst="rect">
            <a:avLst/>
          </a:prstGeom>
          <a:solidFill>
            <a:srgbClr val="1B3A6B"/>
          </a:solidFill>
          <a:ln w="12700">
            <a:solidFill>
              <a:srgbClr val="FFFFFF"/>
            </a:solidFill>
            <a:prstDash val="solid"/>
          </a:ln>
        </p:spPr>
        <p:txBody>
          <a:bodyPr/>
          <a:lstStyle/>
          <a:p>
            <a:endParaRPr lang="en-US"/>
          </a:p>
        </p:txBody>
      </p:sp>
      <p:sp>
        <p:nvSpPr>
          <p:cNvPr id="7" name="Text 5"/>
          <p:cNvSpPr/>
          <p:nvPr/>
        </p:nvSpPr>
        <p:spPr>
          <a:xfrm>
            <a:off x="320040" y="1389888"/>
            <a:ext cx="192024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p>
        </p:txBody>
      </p:sp>
      <p:sp>
        <p:nvSpPr>
          <p:cNvPr id="8" name="Shape 6"/>
          <p:cNvSpPr/>
          <p:nvPr/>
        </p:nvSpPr>
        <p:spPr>
          <a:xfrm>
            <a:off x="2240280" y="1389888"/>
            <a:ext cx="1828800" cy="457200"/>
          </a:xfrm>
          <a:prstGeom prst="rect">
            <a:avLst/>
          </a:prstGeom>
          <a:solidFill>
            <a:srgbClr val="475569"/>
          </a:solidFill>
          <a:ln w="12700">
            <a:solidFill>
              <a:srgbClr val="FFFFFF"/>
            </a:solidFill>
            <a:prstDash val="solid"/>
          </a:ln>
        </p:spPr>
        <p:txBody>
          <a:bodyPr/>
          <a:lstStyle/>
          <a:p>
            <a:endParaRPr lang="en-US"/>
          </a:p>
        </p:txBody>
      </p:sp>
      <p:sp>
        <p:nvSpPr>
          <p:cNvPr id="9" name="Text 7"/>
          <p:cNvSpPr/>
          <p:nvPr/>
        </p:nvSpPr>
        <p:spPr>
          <a:xfrm>
            <a:off x="2240280" y="1389888"/>
            <a:ext cx="18288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VisuAlgo.net</a:t>
            </a:r>
            <a:endParaRPr lang="en-US" sz="1300" dirty="0"/>
          </a:p>
        </p:txBody>
      </p:sp>
      <p:sp>
        <p:nvSpPr>
          <p:cNvPr id="10" name="Shape 8"/>
          <p:cNvSpPr/>
          <p:nvPr/>
        </p:nvSpPr>
        <p:spPr>
          <a:xfrm>
            <a:off x="4069080" y="1389888"/>
            <a:ext cx="1965960" cy="457200"/>
          </a:xfrm>
          <a:prstGeom prst="rect">
            <a:avLst/>
          </a:prstGeom>
          <a:solidFill>
            <a:srgbClr val="475569"/>
          </a:solidFill>
          <a:ln w="12700">
            <a:solidFill>
              <a:srgbClr val="FFFFFF"/>
            </a:solidFill>
            <a:prstDash val="solid"/>
          </a:ln>
        </p:spPr>
        <p:txBody>
          <a:bodyPr/>
          <a:lstStyle/>
          <a:p>
            <a:endParaRPr lang="en-US"/>
          </a:p>
        </p:txBody>
      </p:sp>
      <p:sp>
        <p:nvSpPr>
          <p:cNvPr id="11" name="Text 9"/>
          <p:cNvSpPr/>
          <p:nvPr/>
        </p:nvSpPr>
        <p:spPr>
          <a:xfrm>
            <a:off x="4069080" y="1389888"/>
            <a:ext cx="19659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USFCA Visualizer</a:t>
            </a:r>
            <a:endParaRPr lang="en-US" sz="1300" dirty="0"/>
          </a:p>
        </p:txBody>
      </p:sp>
      <p:sp>
        <p:nvSpPr>
          <p:cNvPr id="12" name="Shape 10"/>
          <p:cNvSpPr/>
          <p:nvPr/>
        </p:nvSpPr>
        <p:spPr>
          <a:xfrm>
            <a:off x="6035040" y="1389888"/>
            <a:ext cx="2286000" cy="457200"/>
          </a:xfrm>
          <a:prstGeom prst="rect">
            <a:avLst/>
          </a:prstGeom>
          <a:solidFill>
            <a:srgbClr val="2563EB"/>
          </a:solidFill>
          <a:ln w="12700">
            <a:solidFill>
              <a:srgbClr val="FFFFFF"/>
            </a:solidFill>
            <a:prstDash val="solid"/>
          </a:ln>
        </p:spPr>
        <p:txBody>
          <a:bodyPr/>
          <a:lstStyle/>
          <a:p>
            <a:endParaRPr lang="en-US"/>
          </a:p>
        </p:txBody>
      </p:sp>
      <p:sp>
        <p:nvSpPr>
          <p:cNvPr id="13" name="Text 11"/>
          <p:cNvSpPr/>
          <p:nvPr/>
        </p:nvSpPr>
        <p:spPr>
          <a:xfrm>
            <a:off x="6035040" y="1389888"/>
            <a:ext cx="22860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DSA Visualizer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(Đề tài)</a:t>
            </a:r>
            <a:endParaRPr lang="en-US" sz="1300" dirty="0"/>
          </a:p>
        </p:txBody>
      </p:sp>
      <p:sp>
        <p:nvSpPr>
          <p:cNvPr id="14" name="Shape 12"/>
          <p:cNvSpPr/>
          <p:nvPr/>
        </p:nvSpPr>
        <p:spPr>
          <a:xfrm>
            <a:off x="320040" y="1874520"/>
            <a:ext cx="1920240" cy="457200"/>
          </a:xfrm>
          <a:prstGeom prst="rect">
            <a:avLst/>
          </a:prstGeom>
          <a:solidFill>
            <a:srgbClr val="F8FAFC"/>
          </a:solidFill>
          <a:ln w="12700">
            <a:solidFill>
              <a:srgbClr val="E2E8F0"/>
            </a:solidFill>
            <a:prstDash val="solid"/>
          </a:ln>
        </p:spPr>
        <p:txBody>
          <a:bodyPr/>
          <a:lstStyle/>
          <a:p>
            <a:endParaRPr lang="en-US"/>
          </a:p>
        </p:txBody>
      </p:sp>
      <p:sp>
        <p:nvSpPr>
          <p:cNvPr id="15" name="Text 13"/>
          <p:cNvSpPr/>
          <p:nvPr/>
        </p:nvSpPr>
        <p:spPr>
          <a:xfrm>
            <a:off x="365760" y="1874520"/>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Phạm vi thuật toán</a:t>
            </a:r>
            <a:endParaRPr lang="en-US" sz="1200" dirty="0"/>
          </a:p>
        </p:txBody>
      </p:sp>
      <p:sp>
        <p:nvSpPr>
          <p:cNvPr id="16" name="Shape 14"/>
          <p:cNvSpPr/>
          <p:nvPr/>
        </p:nvSpPr>
        <p:spPr>
          <a:xfrm>
            <a:off x="2240280" y="1874520"/>
            <a:ext cx="1828800" cy="457200"/>
          </a:xfrm>
          <a:prstGeom prst="rect">
            <a:avLst/>
          </a:prstGeom>
          <a:solidFill>
            <a:srgbClr val="F8FAFC"/>
          </a:solidFill>
          <a:ln w="12700">
            <a:solidFill>
              <a:srgbClr val="E2E8F0"/>
            </a:solidFill>
            <a:prstDash val="solid"/>
          </a:ln>
        </p:spPr>
        <p:txBody>
          <a:bodyPr/>
          <a:lstStyle/>
          <a:p>
            <a:endParaRPr lang="en-US"/>
          </a:p>
        </p:txBody>
      </p:sp>
      <p:sp>
        <p:nvSpPr>
          <p:cNvPr id="17" name="Text 15"/>
          <p:cNvSpPr/>
          <p:nvPr/>
        </p:nvSpPr>
        <p:spPr>
          <a:xfrm>
            <a:off x="2286000" y="1874520"/>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Rất rộng (30+)</a:t>
            </a:r>
            <a:endParaRPr lang="en-US" sz="1200" dirty="0"/>
          </a:p>
        </p:txBody>
      </p:sp>
      <p:sp>
        <p:nvSpPr>
          <p:cNvPr id="18" name="Shape 16"/>
          <p:cNvSpPr/>
          <p:nvPr/>
        </p:nvSpPr>
        <p:spPr>
          <a:xfrm>
            <a:off x="4069080" y="1874520"/>
            <a:ext cx="1965960" cy="457200"/>
          </a:xfrm>
          <a:prstGeom prst="rect">
            <a:avLst/>
          </a:prstGeom>
          <a:solidFill>
            <a:srgbClr val="F8FAFC"/>
          </a:solidFill>
          <a:ln w="12700">
            <a:solidFill>
              <a:srgbClr val="E2E8F0"/>
            </a:solidFill>
            <a:prstDash val="solid"/>
          </a:ln>
        </p:spPr>
        <p:txBody>
          <a:bodyPr/>
          <a:lstStyle/>
          <a:p>
            <a:endParaRPr lang="en-US"/>
          </a:p>
        </p:txBody>
      </p:sp>
      <p:sp>
        <p:nvSpPr>
          <p:cNvPr id="19" name="Text 17"/>
          <p:cNvSpPr/>
          <p:nvPr/>
        </p:nvSpPr>
        <p:spPr>
          <a:xfrm>
            <a:off x="4114800" y="1874520"/>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Trung bình (15+)</a:t>
            </a:r>
            <a:endParaRPr lang="en-US" sz="1200" dirty="0"/>
          </a:p>
        </p:txBody>
      </p:sp>
      <p:sp>
        <p:nvSpPr>
          <p:cNvPr id="20" name="Shape 18"/>
          <p:cNvSpPr/>
          <p:nvPr/>
        </p:nvSpPr>
        <p:spPr>
          <a:xfrm>
            <a:off x="6035040" y="1874520"/>
            <a:ext cx="2286000" cy="457200"/>
          </a:xfrm>
          <a:prstGeom prst="rect">
            <a:avLst/>
          </a:prstGeom>
          <a:solidFill>
            <a:srgbClr val="EFF6FF"/>
          </a:solidFill>
          <a:ln w="12700">
            <a:solidFill>
              <a:srgbClr val="E2E8F0"/>
            </a:solidFill>
            <a:prstDash val="solid"/>
          </a:ln>
        </p:spPr>
        <p:txBody>
          <a:bodyPr/>
          <a:lstStyle/>
          <a:p>
            <a:endParaRPr lang="en-US"/>
          </a:p>
        </p:txBody>
      </p:sp>
      <p:sp>
        <p:nvSpPr>
          <p:cNvPr id="21" name="Text 19"/>
          <p:cNvSpPr/>
          <p:nvPr/>
        </p:nvSpPr>
        <p:spPr>
          <a:xfrm>
            <a:off x="6080760" y="1874520"/>
            <a:ext cx="2194560" cy="457200"/>
          </a:xfrm>
          <a:prstGeom prst="rect">
            <a:avLst/>
          </a:prstGeom>
          <a:noFill/>
          <a:ln/>
        </p:spPr>
        <p:txBody>
          <a:bodyPr wrap="square" rtlCol="0" anchor="ctr"/>
          <a:lstStyle/>
          <a:p>
            <a:pPr marL="0" indent="0" algn="ctr">
              <a:buNone/>
            </a:pPr>
            <a:r>
              <a:rPr lang="en-US" sz="1200" dirty="0">
                <a:solidFill>
                  <a:srgbClr val="2563EB"/>
                </a:solidFill>
                <a:latin typeface="Calibri" pitchFamily="34" charset="0"/>
                <a:ea typeface="Calibri" pitchFamily="34" charset="-122"/>
                <a:cs typeface="Calibri" pitchFamily="34" charset="-120"/>
              </a:rPr>
              <a:t>Tập trung (LL + BST)</a:t>
            </a:r>
            <a:endParaRPr lang="en-US" sz="1200" dirty="0"/>
          </a:p>
        </p:txBody>
      </p:sp>
      <p:sp>
        <p:nvSpPr>
          <p:cNvPr id="22" name="Shape 20"/>
          <p:cNvSpPr/>
          <p:nvPr/>
        </p:nvSpPr>
        <p:spPr>
          <a:xfrm>
            <a:off x="320040" y="2359152"/>
            <a:ext cx="1920240" cy="457200"/>
          </a:xfrm>
          <a:prstGeom prst="rect">
            <a:avLst/>
          </a:prstGeom>
          <a:solidFill>
            <a:srgbClr val="FFFFFF"/>
          </a:solidFill>
          <a:ln w="12700">
            <a:solidFill>
              <a:srgbClr val="E2E8F0"/>
            </a:solidFill>
            <a:prstDash val="solid"/>
          </a:ln>
        </p:spPr>
        <p:txBody>
          <a:bodyPr/>
          <a:lstStyle/>
          <a:p>
            <a:endParaRPr lang="en-US"/>
          </a:p>
        </p:txBody>
      </p:sp>
      <p:sp>
        <p:nvSpPr>
          <p:cNvPr id="23" name="Text 21"/>
          <p:cNvSpPr/>
          <p:nvPr/>
        </p:nvSpPr>
        <p:spPr>
          <a:xfrm>
            <a:off x="365760" y="2359152"/>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Điều khiển thời gian</a:t>
            </a:r>
            <a:endParaRPr lang="en-US" sz="1200" dirty="0"/>
          </a:p>
        </p:txBody>
      </p:sp>
      <p:sp>
        <p:nvSpPr>
          <p:cNvPr id="24" name="Shape 22"/>
          <p:cNvSpPr/>
          <p:nvPr/>
        </p:nvSpPr>
        <p:spPr>
          <a:xfrm>
            <a:off x="2240280" y="2359152"/>
            <a:ext cx="1828800" cy="457200"/>
          </a:xfrm>
          <a:prstGeom prst="rect">
            <a:avLst/>
          </a:prstGeom>
          <a:solidFill>
            <a:srgbClr val="FFFFFF"/>
          </a:solidFill>
          <a:ln w="12700">
            <a:solidFill>
              <a:srgbClr val="E2E8F0"/>
            </a:solidFill>
            <a:prstDash val="solid"/>
          </a:ln>
        </p:spPr>
        <p:txBody>
          <a:bodyPr/>
          <a:lstStyle/>
          <a:p>
            <a:endParaRPr lang="en-US"/>
          </a:p>
        </p:txBody>
      </p:sp>
      <p:sp>
        <p:nvSpPr>
          <p:cNvPr id="25" name="Text 23"/>
          <p:cNvSpPr/>
          <p:nvPr/>
        </p:nvSpPr>
        <p:spPr>
          <a:xfrm>
            <a:off x="2286000" y="2359152"/>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Có (giới hạn)</a:t>
            </a:r>
            <a:endParaRPr lang="en-US" sz="1200" dirty="0"/>
          </a:p>
        </p:txBody>
      </p:sp>
      <p:sp>
        <p:nvSpPr>
          <p:cNvPr id="26" name="Shape 24"/>
          <p:cNvSpPr/>
          <p:nvPr/>
        </p:nvSpPr>
        <p:spPr>
          <a:xfrm>
            <a:off x="4069080" y="2359152"/>
            <a:ext cx="1965960" cy="457200"/>
          </a:xfrm>
          <a:prstGeom prst="rect">
            <a:avLst/>
          </a:prstGeom>
          <a:solidFill>
            <a:srgbClr val="FFFFFF"/>
          </a:solidFill>
          <a:ln w="12700">
            <a:solidFill>
              <a:srgbClr val="E2E8F0"/>
            </a:solidFill>
            <a:prstDash val="solid"/>
          </a:ln>
        </p:spPr>
        <p:txBody>
          <a:bodyPr/>
          <a:lstStyle/>
          <a:p>
            <a:endParaRPr lang="en-US"/>
          </a:p>
        </p:txBody>
      </p:sp>
      <p:sp>
        <p:nvSpPr>
          <p:cNvPr id="27" name="Text 25"/>
          <p:cNvSpPr/>
          <p:nvPr/>
        </p:nvSpPr>
        <p:spPr>
          <a:xfrm>
            <a:off x="4114800" y="2359152"/>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 có</a:t>
            </a:r>
            <a:endParaRPr lang="en-US" sz="1200" dirty="0"/>
          </a:p>
        </p:txBody>
      </p:sp>
      <p:sp>
        <p:nvSpPr>
          <p:cNvPr id="28" name="Shape 26"/>
          <p:cNvSpPr/>
          <p:nvPr/>
        </p:nvSpPr>
        <p:spPr>
          <a:xfrm>
            <a:off x="6035040" y="2359152"/>
            <a:ext cx="2286000" cy="457200"/>
          </a:xfrm>
          <a:prstGeom prst="rect">
            <a:avLst/>
          </a:prstGeom>
          <a:solidFill>
            <a:srgbClr val="DBEAFE"/>
          </a:solidFill>
          <a:ln w="12700">
            <a:solidFill>
              <a:srgbClr val="E2E8F0"/>
            </a:solidFill>
            <a:prstDash val="solid"/>
          </a:ln>
        </p:spPr>
        <p:txBody>
          <a:bodyPr/>
          <a:lstStyle/>
          <a:p>
            <a:endParaRPr lang="en-US"/>
          </a:p>
        </p:txBody>
      </p:sp>
      <p:sp>
        <p:nvSpPr>
          <p:cNvPr id="29" name="Text 27"/>
          <p:cNvSpPr/>
          <p:nvPr/>
        </p:nvSpPr>
        <p:spPr>
          <a:xfrm>
            <a:off x="6080760" y="2359152"/>
            <a:ext cx="2194560" cy="457200"/>
          </a:xfrm>
          <a:prstGeom prst="rect">
            <a:avLst/>
          </a:prstGeom>
          <a:noFill/>
          <a:ln/>
        </p:spPr>
        <p:txBody>
          <a:bodyPr wrap="square" rtlCol="0" anchor="ctr"/>
          <a:lstStyle/>
          <a:p>
            <a:pPr marL="0" indent="0" algn="ctr">
              <a:buNone/>
            </a:pPr>
            <a:r>
              <a:rPr lang="en-US" sz="1200" b="1" dirty="0">
                <a:solidFill>
                  <a:srgbClr val="2563EB"/>
                </a:solidFill>
                <a:latin typeface="Calibri" pitchFamily="34" charset="0"/>
                <a:ea typeface="Calibri" pitchFamily="34" charset="-122"/>
                <a:cs typeface="Calibri" pitchFamily="34" charset="-120"/>
              </a:rPr>
              <a:t>✅ Đầy đủ (Time-Travel)</a:t>
            </a:r>
            <a:endParaRPr lang="en-US" sz="1200" dirty="0"/>
          </a:p>
        </p:txBody>
      </p:sp>
      <p:sp>
        <p:nvSpPr>
          <p:cNvPr id="30" name="Shape 28"/>
          <p:cNvSpPr/>
          <p:nvPr/>
        </p:nvSpPr>
        <p:spPr>
          <a:xfrm>
            <a:off x="320040" y="2843784"/>
            <a:ext cx="1920240" cy="457200"/>
          </a:xfrm>
          <a:prstGeom prst="rect">
            <a:avLst/>
          </a:prstGeom>
          <a:solidFill>
            <a:srgbClr val="F8FAFC"/>
          </a:solidFill>
          <a:ln w="12700">
            <a:solidFill>
              <a:srgbClr val="E2E8F0"/>
            </a:solidFill>
            <a:prstDash val="solid"/>
          </a:ln>
        </p:spPr>
        <p:txBody>
          <a:bodyPr/>
          <a:lstStyle/>
          <a:p>
            <a:endParaRPr lang="en-US"/>
          </a:p>
        </p:txBody>
      </p:sp>
      <p:sp>
        <p:nvSpPr>
          <p:cNvPr id="31" name="Text 29"/>
          <p:cNvSpPr/>
          <p:nvPr/>
        </p:nvSpPr>
        <p:spPr>
          <a:xfrm>
            <a:off x="365760" y="2843784"/>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Live Big-O Tracker</a:t>
            </a:r>
            <a:endParaRPr lang="en-US" sz="1200" dirty="0"/>
          </a:p>
        </p:txBody>
      </p:sp>
      <p:sp>
        <p:nvSpPr>
          <p:cNvPr id="32" name="Shape 30"/>
          <p:cNvSpPr/>
          <p:nvPr/>
        </p:nvSpPr>
        <p:spPr>
          <a:xfrm>
            <a:off x="2240280" y="2843784"/>
            <a:ext cx="1828800" cy="457200"/>
          </a:xfrm>
          <a:prstGeom prst="rect">
            <a:avLst/>
          </a:prstGeom>
          <a:solidFill>
            <a:srgbClr val="F8FAFC"/>
          </a:solidFill>
          <a:ln w="12700">
            <a:solidFill>
              <a:srgbClr val="E2E8F0"/>
            </a:solidFill>
            <a:prstDash val="solid"/>
          </a:ln>
        </p:spPr>
        <p:txBody>
          <a:bodyPr/>
          <a:lstStyle/>
          <a:p>
            <a:endParaRPr lang="en-US"/>
          </a:p>
        </p:txBody>
      </p:sp>
      <p:sp>
        <p:nvSpPr>
          <p:cNvPr id="33" name="Text 31"/>
          <p:cNvSpPr/>
          <p:nvPr/>
        </p:nvSpPr>
        <p:spPr>
          <a:xfrm>
            <a:off x="2286000" y="2843784"/>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34" name="Shape 32"/>
          <p:cNvSpPr/>
          <p:nvPr/>
        </p:nvSpPr>
        <p:spPr>
          <a:xfrm>
            <a:off x="4069080" y="2843784"/>
            <a:ext cx="1965960" cy="457200"/>
          </a:xfrm>
          <a:prstGeom prst="rect">
            <a:avLst/>
          </a:prstGeom>
          <a:solidFill>
            <a:srgbClr val="F8FAFC"/>
          </a:solidFill>
          <a:ln w="12700">
            <a:solidFill>
              <a:srgbClr val="E2E8F0"/>
            </a:solidFill>
            <a:prstDash val="solid"/>
          </a:ln>
        </p:spPr>
        <p:txBody>
          <a:bodyPr/>
          <a:lstStyle/>
          <a:p>
            <a:endParaRPr lang="en-US"/>
          </a:p>
        </p:txBody>
      </p:sp>
      <p:sp>
        <p:nvSpPr>
          <p:cNvPr id="35" name="Text 33"/>
          <p:cNvSpPr/>
          <p:nvPr/>
        </p:nvSpPr>
        <p:spPr>
          <a:xfrm>
            <a:off x="4114800" y="2843784"/>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035040" y="2843784"/>
            <a:ext cx="2286000" cy="457200"/>
          </a:xfrm>
          <a:prstGeom prst="rect">
            <a:avLst/>
          </a:prstGeom>
          <a:solidFill>
            <a:srgbClr val="EFF6FF"/>
          </a:solidFill>
          <a:ln w="12700">
            <a:solidFill>
              <a:srgbClr val="E2E8F0"/>
            </a:solidFill>
            <a:prstDash val="solid"/>
          </a:ln>
        </p:spPr>
        <p:txBody>
          <a:bodyPr/>
          <a:lstStyle/>
          <a:p>
            <a:endParaRPr lang="en-US"/>
          </a:p>
        </p:txBody>
      </p:sp>
      <p:sp>
        <p:nvSpPr>
          <p:cNvPr id="37" name="Text 35"/>
          <p:cNvSpPr/>
          <p:nvPr/>
        </p:nvSpPr>
        <p:spPr>
          <a:xfrm>
            <a:off x="6080760" y="2843784"/>
            <a:ext cx="2194560" cy="457200"/>
          </a:xfrm>
          <a:prstGeom prst="rect">
            <a:avLst/>
          </a:prstGeom>
          <a:noFill/>
          <a:ln/>
        </p:spPr>
        <p:txBody>
          <a:bodyPr wrap="square" rtlCol="0" anchor="ctr"/>
          <a:lstStyle/>
          <a:p>
            <a:pPr marL="0" indent="0" algn="ctr">
              <a:buNone/>
            </a:pPr>
            <a:r>
              <a:rPr lang="en-US" sz="1200" b="1" dirty="0">
                <a:solidFill>
                  <a:srgbClr val="2563EB"/>
                </a:solidFill>
                <a:latin typeface="Calibri" pitchFamily="34" charset="0"/>
                <a:ea typeface="Calibri" pitchFamily="34" charset="-122"/>
                <a:cs typeface="Calibri" pitchFamily="34" charset="-120"/>
              </a:rPr>
              <a:t>✅ Có (thời gian thực)</a:t>
            </a:r>
            <a:endParaRPr lang="en-US" sz="1200" dirty="0"/>
          </a:p>
        </p:txBody>
      </p:sp>
      <p:sp>
        <p:nvSpPr>
          <p:cNvPr id="38" name="Shape 36"/>
          <p:cNvSpPr/>
          <p:nvPr/>
        </p:nvSpPr>
        <p:spPr>
          <a:xfrm>
            <a:off x="320040" y="3328416"/>
            <a:ext cx="1920240" cy="457200"/>
          </a:xfrm>
          <a:prstGeom prst="rect">
            <a:avLst/>
          </a:prstGeom>
          <a:solidFill>
            <a:srgbClr val="FFFFFF"/>
          </a:solidFill>
          <a:ln w="12700">
            <a:solidFill>
              <a:srgbClr val="E2E8F0"/>
            </a:solidFill>
            <a:prstDash val="solid"/>
          </a:ln>
        </p:spPr>
        <p:txBody>
          <a:bodyPr/>
          <a:lstStyle/>
          <a:p>
            <a:endParaRPr lang="en-US" dirty="0"/>
          </a:p>
        </p:txBody>
      </p:sp>
      <p:sp>
        <p:nvSpPr>
          <p:cNvPr id="39" name="Text 37"/>
          <p:cNvSpPr/>
          <p:nvPr/>
        </p:nvSpPr>
        <p:spPr>
          <a:xfrm>
            <a:off x="365760" y="3328416"/>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Hệ thống kiểm tra</a:t>
            </a:r>
            <a:endParaRPr lang="en-US" sz="1200" dirty="0"/>
          </a:p>
        </p:txBody>
      </p:sp>
      <p:sp>
        <p:nvSpPr>
          <p:cNvPr id="40" name="Shape 38"/>
          <p:cNvSpPr/>
          <p:nvPr/>
        </p:nvSpPr>
        <p:spPr>
          <a:xfrm>
            <a:off x="2240280" y="3328416"/>
            <a:ext cx="1828800" cy="457200"/>
          </a:xfrm>
          <a:prstGeom prst="rect">
            <a:avLst/>
          </a:prstGeom>
          <a:solidFill>
            <a:srgbClr val="FFFFFF"/>
          </a:solidFill>
          <a:ln w="12700">
            <a:solidFill>
              <a:srgbClr val="E2E8F0"/>
            </a:solidFill>
            <a:prstDash val="solid"/>
          </a:ln>
        </p:spPr>
        <p:txBody>
          <a:bodyPr/>
          <a:lstStyle/>
          <a:p>
            <a:endParaRPr lang="en-US"/>
          </a:p>
        </p:txBody>
      </p:sp>
      <p:sp>
        <p:nvSpPr>
          <p:cNvPr id="41" name="Text 39"/>
          <p:cNvSpPr/>
          <p:nvPr/>
        </p:nvSpPr>
        <p:spPr>
          <a:xfrm>
            <a:off x="2286000" y="3328416"/>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42" name="Shape 40"/>
          <p:cNvSpPr/>
          <p:nvPr/>
        </p:nvSpPr>
        <p:spPr>
          <a:xfrm>
            <a:off x="4069080" y="3328416"/>
            <a:ext cx="1965960" cy="457200"/>
          </a:xfrm>
          <a:prstGeom prst="rect">
            <a:avLst/>
          </a:prstGeom>
          <a:solidFill>
            <a:srgbClr val="FFFFFF"/>
          </a:solidFill>
          <a:ln w="12700">
            <a:solidFill>
              <a:srgbClr val="E2E8F0"/>
            </a:solidFill>
            <a:prstDash val="solid"/>
          </a:ln>
        </p:spPr>
        <p:txBody>
          <a:bodyPr/>
          <a:lstStyle/>
          <a:p>
            <a:endParaRPr lang="en-US"/>
          </a:p>
        </p:txBody>
      </p:sp>
      <p:sp>
        <p:nvSpPr>
          <p:cNvPr id="43" name="Text 41"/>
          <p:cNvSpPr/>
          <p:nvPr/>
        </p:nvSpPr>
        <p:spPr>
          <a:xfrm>
            <a:off x="4114800" y="3328416"/>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44" name="Shape 42"/>
          <p:cNvSpPr/>
          <p:nvPr/>
        </p:nvSpPr>
        <p:spPr>
          <a:xfrm>
            <a:off x="6035040" y="3328416"/>
            <a:ext cx="2286000" cy="457200"/>
          </a:xfrm>
          <a:prstGeom prst="rect">
            <a:avLst/>
          </a:prstGeom>
          <a:solidFill>
            <a:srgbClr val="DBEAFE"/>
          </a:solidFill>
          <a:ln w="12700">
            <a:solidFill>
              <a:srgbClr val="E2E8F0"/>
            </a:solidFill>
            <a:prstDash val="solid"/>
          </a:ln>
        </p:spPr>
        <p:txBody>
          <a:bodyPr/>
          <a:lstStyle/>
          <a:p>
            <a:endParaRPr lang="en-US"/>
          </a:p>
        </p:txBody>
      </p:sp>
      <p:sp>
        <p:nvSpPr>
          <p:cNvPr id="45" name="Text 43"/>
          <p:cNvSpPr/>
          <p:nvPr/>
        </p:nvSpPr>
        <p:spPr>
          <a:xfrm>
            <a:off x="6080760" y="3328416"/>
            <a:ext cx="2194560" cy="457200"/>
          </a:xfrm>
          <a:prstGeom prst="rect">
            <a:avLst/>
          </a:prstGeom>
          <a:noFill/>
          <a:ln/>
        </p:spPr>
        <p:txBody>
          <a:bodyPr wrap="square" rtlCol="0" anchor="ctr"/>
          <a:lstStyle/>
          <a:p>
            <a:pPr marL="0" indent="0" algn="ctr">
              <a:buNone/>
            </a:pPr>
            <a:r>
              <a:rPr lang="en-US" sz="1200" b="1" dirty="0">
                <a:solidFill>
                  <a:srgbClr val="2563EB"/>
                </a:solidFill>
                <a:latin typeface="Calibri" pitchFamily="34" charset="0"/>
                <a:ea typeface="Calibri" pitchFamily="34" charset="-122"/>
                <a:cs typeface="Calibri" pitchFamily="34" charset="-120"/>
              </a:rPr>
              <a:t>✅ Sĩ Tử + Chiến Binh</a:t>
            </a:r>
            <a:endParaRPr lang="en-US" sz="1200" dirty="0"/>
          </a:p>
        </p:txBody>
      </p:sp>
      <p:sp>
        <p:nvSpPr>
          <p:cNvPr id="46" name="Shape 44"/>
          <p:cNvSpPr/>
          <p:nvPr/>
        </p:nvSpPr>
        <p:spPr>
          <a:xfrm>
            <a:off x="320040" y="3813048"/>
            <a:ext cx="1920240" cy="457200"/>
          </a:xfrm>
          <a:prstGeom prst="rect">
            <a:avLst/>
          </a:prstGeom>
          <a:solidFill>
            <a:srgbClr val="F8FAFC"/>
          </a:solidFill>
          <a:ln w="12700">
            <a:solidFill>
              <a:srgbClr val="E2E8F0"/>
            </a:solidFill>
            <a:prstDash val="solid"/>
          </a:ln>
        </p:spPr>
        <p:txBody>
          <a:bodyPr/>
          <a:lstStyle/>
          <a:p>
            <a:endParaRPr lang="en-US"/>
          </a:p>
        </p:txBody>
      </p:sp>
      <p:sp>
        <p:nvSpPr>
          <p:cNvPr id="47" name="Text 45"/>
          <p:cNvSpPr/>
          <p:nvPr/>
        </p:nvSpPr>
        <p:spPr>
          <a:xfrm>
            <a:off x="365760" y="3813048"/>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Mã giả đồng bộ</a:t>
            </a:r>
            <a:endParaRPr lang="en-US" sz="1200" dirty="0"/>
          </a:p>
        </p:txBody>
      </p:sp>
      <p:sp>
        <p:nvSpPr>
          <p:cNvPr id="48" name="Shape 46"/>
          <p:cNvSpPr/>
          <p:nvPr/>
        </p:nvSpPr>
        <p:spPr>
          <a:xfrm>
            <a:off x="2240280" y="3813048"/>
            <a:ext cx="1828800" cy="457200"/>
          </a:xfrm>
          <a:prstGeom prst="rect">
            <a:avLst/>
          </a:prstGeom>
          <a:solidFill>
            <a:srgbClr val="F8FAFC"/>
          </a:solidFill>
          <a:ln w="12700">
            <a:solidFill>
              <a:srgbClr val="E2E8F0"/>
            </a:solidFill>
            <a:prstDash val="solid"/>
          </a:ln>
        </p:spPr>
        <p:txBody>
          <a:bodyPr/>
          <a:lstStyle/>
          <a:p>
            <a:endParaRPr lang="en-US"/>
          </a:p>
        </p:txBody>
      </p:sp>
      <p:sp>
        <p:nvSpPr>
          <p:cNvPr id="49" name="Text 47"/>
          <p:cNvSpPr/>
          <p:nvPr/>
        </p:nvSpPr>
        <p:spPr>
          <a:xfrm>
            <a:off x="2286000" y="3813048"/>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Một phần</a:t>
            </a:r>
            <a:endParaRPr lang="en-US" sz="1200" dirty="0"/>
          </a:p>
        </p:txBody>
      </p:sp>
      <p:sp>
        <p:nvSpPr>
          <p:cNvPr id="50" name="Shape 48"/>
          <p:cNvSpPr/>
          <p:nvPr/>
        </p:nvSpPr>
        <p:spPr>
          <a:xfrm>
            <a:off x="4069080" y="3813048"/>
            <a:ext cx="1965960" cy="457200"/>
          </a:xfrm>
          <a:prstGeom prst="rect">
            <a:avLst/>
          </a:prstGeom>
          <a:solidFill>
            <a:srgbClr val="F8FAFC"/>
          </a:solidFill>
          <a:ln w="12700">
            <a:solidFill>
              <a:srgbClr val="E2E8F0"/>
            </a:solidFill>
            <a:prstDash val="solid"/>
          </a:ln>
        </p:spPr>
        <p:txBody>
          <a:bodyPr/>
          <a:lstStyle/>
          <a:p>
            <a:endParaRPr lang="en-US"/>
          </a:p>
        </p:txBody>
      </p:sp>
      <p:sp>
        <p:nvSpPr>
          <p:cNvPr id="51" name="Text 49"/>
          <p:cNvSpPr/>
          <p:nvPr/>
        </p:nvSpPr>
        <p:spPr>
          <a:xfrm>
            <a:off x="4114800" y="3813048"/>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035040" y="3813048"/>
            <a:ext cx="2286000" cy="457200"/>
          </a:xfrm>
          <a:prstGeom prst="rect">
            <a:avLst/>
          </a:prstGeom>
          <a:solidFill>
            <a:srgbClr val="EFF6FF"/>
          </a:solidFill>
          <a:ln w="12700">
            <a:solidFill>
              <a:srgbClr val="E2E8F0"/>
            </a:solidFill>
            <a:prstDash val="solid"/>
          </a:ln>
        </p:spPr>
        <p:txBody>
          <a:bodyPr/>
          <a:lstStyle/>
          <a:p>
            <a:endParaRPr lang="en-US"/>
          </a:p>
        </p:txBody>
      </p:sp>
      <p:sp>
        <p:nvSpPr>
          <p:cNvPr id="53" name="Text 51"/>
          <p:cNvSpPr/>
          <p:nvPr/>
        </p:nvSpPr>
        <p:spPr>
          <a:xfrm>
            <a:off x="6080760" y="3813048"/>
            <a:ext cx="2194560" cy="457200"/>
          </a:xfrm>
          <a:prstGeom prst="rect">
            <a:avLst/>
          </a:prstGeom>
          <a:noFill/>
          <a:ln/>
        </p:spPr>
        <p:txBody>
          <a:bodyPr wrap="square" rtlCol="0" anchor="ctr"/>
          <a:lstStyle/>
          <a:p>
            <a:pPr marL="0" indent="0" algn="ctr">
              <a:buNone/>
            </a:pPr>
            <a:r>
              <a:rPr lang="en-US" sz="1200" b="1" dirty="0">
                <a:solidFill>
                  <a:srgbClr val="2563EB"/>
                </a:solidFill>
                <a:latin typeface="Calibri" pitchFamily="34" charset="0"/>
                <a:ea typeface="Calibri" pitchFamily="34" charset="-122"/>
                <a:cs typeface="Calibri" pitchFamily="34" charset="-120"/>
              </a:rPr>
              <a:t>✅ Từng mili-giây</a:t>
            </a:r>
            <a:endParaRPr lang="en-US" sz="1200" dirty="0"/>
          </a:p>
        </p:txBody>
      </p:sp>
      <p:sp>
        <p:nvSpPr>
          <p:cNvPr id="54" name="Shape 52"/>
          <p:cNvSpPr/>
          <p:nvPr/>
        </p:nvSpPr>
        <p:spPr>
          <a:xfrm>
            <a:off x="320040" y="4297680"/>
            <a:ext cx="1920240" cy="457200"/>
          </a:xfrm>
          <a:prstGeom prst="rect">
            <a:avLst/>
          </a:prstGeom>
          <a:solidFill>
            <a:srgbClr val="FFFFFF"/>
          </a:solidFill>
          <a:ln w="12700">
            <a:solidFill>
              <a:srgbClr val="E2E8F0"/>
            </a:solidFill>
            <a:prstDash val="solid"/>
          </a:ln>
        </p:spPr>
        <p:txBody>
          <a:bodyPr/>
          <a:lstStyle/>
          <a:p>
            <a:endParaRPr lang="en-US"/>
          </a:p>
        </p:txBody>
      </p:sp>
      <p:sp>
        <p:nvSpPr>
          <p:cNvPr id="55" name="Text 53"/>
          <p:cNvSpPr/>
          <p:nvPr/>
        </p:nvSpPr>
        <p:spPr>
          <a:xfrm>
            <a:off x="365760" y="4297680"/>
            <a:ext cx="1828800" cy="45720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Ngôn ngữ Tiếng Việt</a:t>
            </a:r>
            <a:endParaRPr lang="en-US" sz="1200" dirty="0"/>
          </a:p>
        </p:txBody>
      </p:sp>
      <p:sp>
        <p:nvSpPr>
          <p:cNvPr id="56" name="Shape 54"/>
          <p:cNvSpPr/>
          <p:nvPr/>
        </p:nvSpPr>
        <p:spPr>
          <a:xfrm>
            <a:off x="2240280" y="4297680"/>
            <a:ext cx="1828800" cy="457200"/>
          </a:xfrm>
          <a:prstGeom prst="rect">
            <a:avLst/>
          </a:prstGeom>
          <a:solidFill>
            <a:srgbClr val="FFFFFF"/>
          </a:solidFill>
          <a:ln w="12700">
            <a:solidFill>
              <a:srgbClr val="E2E8F0"/>
            </a:solidFill>
            <a:prstDash val="solid"/>
          </a:ln>
        </p:spPr>
        <p:txBody>
          <a:bodyPr/>
          <a:lstStyle/>
          <a:p>
            <a:endParaRPr lang="en-US"/>
          </a:p>
        </p:txBody>
      </p:sp>
      <p:sp>
        <p:nvSpPr>
          <p:cNvPr id="57" name="Text 55"/>
          <p:cNvSpPr/>
          <p:nvPr/>
        </p:nvSpPr>
        <p:spPr>
          <a:xfrm>
            <a:off x="2286000" y="4297680"/>
            <a:ext cx="173736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58" name="Shape 56"/>
          <p:cNvSpPr/>
          <p:nvPr/>
        </p:nvSpPr>
        <p:spPr>
          <a:xfrm>
            <a:off x="4069080" y="4297680"/>
            <a:ext cx="1965960" cy="457200"/>
          </a:xfrm>
          <a:prstGeom prst="rect">
            <a:avLst/>
          </a:prstGeom>
          <a:solidFill>
            <a:srgbClr val="FFFFFF"/>
          </a:solidFill>
          <a:ln w="12700">
            <a:solidFill>
              <a:srgbClr val="E2E8F0"/>
            </a:solidFill>
            <a:prstDash val="solid"/>
          </a:ln>
        </p:spPr>
        <p:txBody>
          <a:bodyPr/>
          <a:lstStyle/>
          <a:p>
            <a:endParaRPr lang="en-US"/>
          </a:p>
        </p:txBody>
      </p:sp>
      <p:sp>
        <p:nvSpPr>
          <p:cNvPr id="59" name="Text 57"/>
          <p:cNvSpPr/>
          <p:nvPr/>
        </p:nvSpPr>
        <p:spPr>
          <a:xfrm>
            <a:off x="4114800" y="4297680"/>
            <a:ext cx="1874520" cy="45720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Không</a:t>
            </a:r>
            <a:endParaRPr lang="en-US" sz="1200" dirty="0"/>
          </a:p>
        </p:txBody>
      </p:sp>
      <p:sp>
        <p:nvSpPr>
          <p:cNvPr id="60" name="Shape 58"/>
          <p:cNvSpPr/>
          <p:nvPr/>
        </p:nvSpPr>
        <p:spPr>
          <a:xfrm>
            <a:off x="6035040" y="4297680"/>
            <a:ext cx="2286000" cy="457200"/>
          </a:xfrm>
          <a:prstGeom prst="rect">
            <a:avLst/>
          </a:prstGeom>
          <a:solidFill>
            <a:srgbClr val="DBEAFE"/>
          </a:solidFill>
          <a:ln w="12700">
            <a:solidFill>
              <a:srgbClr val="E2E8F0"/>
            </a:solidFill>
            <a:prstDash val="solid"/>
          </a:ln>
        </p:spPr>
        <p:txBody>
          <a:bodyPr/>
          <a:lstStyle/>
          <a:p>
            <a:endParaRPr lang="en-US"/>
          </a:p>
        </p:txBody>
      </p:sp>
      <p:sp>
        <p:nvSpPr>
          <p:cNvPr id="61" name="Text 59"/>
          <p:cNvSpPr/>
          <p:nvPr/>
        </p:nvSpPr>
        <p:spPr>
          <a:xfrm>
            <a:off x="6080760" y="4297680"/>
            <a:ext cx="2194560" cy="457200"/>
          </a:xfrm>
          <a:prstGeom prst="rect">
            <a:avLst/>
          </a:prstGeom>
          <a:noFill/>
          <a:ln/>
        </p:spPr>
        <p:txBody>
          <a:bodyPr wrap="square" rtlCol="0" anchor="ctr"/>
          <a:lstStyle/>
          <a:p>
            <a:pPr marL="0" indent="0" algn="ctr">
              <a:buNone/>
            </a:pPr>
            <a:r>
              <a:rPr lang="en-US" sz="1200" b="1" dirty="0">
                <a:solidFill>
                  <a:srgbClr val="2563EB"/>
                </a:solidFill>
                <a:latin typeface="Calibri" pitchFamily="34" charset="0"/>
                <a:ea typeface="Calibri" pitchFamily="34" charset="-122"/>
                <a:cs typeface="Calibri" pitchFamily="34" charset="-120"/>
              </a:rPr>
              <a:t>✅ Hoàn toàn</a:t>
            </a:r>
            <a:endParaRPr lang="en-US" sz="1200" dirty="0"/>
          </a:p>
        </p:txBody>
      </p:sp>
      <p:sp>
        <p:nvSpPr>
          <p:cNvPr id="62" name="Shape 60"/>
          <p:cNvSpPr/>
          <p:nvPr/>
        </p:nvSpPr>
        <p:spPr>
          <a:xfrm>
            <a:off x="320040" y="4754880"/>
            <a:ext cx="8503920" cy="256032"/>
          </a:xfrm>
          <a:prstGeom prst="rect">
            <a:avLst/>
          </a:prstGeom>
          <a:solidFill>
            <a:srgbClr val="EFF6FF"/>
          </a:solidFill>
          <a:ln w="12700">
            <a:solidFill>
              <a:srgbClr val="BFDBFE"/>
            </a:solidFill>
            <a:prstDash val="solid"/>
          </a:ln>
        </p:spPr>
        <p:txBody>
          <a:bodyPr/>
          <a:lstStyle/>
          <a:p>
            <a:endParaRPr lang="en-US"/>
          </a:p>
        </p:txBody>
      </p:sp>
      <p:sp>
        <p:nvSpPr>
          <p:cNvPr id="63" name="Text 61"/>
          <p:cNvSpPr/>
          <p:nvPr/>
        </p:nvSpPr>
        <p:spPr>
          <a:xfrm>
            <a:off x="457200" y="4754880"/>
            <a:ext cx="8321040" cy="256032"/>
          </a:xfrm>
          <a:prstGeom prst="rect">
            <a:avLst/>
          </a:prstGeom>
          <a:noFill/>
          <a:ln/>
        </p:spPr>
        <p:txBody>
          <a:bodyPr wrap="square" rtlCol="0" anchor="ctr"/>
          <a:lstStyle/>
          <a:p>
            <a:pPr marL="0" indent="0" algn="ctr">
              <a:buNone/>
            </a:pPr>
            <a:r>
              <a:rPr lang="en-US" sz="1100" b="1" dirty="0">
                <a:solidFill>
                  <a:srgbClr val="1B3A6B"/>
                </a:solidFill>
                <a:latin typeface="Calibri" pitchFamily="34" charset="0"/>
                <a:ea typeface="Calibri" pitchFamily="34" charset="-122"/>
                <a:cs typeface="Calibri" pitchFamily="34" charset="-120"/>
              </a:rPr>
              <a:t>🎯  Kết luận: DSA Visualizer không cạnh tranh với VisuAlgo — </a:t>
            </a:r>
            <a:r>
              <a:rPr lang="en-US" sz="1100" b="1" dirty="0" err="1">
                <a:solidFill>
                  <a:srgbClr val="1B3A6B"/>
                </a:solidFill>
                <a:latin typeface="Calibri" pitchFamily="34" charset="0"/>
                <a:ea typeface="Calibri" pitchFamily="34" charset="-122"/>
                <a:cs typeface="Calibri" pitchFamily="34" charset="-120"/>
              </a:rPr>
              <a:t>bổ</a:t>
            </a:r>
            <a:r>
              <a:rPr lang="en-US" sz="1100" b="1" dirty="0">
                <a:solidFill>
                  <a:srgbClr val="1B3A6B"/>
                </a:solidFill>
                <a:latin typeface="Calibri" pitchFamily="34" charset="0"/>
                <a:ea typeface="Calibri" pitchFamily="34" charset="-122"/>
                <a:cs typeface="Calibri" pitchFamily="34" charset="-120"/>
              </a:rPr>
              <a:t> sung </a:t>
            </a:r>
            <a:r>
              <a:rPr lang="en-US" sz="1100" b="1" dirty="0" err="1">
                <a:solidFill>
                  <a:srgbClr val="1B3A6B"/>
                </a:solidFill>
                <a:latin typeface="Calibri" pitchFamily="34" charset="0"/>
                <a:ea typeface="Calibri" pitchFamily="34" charset="-122"/>
                <a:cs typeface="Calibri" pitchFamily="34" charset="-120"/>
              </a:rPr>
              <a:t>các</a:t>
            </a:r>
            <a:r>
              <a:rPr lang="en-US" sz="1100" b="1" dirty="0">
                <a:solidFill>
                  <a:srgbClr val="1B3A6B"/>
                </a:solidFill>
                <a:latin typeface="Calibri" pitchFamily="34" charset="0"/>
                <a:ea typeface="Calibri" pitchFamily="34" charset="-122"/>
                <a:cs typeface="Calibri" pitchFamily="34" charset="-120"/>
              </a:rPr>
              <a:t> nền tảng hiện có bỏ sót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6"/>
          <p:cNvSpPr/>
          <p:nvPr/>
        </p:nvSpPr>
        <p:spPr>
          <a:xfrm>
            <a:off x="445770" y="1316557"/>
            <a:ext cx="1508760" cy="171450"/>
          </a:xfrm>
          <a:prstGeom prst="rect">
            <a:avLst/>
          </a:prstGeom>
          <a:noFill/>
          <a:ln/>
        </p:spPr>
        <p:txBody>
          <a:bodyPr wrap="square" lIns="0" tIns="0" rIns="0" bIns="0" rtlCol="0" anchor="ctr"/>
          <a:lstStyle/>
          <a:p>
            <a:r>
              <a:rPr lang="en-US" sz="1013" b="1" dirty="0">
                <a:solidFill>
                  <a:srgbClr val="2563EB"/>
                </a:solidFill>
                <a:latin typeface="Segoe UI" pitchFamily="34" charset="0"/>
                <a:ea typeface="Segoe UI" pitchFamily="34" charset="-122"/>
                <a:cs typeface="Segoe UI" pitchFamily="34" charset="-120"/>
              </a:rPr>
              <a:t>Mô hình bộ nhớ</a:t>
            </a:r>
            <a:endParaRPr lang="en-US" sz="1013" dirty="0"/>
          </a:p>
        </p:txBody>
      </p:sp>
      <p:sp>
        <p:nvSpPr>
          <p:cNvPr id="9" name="Text 7"/>
          <p:cNvSpPr/>
          <p:nvPr/>
        </p:nvSpPr>
        <p:spPr>
          <a:xfrm>
            <a:off x="445770" y="1549729"/>
            <a:ext cx="3429000" cy="548640"/>
          </a:xfrm>
          <a:prstGeom prst="rect">
            <a:avLst/>
          </a:prstGeom>
          <a:noFill/>
          <a:ln/>
        </p:spPr>
        <p:txBody>
          <a:bodyPr wrap="square" lIns="191" tIns="191" rIns="191" bIns="191" rtlCol="0" anchor="ctr">
            <a:normAutofit/>
          </a:bodyPr>
          <a:lstStyle/>
          <a:p>
            <a:r>
              <a:rPr lang="en-US" sz="1050" dirty="0">
                <a:solidFill>
                  <a:srgbClr val="5F6B7A"/>
                </a:solidFill>
                <a:latin typeface="Segoe UI" pitchFamily="34" charset="0"/>
                <a:ea typeface="Segoe UI" pitchFamily="34" charset="-122"/>
                <a:cs typeface="Segoe UI" pitchFamily="34" charset="-120"/>
              </a:rPr>
              <a:t>Các node không cần nằm liên tiếp trong bộ nhớ. Việc thêm/xóa đầu danh sách chỉ cần đổi liên kết con trỏ.</a:t>
            </a:r>
            <a:endParaRPr lang="en-US" sz="1050" dirty="0"/>
          </a:p>
        </p:txBody>
      </p:sp>
      <p:sp>
        <p:nvSpPr>
          <p:cNvPr id="10" name="Text 8"/>
          <p:cNvSpPr/>
          <p:nvPr/>
        </p:nvSpPr>
        <p:spPr>
          <a:xfrm>
            <a:off x="534924" y="2304109"/>
            <a:ext cx="377190" cy="171450"/>
          </a:xfrm>
          <a:prstGeom prst="rect">
            <a:avLst/>
          </a:prstGeom>
          <a:noFill/>
          <a:ln/>
        </p:spPr>
        <p:txBody>
          <a:bodyPr wrap="square" lIns="0" tIns="0" rIns="0" bIns="0" rtlCol="0" anchor="ctr"/>
          <a:lstStyle/>
          <a:p>
            <a:r>
              <a:rPr lang="en-US" sz="900" b="1" dirty="0">
                <a:solidFill>
                  <a:srgbClr val="1E2A36"/>
                </a:solidFill>
                <a:latin typeface="Segoe UI" pitchFamily="34" charset="0"/>
                <a:ea typeface="Segoe UI" pitchFamily="34" charset="-122"/>
                <a:cs typeface="Segoe UI" pitchFamily="34" charset="-120"/>
              </a:rPr>
              <a:t>Head</a:t>
            </a:r>
            <a:endParaRPr lang="en-US" sz="900" dirty="0"/>
          </a:p>
        </p:txBody>
      </p:sp>
      <p:sp>
        <p:nvSpPr>
          <p:cNvPr id="11" name="Text 9"/>
          <p:cNvSpPr/>
          <p:nvPr/>
        </p:nvSpPr>
        <p:spPr>
          <a:xfrm>
            <a:off x="1038987" y="2262961"/>
            <a:ext cx="233172" cy="233172"/>
          </a:xfrm>
          <a:prstGeom prst="rect">
            <a:avLst/>
          </a:prstGeom>
          <a:noFill/>
          <a:ln/>
        </p:spPr>
        <p:txBody>
          <a:bodyPr wrap="square" lIns="0" tIns="0" rIns="0" bIns="0" rtlCol="0" anchor="ctr"/>
          <a:lstStyle/>
          <a:p>
            <a:pPr algn="ctr"/>
            <a:r>
              <a:rPr lang="en-US" sz="1425" b="1" dirty="0">
                <a:solidFill>
                  <a:srgbClr val="2563EB"/>
                </a:solidFill>
                <a:latin typeface="Segoe UI" pitchFamily="34" charset="0"/>
                <a:ea typeface="Segoe UI" pitchFamily="34" charset="-122"/>
                <a:cs typeface="Segoe UI" pitchFamily="34" charset="-120"/>
              </a:rPr>
              <a:t>→</a:t>
            </a:r>
            <a:endParaRPr lang="en-US" sz="1425" dirty="0"/>
          </a:p>
        </p:txBody>
      </p:sp>
      <p:sp>
        <p:nvSpPr>
          <p:cNvPr id="12" name="Shape 10"/>
          <p:cNvSpPr/>
          <p:nvPr/>
        </p:nvSpPr>
        <p:spPr>
          <a:xfrm>
            <a:off x="1426464" y="2187523"/>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3" name="Text 11"/>
          <p:cNvSpPr/>
          <p:nvPr/>
        </p:nvSpPr>
        <p:spPr>
          <a:xfrm>
            <a:off x="1426464" y="2290393"/>
            <a:ext cx="397764" cy="150876"/>
          </a:xfrm>
          <a:prstGeom prst="rect">
            <a:avLst/>
          </a:prstGeom>
          <a:noFill/>
          <a:ln/>
        </p:spPr>
        <p:txBody>
          <a:bodyPr wrap="square" lIns="0" tIns="0" rIns="0" bIns="0" rtlCol="0" anchor="ctr"/>
          <a:lstStyle/>
          <a:p>
            <a:pPr algn="ctr"/>
            <a:r>
              <a:rPr lang="en-US" sz="938" b="1" dirty="0">
                <a:solidFill>
                  <a:srgbClr val="FFFFFF"/>
                </a:solidFill>
                <a:latin typeface="Segoe UI" pitchFamily="34" charset="0"/>
                <a:ea typeface="Segoe UI" pitchFamily="34" charset="-122"/>
                <a:cs typeface="Segoe UI" pitchFamily="34" charset="-120"/>
              </a:rPr>
              <a:t>10</a:t>
            </a:r>
            <a:endParaRPr lang="en-US" sz="938" dirty="0"/>
          </a:p>
        </p:txBody>
      </p:sp>
      <p:sp>
        <p:nvSpPr>
          <p:cNvPr id="14" name="Text 12"/>
          <p:cNvSpPr/>
          <p:nvPr/>
        </p:nvSpPr>
        <p:spPr>
          <a:xfrm>
            <a:off x="1964817" y="2262961"/>
            <a:ext cx="233172" cy="233172"/>
          </a:xfrm>
          <a:prstGeom prst="rect">
            <a:avLst/>
          </a:prstGeom>
          <a:noFill/>
          <a:ln/>
        </p:spPr>
        <p:txBody>
          <a:bodyPr wrap="square" lIns="0" tIns="0" rIns="0" bIns="0" rtlCol="0" anchor="ctr"/>
          <a:lstStyle/>
          <a:p>
            <a:pPr algn="ctr"/>
            <a:r>
              <a:rPr lang="en-US" sz="1425" b="1" dirty="0">
                <a:solidFill>
                  <a:srgbClr val="2563EB"/>
                </a:solidFill>
                <a:latin typeface="Segoe UI" pitchFamily="34" charset="0"/>
                <a:ea typeface="Segoe UI" pitchFamily="34" charset="-122"/>
                <a:cs typeface="Segoe UI" pitchFamily="34" charset="-120"/>
              </a:rPr>
              <a:t>→</a:t>
            </a:r>
            <a:endParaRPr lang="en-US" sz="1425" dirty="0"/>
          </a:p>
        </p:txBody>
      </p:sp>
      <p:sp>
        <p:nvSpPr>
          <p:cNvPr id="15" name="Shape 13"/>
          <p:cNvSpPr/>
          <p:nvPr/>
        </p:nvSpPr>
        <p:spPr>
          <a:xfrm>
            <a:off x="2345436" y="2187523"/>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6" name="Text 14"/>
          <p:cNvSpPr/>
          <p:nvPr/>
        </p:nvSpPr>
        <p:spPr>
          <a:xfrm>
            <a:off x="2345436" y="2290393"/>
            <a:ext cx="397764" cy="150876"/>
          </a:xfrm>
          <a:prstGeom prst="rect">
            <a:avLst/>
          </a:prstGeom>
          <a:noFill/>
          <a:ln/>
        </p:spPr>
        <p:txBody>
          <a:bodyPr wrap="square" lIns="0" tIns="0" rIns="0" bIns="0" rtlCol="0" anchor="ctr"/>
          <a:lstStyle/>
          <a:p>
            <a:pPr algn="ctr"/>
            <a:r>
              <a:rPr lang="en-US" sz="938" b="1" dirty="0">
                <a:solidFill>
                  <a:srgbClr val="FFFFFF"/>
                </a:solidFill>
                <a:latin typeface="Segoe UI" pitchFamily="34" charset="0"/>
                <a:ea typeface="Segoe UI" pitchFamily="34" charset="-122"/>
                <a:cs typeface="Segoe UI" pitchFamily="34" charset="-120"/>
              </a:rPr>
              <a:t>20</a:t>
            </a:r>
            <a:endParaRPr lang="en-US" sz="938" dirty="0"/>
          </a:p>
        </p:txBody>
      </p:sp>
      <p:sp>
        <p:nvSpPr>
          <p:cNvPr id="17" name="Text 15"/>
          <p:cNvSpPr/>
          <p:nvPr/>
        </p:nvSpPr>
        <p:spPr>
          <a:xfrm>
            <a:off x="2883789" y="2262961"/>
            <a:ext cx="233172" cy="233172"/>
          </a:xfrm>
          <a:prstGeom prst="rect">
            <a:avLst/>
          </a:prstGeom>
          <a:noFill/>
          <a:ln/>
        </p:spPr>
        <p:txBody>
          <a:bodyPr wrap="square" lIns="0" tIns="0" rIns="0" bIns="0" rtlCol="0" anchor="ctr"/>
          <a:lstStyle/>
          <a:p>
            <a:pPr algn="ctr"/>
            <a:r>
              <a:rPr lang="en-US" sz="1425" b="1" dirty="0">
                <a:solidFill>
                  <a:srgbClr val="2563EB"/>
                </a:solidFill>
                <a:latin typeface="Segoe UI" pitchFamily="34" charset="0"/>
                <a:ea typeface="Segoe UI" pitchFamily="34" charset="-122"/>
                <a:cs typeface="Segoe UI" pitchFamily="34" charset="-120"/>
              </a:rPr>
              <a:t>→</a:t>
            </a:r>
            <a:endParaRPr lang="en-US" sz="1425" dirty="0"/>
          </a:p>
        </p:txBody>
      </p:sp>
      <p:sp>
        <p:nvSpPr>
          <p:cNvPr id="18" name="Shape 16"/>
          <p:cNvSpPr/>
          <p:nvPr/>
        </p:nvSpPr>
        <p:spPr>
          <a:xfrm>
            <a:off x="3264408" y="2187523"/>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9" name="Text 17"/>
          <p:cNvSpPr/>
          <p:nvPr/>
        </p:nvSpPr>
        <p:spPr>
          <a:xfrm>
            <a:off x="3264408" y="2290393"/>
            <a:ext cx="397764" cy="150876"/>
          </a:xfrm>
          <a:prstGeom prst="rect">
            <a:avLst/>
          </a:prstGeom>
          <a:noFill/>
          <a:ln/>
        </p:spPr>
        <p:txBody>
          <a:bodyPr wrap="square" lIns="0" tIns="0" rIns="0" bIns="0" rtlCol="0" anchor="ctr"/>
          <a:lstStyle/>
          <a:p>
            <a:pPr algn="ctr"/>
            <a:r>
              <a:rPr lang="en-US" sz="938" b="1" dirty="0">
                <a:solidFill>
                  <a:srgbClr val="FFFFFF"/>
                </a:solidFill>
                <a:latin typeface="Segoe UI" pitchFamily="34" charset="0"/>
                <a:ea typeface="Segoe UI" pitchFamily="34" charset="-122"/>
                <a:cs typeface="Segoe UI" pitchFamily="34" charset="-120"/>
              </a:rPr>
              <a:t>30</a:t>
            </a:r>
            <a:endParaRPr lang="en-US" sz="938" dirty="0"/>
          </a:p>
        </p:txBody>
      </p:sp>
      <p:sp>
        <p:nvSpPr>
          <p:cNvPr id="20" name="Text 18"/>
          <p:cNvSpPr/>
          <p:nvPr/>
        </p:nvSpPr>
        <p:spPr>
          <a:xfrm>
            <a:off x="3809619" y="2262961"/>
            <a:ext cx="233172" cy="233172"/>
          </a:xfrm>
          <a:prstGeom prst="rect">
            <a:avLst/>
          </a:prstGeom>
          <a:noFill/>
          <a:ln/>
        </p:spPr>
        <p:txBody>
          <a:bodyPr wrap="square" lIns="0" tIns="0" rIns="0" bIns="0" rtlCol="0" anchor="ctr"/>
          <a:lstStyle/>
          <a:p>
            <a:pPr algn="ctr"/>
            <a:r>
              <a:rPr lang="en-US" sz="1425" b="1" dirty="0">
                <a:solidFill>
                  <a:srgbClr val="5F6B7A"/>
                </a:solidFill>
                <a:latin typeface="Segoe UI" pitchFamily="34" charset="0"/>
                <a:ea typeface="Segoe UI" pitchFamily="34" charset="-122"/>
                <a:cs typeface="Segoe UI" pitchFamily="34" charset="-120"/>
              </a:rPr>
              <a:t>→</a:t>
            </a:r>
            <a:endParaRPr lang="en-US" sz="1425" dirty="0"/>
          </a:p>
        </p:txBody>
      </p:sp>
      <p:sp>
        <p:nvSpPr>
          <p:cNvPr id="21" name="Text 19"/>
          <p:cNvSpPr/>
          <p:nvPr/>
        </p:nvSpPr>
        <p:spPr>
          <a:xfrm>
            <a:off x="4197096" y="2297251"/>
            <a:ext cx="480060" cy="192024"/>
          </a:xfrm>
          <a:prstGeom prst="rect">
            <a:avLst/>
          </a:prstGeom>
          <a:noFill/>
          <a:ln/>
        </p:spPr>
        <p:txBody>
          <a:bodyPr wrap="square" lIns="0" tIns="0" rIns="0" bIns="0" rtlCol="0" anchor="ctr"/>
          <a:lstStyle/>
          <a:p>
            <a:r>
              <a:rPr lang="en-US" sz="900" b="1" dirty="0">
                <a:solidFill>
                  <a:srgbClr val="5F6B7A"/>
                </a:solidFill>
                <a:latin typeface="Segoe UI" pitchFamily="34" charset="0"/>
                <a:ea typeface="Segoe UI" pitchFamily="34" charset="-122"/>
                <a:cs typeface="Segoe UI" pitchFamily="34" charset="-120"/>
              </a:rPr>
              <a:t>NULL</a:t>
            </a:r>
            <a:endParaRPr lang="en-US" sz="900" dirty="0"/>
          </a:p>
        </p:txBody>
      </p:sp>
      <p:sp>
        <p:nvSpPr>
          <p:cNvPr id="22" name="Shape 20"/>
          <p:cNvSpPr/>
          <p:nvPr/>
        </p:nvSpPr>
        <p:spPr>
          <a:xfrm>
            <a:off x="4766310" y="1110996"/>
            <a:ext cx="0" cy="3394710"/>
          </a:xfrm>
          <a:prstGeom prst="line">
            <a:avLst/>
          </a:prstGeom>
          <a:noFill/>
          <a:ln w="13970">
            <a:solidFill>
              <a:srgbClr val="CBD5E1"/>
            </a:solidFill>
            <a:prstDash val="solid"/>
          </a:ln>
        </p:spPr>
        <p:txBody>
          <a:bodyPr/>
          <a:lstStyle/>
          <a:p>
            <a:endParaRPr lang="en-US" sz="1350"/>
          </a:p>
        </p:txBody>
      </p:sp>
      <p:sp>
        <p:nvSpPr>
          <p:cNvPr id="23" name="Text 21"/>
          <p:cNvSpPr/>
          <p:nvPr/>
        </p:nvSpPr>
        <p:spPr>
          <a:xfrm>
            <a:off x="4972050" y="1316557"/>
            <a:ext cx="1920240" cy="171450"/>
          </a:xfrm>
          <a:prstGeom prst="rect">
            <a:avLst/>
          </a:prstGeom>
          <a:noFill/>
          <a:ln/>
        </p:spPr>
        <p:txBody>
          <a:bodyPr wrap="square" lIns="0" tIns="0" rIns="0" bIns="0" rtlCol="0" anchor="ctr"/>
          <a:lstStyle/>
          <a:p>
            <a:r>
              <a:rPr lang="en-US" sz="1013" b="1" dirty="0">
                <a:solidFill>
                  <a:srgbClr val="2563EB"/>
                </a:solidFill>
                <a:latin typeface="Segoe UI" pitchFamily="34" charset="0"/>
                <a:ea typeface="Segoe UI" pitchFamily="34" charset="-122"/>
                <a:cs typeface="Segoe UI" pitchFamily="34" charset="-120"/>
              </a:rPr>
              <a:t>Các thủ tục chính</a:t>
            </a:r>
            <a:endParaRPr lang="en-US" sz="1013" dirty="0"/>
          </a:p>
        </p:txBody>
      </p:sp>
      <p:sp>
        <p:nvSpPr>
          <p:cNvPr id="24" name="Text 22"/>
          <p:cNvSpPr/>
          <p:nvPr/>
        </p:nvSpPr>
        <p:spPr>
          <a:xfrm>
            <a:off x="4972050" y="1563445"/>
            <a:ext cx="822960" cy="150876"/>
          </a:xfrm>
          <a:prstGeom prst="rect">
            <a:avLst/>
          </a:prstGeom>
          <a:noFill/>
          <a:ln/>
        </p:spPr>
        <p:txBody>
          <a:bodyPr wrap="square" lIns="0" tIns="0" rIns="0" bIns="0" rtlCol="0" anchor="ctr"/>
          <a:lstStyle/>
          <a:p>
            <a:r>
              <a:rPr lang="en-US" sz="825" b="1" dirty="0">
                <a:solidFill>
                  <a:srgbClr val="5F6B7A"/>
                </a:solidFill>
                <a:latin typeface="Segoe UI" pitchFamily="34" charset="0"/>
                <a:ea typeface="Segoe UI" pitchFamily="34" charset="-122"/>
                <a:cs typeface="Segoe UI" pitchFamily="34" charset="-120"/>
              </a:rPr>
              <a:t>Thủ tục</a:t>
            </a:r>
            <a:endParaRPr lang="en-US" sz="825" dirty="0"/>
          </a:p>
        </p:txBody>
      </p:sp>
      <p:sp>
        <p:nvSpPr>
          <p:cNvPr id="25" name="Text 23"/>
          <p:cNvSpPr/>
          <p:nvPr/>
        </p:nvSpPr>
        <p:spPr>
          <a:xfrm>
            <a:off x="5980176" y="1563445"/>
            <a:ext cx="1508760" cy="150876"/>
          </a:xfrm>
          <a:prstGeom prst="rect">
            <a:avLst/>
          </a:prstGeom>
          <a:noFill/>
          <a:ln/>
        </p:spPr>
        <p:txBody>
          <a:bodyPr wrap="square" lIns="0" tIns="0" rIns="0" bIns="0" rtlCol="0" anchor="ctr"/>
          <a:lstStyle/>
          <a:p>
            <a:r>
              <a:rPr lang="en-US" sz="825" b="1" dirty="0">
                <a:solidFill>
                  <a:srgbClr val="5F6B7A"/>
                </a:solidFill>
                <a:latin typeface="Segoe UI" pitchFamily="34" charset="0"/>
                <a:ea typeface="Segoe UI" pitchFamily="34" charset="-122"/>
                <a:cs typeface="Segoe UI" pitchFamily="34" charset="-120"/>
              </a:rPr>
              <a:t>Ý tưởng xử lý</a:t>
            </a:r>
            <a:endParaRPr lang="en-US" sz="825" dirty="0"/>
          </a:p>
        </p:txBody>
      </p:sp>
      <p:sp>
        <p:nvSpPr>
          <p:cNvPr id="26" name="Text 24"/>
          <p:cNvSpPr/>
          <p:nvPr/>
        </p:nvSpPr>
        <p:spPr>
          <a:xfrm>
            <a:off x="8195310" y="1563445"/>
            <a:ext cx="466344" cy="150876"/>
          </a:xfrm>
          <a:prstGeom prst="rect">
            <a:avLst/>
          </a:prstGeom>
          <a:noFill/>
          <a:ln/>
        </p:spPr>
        <p:txBody>
          <a:bodyPr wrap="square" lIns="0" tIns="0" rIns="0" bIns="0" rtlCol="0" anchor="ctr"/>
          <a:lstStyle/>
          <a:p>
            <a:pPr algn="r"/>
            <a:r>
              <a:rPr lang="en-US" sz="825" b="1" dirty="0">
                <a:solidFill>
                  <a:srgbClr val="5F6B7A"/>
                </a:solidFill>
                <a:latin typeface="Segoe UI" pitchFamily="34" charset="0"/>
                <a:ea typeface="Segoe UI" pitchFamily="34" charset="-122"/>
                <a:cs typeface="Segoe UI" pitchFamily="34" charset="-120"/>
              </a:rPr>
              <a:t>Big O</a:t>
            </a:r>
            <a:endParaRPr lang="en-US" sz="825" dirty="0"/>
          </a:p>
        </p:txBody>
      </p:sp>
      <p:sp>
        <p:nvSpPr>
          <p:cNvPr id="27" name="Shape 25"/>
          <p:cNvSpPr/>
          <p:nvPr/>
        </p:nvSpPr>
        <p:spPr>
          <a:xfrm>
            <a:off x="4972050" y="2194381"/>
            <a:ext cx="3669030" cy="0"/>
          </a:xfrm>
          <a:prstGeom prst="line">
            <a:avLst/>
          </a:prstGeom>
          <a:noFill/>
          <a:ln w="8890">
            <a:solidFill>
              <a:srgbClr val="CBD5E1">
                <a:alpha val="75000"/>
              </a:srgbClr>
            </a:solidFill>
            <a:prstDash val="solid"/>
          </a:ln>
        </p:spPr>
        <p:txBody>
          <a:bodyPr/>
          <a:lstStyle/>
          <a:p>
            <a:endParaRPr lang="en-US" sz="1350"/>
          </a:p>
        </p:txBody>
      </p:sp>
      <p:sp>
        <p:nvSpPr>
          <p:cNvPr id="28" name="Text 26"/>
          <p:cNvSpPr/>
          <p:nvPr/>
        </p:nvSpPr>
        <p:spPr>
          <a:xfrm>
            <a:off x="4972050" y="1776043"/>
            <a:ext cx="905256" cy="192024"/>
          </a:xfrm>
          <a:prstGeom prst="rect">
            <a:avLst/>
          </a:prstGeom>
          <a:noFill/>
          <a:ln/>
        </p:spPr>
        <p:txBody>
          <a:bodyPr wrap="square" lIns="0" tIns="0" rIns="0" bIns="0" rtlCol="0" anchor="ctr"/>
          <a:lstStyle/>
          <a:p>
            <a:r>
              <a:rPr lang="en-US" sz="938" b="1" dirty="0">
                <a:solidFill>
                  <a:srgbClr val="2563EB"/>
                </a:solidFill>
                <a:latin typeface="Segoe UI" pitchFamily="34" charset="0"/>
                <a:ea typeface="Segoe UI" pitchFamily="34" charset="-122"/>
                <a:cs typeface="Segoe UI" pitchFamily="34" charset="-120"/>
              </a:rPr>
              <a:t>AddHead</a:t>
            </a:r>
            <a:endParaRPr lang="en-US" sz="938" dirty="0"/>
          </a:p>
        </p:txBody>
      </p:sp>
      <p:sp>
        <p:nvSpPr>
          <p:cNvPr id="29" name="Text 27"/>
          <p:cNvSpPr/>
          <p:nvPr/>
        </p:nvSpPr>
        <p:spPr>
          <a:xfrm>
            <a:off x="5959602" y="1776043"/>
            <a:ext cx="1988820" cy="260604"/>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Tạo P; nếu rỗng Head=P, ngược lại P.next=Head rồi Head=P.</a:t>
            </a:r>
            <a:endParaRPr lang="en-US" sz="900" dirty="0"/>
          </a:p>
        </p:txBody>
      </p:sp>
      <p:sp>
        <p:nvSpPr>
          <p:cNvPr id="30" name="Text 28"/>
          <p:cNvSpPr/>
          <p:nvPr/>
        </p:nvSpPr>
        <p:spPr>
          <a:xfrm>
            <a:off x="8078724" y="1776043"/>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O(1)</a:t>
            </a:r>
            <a:endParaRPr lang="en-US" sz="900" dirty="0"/>
          </a:p>
        </p:txBody>
      </p:sp>
      <p:sp>
        <p:nvSpPr>
          <p:cNvPr id="31" name="Shape 29"/>
          <p:cNvSpPr/>
          <p:nvPr/>
        </p:nvSpPr>
        <p:spPr>
          <a:xfrm>
            <a:off x="4972050" y="2701873"/>
            <a:ext cx="3669030" cy="0"/>
          </a:xfrm>
          <a:prstGeom prst="line">
            <a:avLst/>
          </a:prstGeom>
          <a:noFill/>
          <a:ln w="8890">
            <a:solidFill>
              <a:srgbClr val="CBD5E1">
                <a:alpha val="75000"/>
              </a:srgbClr>
            </a:solidFill>
            <a:prstDash val="solid"/>
          </a:ln>
        </p:spPr>
        <p:txBody>
          <a:bodyPr/>
          <a:lstStyle/>
          <a:p>
            <a:endParaRPr lang="en-US" sz="1350"/>
          </a:p>
        </p:txBody>
      </p:sp>
      <p:sp>
        <p:nvSpPr>
          <p:cNvPr id="32" name="Text 30"/>
          <p:cNvSpPr/>
          <p:nvPr/>
        </p:nvSpPr>
        <p:spPr>
          <a:xfrm>
            <a:off x="4972050" y="2283535"/>
            <a:ext cx="905256" cy="192024"/>
          </a:xfrm>
          <a:prstGeom prst="rect">
            <a:avLst/>
          </a:prstGeom>
          <a:noFill/>
          <a:ln/>
        </p:spPr>
        <p:txBody>
          <a:bodyPr wrap="square" lIns="0" tIns="0" rIns="0" bIns="0" rtlCol="0" anchor="ctr"/>
          <a:lstStyle/>
          <a:p>
            <a:r>
              <a:rPr lang="en-US" sz="938" b="1" dirty="0">
                <a:solidFill>
                  <a:srgbClr val="2563EB"/>
                </a:solidFill>
                <a:latin typeface="Segoe UI" pitchFamily="34" charset="0"/>
                <a:ea typeface="Segoe UI" pitchFamily="34" charset="-122"/>
                <a:cs typeface="Segoe UI" pitchFamily="34" charset="-120"/>
              </a:rPr>
              <a:t>AddTail</a:t>
            </a:r>
            <a:endParaRPr lang="en-US" sz="938" dirty="0"/>
          </a:p>
        </p:txBody>
      </p:sp>
      <p:sp>
        <p:nvSpPr>
          <p:cNvPr id="33" name="Text 31"/>
          <p:cNvSpPr/>
          <p:nvPr/>
        </p:nvSpPr>
        <p:spPr>
          <a:xfrm>
            <a:off x="5959602" y="2283535"/>
            <a:ext cx="1988820" cy="260604"/>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Tạo P; nếu rỗng Head=P, nếu không duyệt tới node cuối rồi nối temp.next=P.</a:t>
            </a:r>
            <a:endParaRPr lang="en-US" sz="900" dirty="0"/>
          </a:p>
        </p:txBody>
      </p:sp>
      <p:sp>
        <p:nvSpPr>
          <p:cNvPr id="34" name="Text 32"/>
          <p:cNvSpPr/>
          <p:nvPr/>
        </p:nvSpPr>
        <p:spPr>
          <a:xfrm>
            <a:off x="8078724" y="2283535"/>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O(n)</a:t>
            </a:r>
            <a:endParaRPr lang="en-US" sz="900" dirty="0"/>
          </a:p>
        </p:txBody>
      </p:sp>
      <p:sp>
        <p:nvSpPr>
          <p:cNvPr id="35" name="Shape 33"/>
          <p:cNvSpPr/>
          <p:nvPr/>
        </p:nvSpPr>
        <p:spPr>
          <a:xfrm>
            <a:off x="4972050" y="3209365"/>
            <a:ext cx="3669030" cy="0"/>
          </a:xfrm>
          <a:prstGeom prst="line">
            <a:avLst/>
          </a:prstGeom>
          <a:noFill/>
          <a:ln w="8890">
            <a:solidFill>
              <a:srgbClr val="CBD5E1">
                <a:alpha val="75000"/>
              </a:srgbClr>
            </a:solidFill>
            <a:prstDash val="solid"/>
          </a:ln>
        </p:spPr>
        <p:txBody>
          <a:bodyPr/>
          <a:lstStyle/>
          <a:p>
            <a:endParaRPr lang="en-US" sz="1350"/>
          </a:p>
        </p:txBody>
      </p:sp>
      <p:sp>
        <p:nvSpPr>
          <p:cNvPr id="36" name="Text 34"/>
          <p:cNvSpPr/>
          <p:nvPr/>
        </p:nvSpPr>
        <p:spPr>
          <a:xfrm>
            <a:off x="4972050" y="2791027"/>
            <a:ext cx="905256" cy="192024"/>
          </a:xfrm>
          <a:prstGeom prst="rect">
            <a:avLst/>
          </a:prstGeom>
          <a:noFill/>
          <a:ln/>
        </p:spPr>
        <p:txBody>
          <a:bodyPr wrap="square" lIns="0" tIns="0" rIns="0" bIns="0" rtlCol="0" anchor="ctr"/>
          <a:lstStyle/>
          <a:p>
            <a:r>
              <a:rPr lang="en-US" sz="938" b="1" dirty="0">
                <a:solidFill>
                  <a:srgbClr val="2563EB"/>
                </a:solidFill>
                <a:latin typeface="Segoe UI" pitchFamily="34" charset="0"/>
                <a:ea typeface="Segoe UI" pitchFamily="34" charset="-122"/>
                <a:cs typeface="Segoe UI" pitchFamily="34" charset="-120"/>
              </a:rPr>
              <a:t>AddAfterQ</a:t>
            </a:r>
            <a:endParaRPr lang="en-US" sz="938" dirty="0"/>
          </a:p>
        </p:txBody>
      </p:sp>
      <p:sp>
        <p:nvSpPr>
          <p:cNvPr id="37" name="Text 35"/>
          <p:cNvSpPr/>
          <p:nvPr/>
        </p:nvSpPr>
        <p:spPr>
          <a:xfrm>
            <a:off x="5959602" y="2791027"/>
            <a:ext cx="1988820" cy="260604"/>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Duyệt tìm Q; nếu tìm thấy thì P.next=Q.next và Q.next=P.</a:t>
            </a:r>
            <a:endParaRPr lang="en-US" sz="900" dirty="0"/>
          </a:p>
        </p:txBody>
      </p:sp>
      <p:sp>
        <p:nvSpPr>
          <p:cNvPr id="38" name="Text 36"/>
          <p:cNvSpPr/>
          <p:nvPr/>
        </p:nvSpPr>
        <p:spPr>
          <a:xfrm>
            <a:off x="8078724" y="2791027"/>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O(n)</a:t>
            </a:r>
            <a:endParaRPr lang="en-US" sz="900" dirty="0"/>
          </a:p>
        </p:txBody>
      </p:sp>
      <p:sp>
        <p:nvSpPr>
          <p:cNvPr id="39" name="Shape 37"/>
          <p:cNvSpPr/>
          <p:nvPr/>
        </p:nvSpPr>
        <p:spPr>
          <a:xfrm>
            <a:off x="4972050" y="3716857"/>
            <a:ext cx="3669030" cy="0"/>
          </a:xfrm>
          <a:prstGeom prst="line">
            <a:avLst/>
          </a:prstGeom>
          <a:noFill/>
          <a:ln w="8890">
            <a:solidFill>
              <a:srgbClr val="CBD5E1">
                <a:alpha val="75000"/>
              </a:srgbClr>
            </a:solidFill>
            <a:prstDash val="solid"/>
          </a:ln>
        </p:spPr>
        <p:txBody>
          <a:bodyPr/>
          <a:lstStyle/>
          <a:p>
            <a:endParaRPr lang="en-US" sz="1350"/>
          </a:p>
        </p:txBody>
      </p:sp>
      <p:sp>
        <p:nvSpPr>
          <p:cNvPr id="40" name="Text 38"/>
          <p:cNvSpPr/>
          <p:nvPr/>
        </p:nvSpPr>
        <p:spPr>
          <a:xfrm>
            <a:off x="4972050" y="3298519"/>
            <a:ext cx="905256" cy="192024"/>
          </a:xfrm>
          <a:prstGeom prst="rect">
            <a:avLst/>
          </a:prstGeom>
          <a:noFill/>
          <a:ln/>
        </p:spPr>
        <p:txBody>
          <a:bodyPr wrap="square" lIns="0" tIns="0" rIns="0" bIns="0" rtlCol="0" anchor="ctr"/>
          <a:lstStyle/>
          <a:p>
            <a:r>
              <a:rPr lang="en-US" sz="938" b="1" dirty="0">
                <a:solidFill>
                  <a:srgbClr val="2563EB"/>
                </a:solidFill>
                <a:latin typeface="Segoe UI" pitchFamily="34" charset="0"/>
                <a:ea typeface="Segoe UI" pitchFamily="34" charset="-122"/>
                <a:cs typeface="Segoe UI" pitchFamily="34" charset="-120"/>
              </a:rPr>
              <a:t>Duyệt</a:t>
            </a:r>
            <a:endParaRPr lang="en-US" sz="938" dirty="0"/>
          </a:p>
        </p:txBody>
      </p:sp>
      <p:sp>
        <p:nvSpPr>
          <p:cNvPr id="41" name="Text 39"/>
          <p:cNvSpPr/>
          <p:nvPr/>
        </p:nvSpPr>
        <p:spPr>
          <a:xfrm>
            <a:off x="5959602" y="3298519"/>
            <a:ext cx="1988820" cy="260604"/>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Bắt đầu từ Head, xử lý từng node và di chuyển temp=temp.next đến NULL.</a:t>
            </a:r>
            <a:endParaRPr lang="en-US" sz="900" dirty="0"/>
          </a:p>
        </p:txBody>
      </p:sp>
      <p:sp>
        <p:nvSpPr>
          <p:cNvPr id="42" name="Text 40"/>
          <p:cNvSpPr/>
          <p:nvPr/>
        </p:nvSpPr>
        <p:spPr>
          <a:xfrm>
            <a:off x="8078724" y="3298519"/>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O(n)</a:t>
            </a:r>
            <a:endParaRPr lang="en-US" sz="900" dirty="0"/>
          </a:p>
        </p:txBody>
      </p:sp>
      <p:sp>
        <p:nvSpPr>
          <p:cNvPr id="43" name="Shape 41"/>
          <p:cNvSpPr/>
          <p:nvPr/>
        </p:nvSpPr>
        <p:spPr>
          <a:xfrm>
            <a:off x="4972050" y="4224349"/>
            <a:ext cx="3669030" cy="0"/>
          </a:xfrm>
          <a:prstGeom prst="line">
            <a:avLst/>
          </a:prstGeom>
          <a:noFill/>
          <a:ln w="8890">
            <a:solidFill>
              <a:srgbClr val="CBD5E1">
                <a:alpha val="75000"/>
              </a:srgbClr>
            </a:solidFill>
            <a:prstDash val="solid"/>
          </a:ln>
        </p:spPr>
        <p:txBody>
          <a:bodyPr/>
          <a:lstStyle/>
          <a:p>
            <a:endParaRPr lang="en-US" sz="1350"/>
          </a:p>
        </p:txBody>
      </p:sp>
      <p:sp>
        <p:nvSpPr>
          <p:cNvPr id="44" name="Text 42"/>
          <p:cNvSpPr/>
          <p:nvPr/>
        </p:nvSpPr>
        <p:spPr>
          <a:xfrm>
            <a:off x="4972050" y="3806011"/>
            <a:ext cx="905256" cy="192024"/>
          </a:xfrm>
          <a:prstGeom prst="rect">
            <a:avLst/>
          </a:prstGeom>
          <a:noFill/>
          <a:ln/>
        </p:spPr>
        <p:txBody>
          <a:bodyPr wrap="square" lIns="0" tIns="0" rIns="0" bIns="0" rtlCol="0" anchor="ctr"/>
          <a:lstStyle/>
          <a:p>
            <a:r>
              <a:rPr lang="en-US" sz="938" b="1" dirty="0">
                <a:solidFill>
                  <a:srgbClr val="2563EB"/>
                </a:solidFill>
                <a:latin typeface="Segoe UI" pitchFamily="34" charset="0"/>
                <a:ea typeface="Segoe UI" pitchFamily="34" charset="-122"/>
                <a:cs typeface="Segoe UI" pitchFamily="34" charset="-120"/>
              </a:rPr>
              <a:t>DeleteHead</a:t>
            </a:r>
            <a:endParaRPr lang="en-US" sz="938" dirty="0"/>
          </a:p>
        </p:txBody>
      </p:sp>
      <p:sp>
        <p:nvSpPr>
          <p:cNvPr id="45" name="Text 43"/>
          <p:cNvSpPr/>
          <p:nvPr/>
        </p:nvSpPr>
        <p:spPr>
          <a:xfrm>
            <a:off x="5959602" y="3806011"/>
            <a:ext cx="1988820" cy="260604"/>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Nếu danh sách không rỗng: lưu Head cũ, cập nhật Head=Head.next, giải phóng node cũ.</a:t>
            </a:r>
            <a:endParaRPr lang="en-US" sz="900" dirty="0"/>
          </a:p>
        </p:txBody>
      </p:sp>
      <p:sp>
        <p:nvSpPr>
          <p:cNvPr id="46" name="Text 44"/>
          <p:cNvSpPr/>
          <p:nvPr/>
        </p:nvSpPr>
        <p:spPr>
          <a:xfrm>
            <a:off x="8078724" y="3806011"/>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O(1)</a:t>
            </a:r>
            <a:endParaRPr lang="en-US" sz="900" dirty="0"/>
          </a:p>
        </p:txBody>
      </p:sp>
      <p:sp>
        <p:nvSpPr>
          <p:cNvPr id="47" name="Shape 45"/>
          <p:cNvSpPr/>
          <p:nvPr/>
        </p:nvSpPr>
        <p:spPr>
          <a:xfrm>
            <a:off x="445770" y="3943171"/>
            <a:ext cx="4080510" cy="603504"/>
          </a:xfrm>
          <a:prstGeom prst="roundRect">
            <a:avLst>
              <a:gd name="adj" fmla="val 9091"/>
            </a:avLst>
          </a:prstGeom>
          <a:solidFill>
            <a:srgbClr val="DBEAFE"/>
          </a:solidFill>
          <a:ln w="12700">
            <a:solidFill>
              <a:srgbClr val="DBEAFE"/>
            </a:solidFill>
            <a:prstDash val="solid"/>
          </a:ln>
        </p:spPr>
        <p:txBody>
          <a:bodyPr/>
          <a:lstStyle/>
          <a:p>
            <a:endParaRPr lang="en-US" sz="1350"/>
          </a:p>
        </p:txBody>
      </p:sp>
      <p:sp>
        <p:nvSpPr>
          <p:cNvPr id="48" name="Text 46"/>
          <p:cNvSpPr/>
          <p:nvPr/>
        </p:nvSpPr>
        <p:spPr>
          <a:xfrm>
            <a:off x="617220" y="4087189"/>
            <a:ext cx="3717036" cy="246888"/>
          </a:xfrm>
          <a:prstGeom prst="rect">
            <a:avLst/>
          </a:prstGeom>
          <a:noFill/>
          <a:ln/>
        </p:spPr>
        <p:txBody>
          <a:bodyPr wrap="square" lIns="0" tIns="0" rIns="0" bIns="0" rtlCol="0" anchor="ctr">
            <a:normAutofit fontScale="92500" lnSpcReduction="10000"/>
          </a:bodyPr>
          <a:lstStyle/>
          <a:p>
            <a:r>
              <a:rPr lang="en-US" sz="990" b="1" dirty="0">
                <a:solidFill>
                  <a:srgbClr val="1E2A36"/>
                </a:solidFill>
                <a:latin typeface="Segoe UI" pitchFamily="34" charset="0"/>
                <a:ea typeface="Segoe UI" pitchFamily="34" charset="-122"/>
                <a:cs typeface="Segoe UI" pitchFamily="34" charset="-120"/>
              </a:rPr>
              <a:t>Ghi nhớ: AddHead/DeleteHead nhanh vì thao tác trực tiếp tại Head; AddTail/AddAfterQ cần tìm vị trí nên phụ thuộc số node.</a:t>
            </a:r>
            <a:endParaRPr lang="en-US" sz="990" dirty="0"/>
          </a:p>
        </p:txBody>
      </p:sp>
      <p:sp>
        <p:nvSpPr>
          <p:cNvPr id="50" name="Shape 0">
            <a:extLst>
              <a:ext uri="{FF2B5EF4-FFF2-40B4-BE49-F238E27FC236}">
                <a16:creationId xmlns:a16="http://schemas.microsoft.com/office/drawing/2014/main" id="{27B40E85-57E5-B67B-10DC-877B1AA2A157}"/>
              </a:ext>
            </a:extLst>
          </p:cNvPr>
          <p:cNvSpPr/>
          <p:nvPr/>
        </p:nvSpPr>
        <p:spPr>
          <a:xfrm>
            <a:off x="0" y="0"/>
            <a:ext cx="9144000" cy="502920"/>
          </a:xfrm>
          <a:prstGeom prst="rect">
            <a:avLst/>
          </a:prstGeom>
          <a:solidFill>
            <a:srgbClr val="0891B2"/>
          </a:solidFill>
          <a:ln w="12700">
            <a:solidFill>
              <a:srgbClr val="0891B2"/>
            </a:solidFill>
            <a:prstDash val="solid"/>
          </a:ln>
        </p:spPr>
        <p:txBody>
          <a:bodyPr/>
          <a:lstStyle/>
          <a:p>
            <a:endParaRPr lang="en-US"/>
          </a:p>
        </p:txBody>
      </p:sp>
      <p:sp>
        <p:nvSpPr>
          <p:cNvPr id="51" name="Text 1">
            <a:extLst>
              <a:ext uri="{FF2B5EF4-FFF2-40B4-BE49-F238E27FC236}">
                <a16:creationId xmlns:a16="http://schemas.microsoft.com/office/drawing/2014/main" id="{C4EC2FAD-4C37-E56C-E715-088B83191DAB}"/>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2 — CƠ SỞ LÝ THUYẾT</a:t>
            </a:r>
            <a:endParaRPr lang="en-US" sz="1100" dirty="0"/>
          </a:p>
        </p:txBody>
      </p:sp>
      <p:sp>
        <p:nvSpPr>
          <p:cNvPr id="52" name="Text 2">
            <a:extLst>
              <a:ext uri="{FF2B5EF4-FFF2-40B4-BE49-F238E27FC236}">
                <a16:creationId xmlns:a16="http://schemas.microsoft.com/office/drawing/2014/main" id="{CAFDF4FE-6982-9D24-ABD9-BDCC59EF634D}"/>
              </a:ext>
            </a:extLst>
          </p:cNvPr>
          <p:cNvSpPr/>
          <p:nvPr/>
        </p:nvSpPr>
        <p:spPr>
          <a:xfrm>
            <a:off x="320040" y="508700"/>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Danh sách liên kết đơn (Singly Linked List)</a:t>
            </a:r>
            <a:endParaRPr lang="en-US" sz="3000" dirty="0"/>
          </a:p>
        </p:txBody>
      </p:sp>
      <p:sp>
        <p:nvSpPr>
          <p:cNvPr id="53" name="Shape 3">
            <a:extLst>
              <a:ext uri="{FF2B5EF4-FFF2-40B4-BE49-F238E27FC236}">
                <a16:creationId xmlns:a16="http://schemas.microsoft.com/office/drawing/2014/main" id="{61F9BF6B-B3A3-A83F-79EE-4A7B4CB0A046}"/>
              </a:ext>
            </a:extLst>
          </p:cNvPr>
          <p:cNvSpPr/>
          <p:nvPr/>
        </p:nvSpPr>
        <p:spPr>
          <a:xfrm>
            <a:off x="358813" y="1068166"/>
            <a:ext cx="8503920" cy="32004"/>
          </a:xfrm>
          <a:prstGeom prst="rect">
            <a:avLst/>
          </a:prstGeom>
          <a:solidFill>
            <a:srgbClr val="0891B2"/>
          </a:solidFill>
          <a:ln w="12700">
            <a:solidFill>
              <a:srgbClr val="0891B2"/>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287329-9F99-A63C-DC86-4D147E01A2E9}"/>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144297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6"/>
          <p:cNvSpPr/>
          <p:nvPr/>
        </p:nvSpPr>
        <p:spPr>
          <a:xfrm>
            <a:off x="445770" y="1217316"/>
            <a:ext cx="1508760" cy="171450"/>
          </a:xfrm>
          <a:prstGeom prst="rect">
            <a:avLst/>
          </a:prstGeom>
          <a:noFill/>
          <a:ln/>
        </p:spPr>
        <p:txBody>
          <a:bodyPr wrap="square" lIns="0" tIns="0" rIns="0" bIns="0" rtlCol="0" anchor="ctr"/>
          <a:lstStyle/>
          <a:p>
            <a:r>
              <a:rPr lang="en-US" sz="1013" b="1" dirty="0">
                <a:solidFill>
                  <a:schemeClr val="accent1"/>
                </a:solidFill>
                <a:latin typeface="Segoe UI" pitchFamily="34" charset="0"/>
                <a:ea typeface="Segoe UI" pitchFamily="34" charset="-122"/>
                <a:cs typeface="Segoe UI" pitchFamily="34" charset="-120"/>
              </a:rPr>
              <a:t>Quy tắc cấu trúc</a:t>
            </a:r>
            <a:endParaRPr lang="en-US" sz="1013" dirty="0">
              <a:solidFill>
                <a:schemeClr val="accent1"/>
              </a:solidFill>
            </a:endParaRPr>
          </a:p>
        </p:txBody>
      </p:sp>
      <p:sp>
        <p:nvSpPr>
          <p:cNvPr id="9" name="Text 7"/>
          <p:cNvSpPr/>
          <p:nvPr/>
        </p:nvSpPr>
        <p:spPr>
          <a:xfrm>
            <a:off x="445770" y="1450488"/>
            <a:ext cx="3634740" cy="397764"/>
          </a:xfrm>
          <a:prstGeom prst="rect">
            <a:avLst/>
          </a:prstGeom>
          <a:noFill/>
          <a:ln/>
        </p:spPr>
        <p:txBody>
          <a:bodyPr wrap="square" lIns="191" tIns="191" rIns="191" bIns="191" rtlCol="0" anchor="ctr">
            <a:normAutofit/>
          </a:bodyPr>
          <a:lstStyle/>
          <a:p>
            <a:r>
              <a:rPr lang="en-US" sz="1050" dirty="0">
                <a:solidFill>
                  <a:srgbClr val="5F6B7A"/>
                </a:solidFill>
                <a:latin typeface="Segoe UI" pitchFamily="34" charset="0"/>
                <a:ea typeface="Segoe UI" pitchFamily="34" charset="-122"/>
                <a:cs typeface="Segoe UI" pitchFamily="34" charset="-120"/>
              </a:rPr>
              <a:t>Mỗi node có tối đa 2 con: left và right. So sánh giá trị quyết định hướng đi trong cây.</a:t>
            </a:r>
            <a:endParaRPr lang="en-US" sz="1050" dirty="0"/>
          </a:p>
        </p:txBody>
      </p:sp>
      <p:sp>
        <p:nvSpPr>
          <p:cNvPr id="10" name="Shape 8"/>
          <p:cNvSpPr/>
          <p:nvPr/>
        </p:nvSpPr>
        <p:spPr>
          <a:xfrm>
            <a:off x="2318004" y="197169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1" name="Text 9"/>
          <p:cNvSpPr/>
          <p:nvPr/>
        </p:nvSpPr>
        <p:spPr>
          <a:xfrm>
            <a:off x="2318004" y="207113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50</a:t>
            </a:r>
            <a:endParaRPr lang="en-US" sz="938" dirty="0"/>
          </a:p>
        </p:txBody>
      </p:sp>
      <p:sp>
        <p:nvSpPr>
          <p:cNvPr id="12" name="Text 10"/>
          <p:cNvSpPr/>
          <p:nvPr/>
        </p:nvSpPr>
        <p:spPr>
          <a:xfrm>
            <a:off x="1844802" y="2396892"/>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13" name="Text 11"/>
          <p:cNvSpPr/>
          <p:nvPr/>
        </p:nvSpPr>
        <p:spPr>
          <a:xfrm>
            <a:off x="2839212" y="2396892"/>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14" name="Shape 12"/>
          <p:cNvSpPr/>
          <p:nvPr/>
        </p:nvSpPr>
        <p:spPr>
          <a:xfrm>
            <a:off x="1371600" y="265749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5" name="Text 13"/>
          <p:cNvSpPr/>
          <p:nvPr/>
        </p:nvSpPr>
        <p:spPr>
          <a:xfrm>
            <a:off x="1371600" y="275693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30</a:t>
            </a:r>
            <a:endParaRPr lang="en-US" sz="938" dirty="0"/>
          </a:p>
        </p:txBody>
      </p:sp>
      <p:sp>
        <p:nvSpPr>
          <p:cNvPr id="16" name="Shape 14"/>
          <p:cNvSpPr/>
          <p:nvPr/>
        </p:nvSpPr>
        <p:spPr>
          <a:xfrm>
            <a:off x="3305556" y="265749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17" name="Text 15"/>
          <p:cNvSpPr/>
          <p:nvPr/>
        </p:nvSpPr>
        <p:spPr>
          <a:xfrm>
            <a:off x="3305556" y="275693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70</a:t>
            </a:r>
            <a:endParaRPr lang="en-US" sz="938" dirty="0"/>
          </a:p>
        </p:txBody>
      </p:sp>
      <p:sp>
        <p:nvSpPr>
          <p:cNvPr id="18" name="Text 16"/>
          <p:cNvSpPr/>
          <p:nvPr/>
        </p:nvSpPr>
        <p:spPr>
          <a:xfrm>
            <a:off x="1014984" y="3065547"/>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19" name="Text 17"/>
          <p:cNvSpPr/>
          <p:nvPr/>
        </p:nvSpPr>
        <p:spPr>
          <a:xfrm>
            <a:off x="1762506" y="3065547"/>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20" name="Text 18"/>
          <p:cNvSpPr/>
          <p:nvPr/>
        </p:nvSpPr>
        <p:spPr>
          <a:xfrm>
            <a:off x="2948940" y="3065547"/>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21" name="Text 19"/>
          <p:cNvSpPr/>
          <p:nvPr/>
        </p:nvSpPr>
        <p:spPr>
          <a:xfrm>
            <a:off x="3696462" y="3065547"/>
            <a:ext cx="233172" cy="233172"/>
          </a:xfrm>
          <a:prstGeom prst="rect">
            <a:avLst/>
          </a:prstGeom>
          <a:noFill/>
          <a:ln/>
        </p:spPr>
        <p:txBody>
          <a:bodyPr wrap="square" lIns="0" tIns="0" rIns="0" bIns="0" rtlCol="0" anchor="ctr"/>
          <a:lstStyle/>
          <a:p>
            <a:pPr algn="ctr"/>
            <a:r>
              <a:rPr lang="en-US" sz="1875" b="1" dirty="0">
                <a:solidFill>
                  <a:schemeClr val="accent1"/>
                </a:solidFill>
                <a:latin typeface="Consolas" pitchFamily="34" charset="0"/>
                <a:ea typeface="Consolas" pitchFamily="34" charset="-122"/>
                <a:cs typeface="Consolas" pitchFamily="34" charset="-120"/>
              </a:rPr>
              <a:t>╲</a:t>
            </a:r>
            <a:endParaRPr lang="en-US" sz="1875" dirty="0">
              <a:solidFill>
                <a:schemeClr val="accent1"/>
              </a:solidFill>
            </a:endParaRPr>
          </a:p>
        </p:txBody>
      </p:sp>
      <p:sp>
        <p:nvSpPr>
          <p:cNvPr id="22" name="Shape 20"/>
          <p:cNvSpPr/>
          <p:nvPr/>
        </p:nvSpPr>
        <p:spPr>
          <a:xfrm>
            <a:off x="672084" y="330900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23" name="Text 21"/>
          <p:cNvSpPr/>
          <p:nvPr/>
        </p:nvSpPr>
        <p:spPr>
          <a:xfrm>
            <a:off x="672084" y="340844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20</a:t>
            </a:r>
            <a:endParaRPr lang="en-US" sz="938" dirty="0"/>
          </a:p>
        </p:txBody>
      </p:sp>
      <p:sp>
        <p:nvSpPr>
          <p:cNvPr id="24" name="Shape 22"/>
          <p:cNvSpPr/>
          <p:nvPr/>
        </p:nvSpPr>
        <p:spPr>
          <a:xfrm>
            <a:off x="2043684" y="330900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25" name="Text 23"/>
          <p:cNvSpPr/>
          <p:nvPr/>
        </p:nvSpPr>
        <p:spPr>
          <a:xfrm>
            <a:off x="2043684" y="340844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40</a:t>
            </a:r>
            <a:endParaRPr lang="en-US" sz="938" dirty="0"/>
          </a:p>
        </p:txBody>
      </p:sp>
      <p:sp>
        <p:nvSpPr>
          <p:cNvPr id="26" name="Shape 24"/>
          <p:cNvSpPr/>
          <p:nvPr/>
        </p:nvSpPr>
        <p:spPr>
          <a:xfrm>
            <a:off x="2729484" y="330900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27" name="Text 25"/>
          <p:cNvSpPr/>
          <p:nvPr/>
        </p:nvSpPr>
        <p:spPr>
          <a:xfrm>
            <a:off x="2729484" y="340844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60</a:t>
            </a:r>
            <a:endParaRPr lang="en-US" sz="938" dirty="0"/>
          </a:p>
        </p:txBody>
      </p:sp>
      <p:sp>
        <p:nvSpPr>
          <p:cNvPr id="28" name="Shape 26"/>
          <p:cNvSpPr/>
          <p:nvPr/>
        </p:nvSpPr>
        <p:spPr>
          <a:xfrm>
            <a:off x="3991356" y="3309006"/>
            <a:ext cx="397764" cy="397764"/>
          </a:xfrm>
          <a:prstGeom prst="ellipse">
            <a:avLst/>
          </a:prstGeom>
          <a:solidFill>
            <a:srgbClr val="2563EB"/>
          </a:solidFill>
          <a:ln w="15240">
            <a:solidFill>
              <a:srgbClr val="FFFFFF"/>
            </a:solidFill>
            <a:prstDash val="solid"/>
          </a:ln>
          <a:effectLst>
            <a:outerShdw blurRad="12700" dist="50800" dir="2700000" algn="bl" rotWithShape="0">
              <a:srgbClr val="000000">
                <a:alpha val="13000"/>
              </a:srgbClr>
            </a:outerShdw>
          </a:effectLst>
        </p:spPr>
        <p:txBody>
          <a:bodyPr/>
          <a:lstStyle/>
          <a:p>
            <a:endParaRPr lang="en-US" sz="1350"/>
          </a:p>
        </p:txBody>
      </p:sp>
      <p:sp>
        <p:nvSpPr>
          <p:cNvPr id="29" name="Text 27"/>
          <p:cNvSpPr/>
          <p:nvPr/>
        </p:nvSpPr>
        <p:spPr>
          <a:xfrm>
            <a:off x="3991356" y="3408448"/>
            <a:ext cx="397764" cy="139217"/>
          </a:xfrm>
          <a:prstGeom prst="rect">
            <a:avLst/>
          </a:prstGeom>
          <a:noFill/>
          <a:ln/>
        </p:spPr>
        <p:txBody>
          <a:bodyPr wrap="square" lIns="0" tIns="0" rIns="0" bIns="0" rtlCol="0" anchor="ctr">
            <a:normAutofit lnSpcReduction="10000"/>
          </a:bodyPr>
          <a:lstStyle/>
          <a:p>
            <a:pPr algn="ctr"/>
            <a:r>
              <a:rPr lang="en-US" sz="938" b="1" dirty="0">
                <a:solidFill>
                  <a:srgbClr val="FFFFFF"/>
                </a:solidFill>
                <a:latin typeface="Segoe UI" pitchFamily="34" charset="0"/>
                <a:ea typeface="Segoe UI" pitchFamily="34" charset="-122"/>
                <a:cs typeface="Segoe UI" pitchFamily="34" charset="-120"/>
              </a:rPr>
              <a:t>80</a:t>
            </a:r>
            <a:endParaRPr lang="en-US" sz="938" dirty="0"/>
          </a:p>
        </p:txBody>
      </p:sp>
      <p:sp>
        <p:nvSpPr>
          <p:cNvPr id="30" name="Text 28"/>
          <p:cNvSpPr/>
          <p:nvPr/>
        </p:nvSpPr>
        <p:spPr>
          <a:xfrm>
            <a:off x="1577340" y="3912510"/>
            <a:ext cx="1851660" cy="192024"/>
          </a:xfrm>
          <a:prstGeom prst="rect">
            <a:avLst/>
          </a:prstGeom>
          <a:noFill/>
          <a:ln/>
        </p:spPr>
        <p:txBody>
          <a:bodyPr wrap="square" lIns="0" tIns="0" rIns="0" bIns="0" rtlCol="0" anchor="ctr"/>
          <a:lstStyle/>
          <a:p>
            <a:pPr algn="ctr"/>
            <a:r>
              <a:rPr lang="en-US" sz="1163" b="1" dirty="0">
                <a:solidFill>
                  <a:schemeClr val="accent1"/>
                </a:solidFill>
                <a:latin typeface="Segoe UI" pitchFamily="34" charset="0"/>
                <a:ea typeface="Segoe UI" pitchFamily="34" charset="-122"/>
                <a:cs typeface="Segoe UI" pitchFamily="34" charset="-120"/>
              </a:rPr>
              <a:t>Trái &lt; Gốc &lt; Phải</a:t>
            </a:r>
            <a:endParaRPr lang="en-US" sz="1163" dirty="0">
              <a:solidFill>
                <a:schemeClr val="accent1"/>
              </a:solidFill>
            </a:endParaRPr>
          </a:p>
        </p:txBody>
      </p:sp>
      <p:sp>
        <p:nvSpPr>
          <p:cNvPr id="31" name="Shape 29"/>
          <p:cNvSpPr/>
          <p:nvPr/>
        </p:nvSpPr>
        <p:spPr>
          <a:xfrm>
            <a:off x="4766310" y="1217316"/>
            <a:ext cx="0" cy="3394710"/>
          </a:xfrm>
          <a:prstGeom prst="line">
            <a:avLst/>
          </a:prstGeom>
          <a:noFill/>
          <a:ln w="13970">
            <a:solidFill>
              <a:srgbClr val="CBD5E1"/>
            </a:solidFill>
            <a:prstDash val="solid"/>
          </a:ln>
        </p:spPr>
        <p:txBody>
          <a:bodyPr/>
          <a:lstStyle/>
          <a:p>
            <a:endParaRPr lang="en-US" sz="1350"/>
          </a:p>
        </p:txBody>
      </p:sp>
      <p:sp>
        <p:nvSpPr>
          <p:cNvPr id="32" name="Text 30"/>
          <p:cNvSpPr/>
          <p:nvPr/>
        </p:nvSpPr>
        <p:spPr>
          <a:xfrm>
            <a:off x="4972050" y="1217316"/>
            <a:ext cx="1988820" cy="171450"/>
          </a:xfrm>
          <a:prstGeom prst="rect">
            <a:avLst/>
          </a:prstGeom>
          <a:noFill/>
          <a:ln/>
        </p:spPr>
        <p:txBody>
          <a:bodyPr wrap="square" lIns="0" tIns="0" rIns="0" bIns="0" rtlCol="0" anchor="ctr"/>
          <a:lstStyle/>
          <a:p>
            <a:r>
              <a:rPr lang="en-US" sz="1013" b="1" dirty="0">
                <a:solidFill>
                  <a:schemeClr val="accent1"/>
                </a:solidFill>
                <a:latin typeface="Segoe UI" pitchFamily="34" charset="0"/>
                <a:ea typeface="Segoe UI" pitchFamily="34" charset="-122"/>
                <a:cs typeface="Segoe UI" pitchFamily="34" charset="-120"/>
              </a:rPr>
              <a:t>Các thủ tục của BST</a:t>
            </a:r>
            <a:endParaRPr lang="en-US" sz="1013" dirty="0">
              <a:solidFill>
                <a:schemeClr val="accent1"/>
              </a:solidFill>
            </a:endParaRPr>
          </a:p>
        </p:txBody>
      </p:sp>
      <p:sp>
        <p:nvSpPr>
          <p:cNvPr id="33" name="Text 31"/>
          <p:cNvSpPr/>
          <p:nvPr/>
        </p:nvSpPr>
        <p:spPr>
          <a:xfrm>
            <a:off x="4972050" y="1464204"/>
            <a:ext cx="822960" cy="150876"/>
          </a:xfrm>
          <a:prstGeom prst="rect">
            <a:avLst/>
          </a:prstGeom>
          <a:noFill/>
          <a:ln/>
        </p:spPr>
        <p:txBody>
          <a:bodyPr wrap="square" lIns="0" tIns="0" rIns="0" bIns="0" rtlCol="0" anchor="ctr"/>
          <a:lstStyle/>
          <a:p>
            <a:r>
              <a:rPr lang="en-US" sz="825" b="1" dirty="0">
                <a:solidFill>
                  <a:srgbClr val="5F6B7A"/>
                </a:solidFill>
                <a:latin typeface="Segoe UI" pitchFamily="34" charset="0"/>
                <a:ea typeface="Segoe UI" pitchFamily="34" charset="-122"/>
                <a:cs typeface="Segoe UI" pitchFamily="34" charset="-120"/>
              </a:rPr>
              <a:t>Thủ tục</a:t>
            </a:r>
            <a:endParaRPr lang="en-US" sz="825" dirty="0"/>
          </a:p>
        </p:txBody>
      </p:sp>
      <p:sp>
        <p:nvSpPr>
          <p:cNvPr id="34" name="Text 32"/>
          <p:cNvSpPr/>
          <p:nvPr/>
        </p:nvSpPr>
        <p:spPr>
          <a:xfrm>
            <a:off x="5980176" y="1464204"/>
            <a:ext cx="1508760" cy="150876"/>
          </a:xfrm>
          <a:prstGeom prst="rect">
            <a:avLst/>
          </a:prstGeom>
          <a:noFill/>
          <a:ln/>
        </p:spPr>
        <p:txBody>
          <a:bodyPr wrap="square" lIns="0" tIns="0" rIns="0" bIns="0" rtlCol="0" anchor="ctr"/>
          <a:lstStyle/>
          <a:p>
            <a:r>
              <a:rPr lang="en-US" sz="825" b="1" dirty="0">
                <a:solidFill>
                  <a:srgbClr val="5F6B7A"/>
                </a:solidFill>
                <a:latin typeface="Segoe UI" pitchFamily="34" charset="0"/>
                <a:ea typeface="Segoe UI" pitchFamily="34" charset="-122"/>
                <a:cs typeface="Segoe UI" pitchFamily="34" charset="-120"/>
              </a:rPr>
              <a:t>Ý tưởng xử lý</a:t>
            </a:r>
            <a:endParaRPr lang="en-US" sz="825" dirty="0"/>
          </a:p>
        </p:txBody>
      </p:sp>
      <p:sp>
        <p:nvSpPr>
          <p:cNvPr id="35" name="Text 33"/>
          <p:cNvSpPr/>
          <p:nvPr/>
        </p:nvSpPr>
        <p:spPr>
          <a:xfrm>
            <a:off x="8023860" y="1464204"/>
            <a:ext cx="651510" cy="150876"/>
          </a:xfrm>
          <a:prstGeom prst="rect">
            <a:avLst/>
          </a:prstGeom>
          <a:noFill/>
          <a:ln/>
        </p:spPr>
        <p:txBody>
          <a:bodyPr wrap="square" lIns="0" tIns="0" rIns="0" bIns="0" rtlCol="0" anchor="ctr"/>
          <a:lstStyle/>
          <a:p>
            <a:pPr algn="r"/>
            <a:r>
              <a:rPr lang="en-US" sz="825" b="1" dirty="0">
                <a:solidFill>
                  <a:srgbClr val="5F6B7A"/>
                </a:solidFill>
                <a:latin typeface="Segoe UI" pitchFamily="34" charset="0"/>
                <a:ea typeface="Segoe UI" pitchFamily="34" charset="-122"/>
                <a:cs typeface="Segoe UI" pitchFamily="34" charset="-120"/>
              </a:rPr>
              <a:t>Big O</a:t>
            </a:r>
            <a:endParaRPr lang="en-US" sz="825" dirty="0"/>
          </a:p>
        </p:txBody>
      </p:sp>
      <p:sp>
        <p:nvSpPr>
          <p:cNvPr id="36" name="Shape 34"/>
          <p:cNvSpPr/>
          <p:nvPr/>
        </p:nvSpPr>
        <p:spPr>
          <a:xfrm>
            <a:off x="4972050" y="2095140"/>
            <a:ext cx="3669030" cy="0"/>
          </a:xfrm>
          <a:prstGeom prst="line">
            <a:avLst/>
          </a:prstGeom>
          <a:noFill/>
          <a:ln w="8890">
            <a:solidFill>
              <a:srgbClr val="CBD5E1">
                <a:alpha val="75000"/>
              </a:srgbClr>
            </a:solidFill>
            <a:prstDash val="solid"/>
          </a:ln>
        </p:spPr>
        <p:txBody>
          <a:bodyPr/>
          <a:lstStyle/>
          <a:p>
            <a:endParaRPr lang="en-US" sz="1350"/>
          </a:p>
        </p:txBody>
      </p:sp>
      <p:sp>
        <p:nvSpPr>
          <p:cNvPr id="37" name="Text 35"/>
          <p:cNvSpPr/>
          <p:nvPr/>
        </p:nvSpPr>
        <p:spPr>
          <a:xfrm>
            <a:off x="4972050" y="1676802"/>
            <a:ext cx="905256" cy="192024"/>
          </a:xfrm>
          <a:prstGeom prst="rect">
            <a:avLst/>
          </a:prstGeom>
          <a:noFill/>
          <a:ln/>
        </p:spPr>
        <p:txBody>
          <a:bodyPr wrap="square" lIns="0" tIns="0" rIns="0" bIns="0" rtlCol="0" anchor="ctr">
            <a:normAutofit/>
          </a:bodyPr>
          <a:lstStyle/>
          <a:p>
            <a:r>
              <a:rPr lang="en-US" sz="938" b="1" dirty="0">
                <a:solidFill>
                  <a:schemeClr val="accent1"/>
                </a:solidFill>
                <a:latin typeface="Segoe UI" pitchFamily="34" charset="0"/>
                <a:ea typeface="Segoe UI" pitchFamily="34" charset="-122"/>
                <a:cs typeface="Segoe UI" pitchFamily="34" charset="-120"/>
              </a:rPr>
              <a:t>Insert</a:t>
            </a:r>
            <a:endParaRPr lang="en-US" sz="938" dirty="0">
              <a:solidFill>
                <a:schemeClr val="accent1"/>
              </a:solidFill>
            </a:endParaRPr>
          </a:p>
        </p:txBody>
      </p:sp>
      <p:sp>
        <p:nvSpPr>
          <p:cNvPr id="38" name="Text 36"/>
          <p:cNvSpPr/>
          <p:nvPr/>
        </p:nvSpPr>
        <p:spPr>
          <a:xfrm>
            <a:off x="5959602" y="1676802"/>
            <a:ext cx="1988820" cy="288036"/>
          </a:xfrm>
          <a:prstGeom prst="rect">
            <a:avLst/>
          </a:prstGeom>
          <a:noFill/>
          <a:ln/>
        </p:spPr>
        <p:txBody>
          <a:bodyPr wrap="square" lIns="0" tIns="0" rIns="0" bIns="0" rtlCol="0" anchor="ctr">
            <a:normAutofit/>
          </a:bodyPr>
          <a:lstStyle/>
          <a:p>
            <a:r>
              <a:rPr lang="en-US" sz="900" dirty="0">
                <a:solidFill>
                  <a:srgbClr val="1E2A36"/>
                </a:solidFill>
                <a:latin typeface="Segoe UI" pitchFamily="34" charset="0"/>
                <a:ea typeface="Segoe UI" pitchFamily="34" charset="-122"/>
                <a:cs typeface="Segoe UI" pitchFamily="34" charset="-120"/>
              </a:rPr>
              <a:t>Từ Root, so sánh X: nhỏ đi trái, lớn đi phải; gặp NULL thì chèn.</a:t>
            </a:r>
            <a:endParaRPr lang="en-US" sz="900" dirty="0"/>
          </a:p>
        </p:txBody>
      </p:sp>
      <p:sp>
        <p:nvSpPr>
          <p:cNvPr id="39" name="Text 37"/>
          <p:cNvSpPr/>
          <p:nvPr/>
        </p:nvSpPr>
        <p:spPr>
          <a:xfrm>
            <a:off x="8078724" y="1676802"/>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O(h)</a:t>
            </a:r>
            <a:endParaRPr lang="en-US" sz="900" dirty="0"/>
          </a:p>
        </p:txBody>
      </p:sp>
      <p:sp>
        <p:nvSpPr>
          <p:cNvPr id="40" name="Shape 38"/>
          <p:cNvSpPr/>
          <p:nvPr/>
        </p:nvSpPr>
        <p:spPr>
          <a:xfrm>
            <a:off x="4972050" y="2602632"/>
            <a:ext cx="3669030" cy="0"/>
          </a:xfrm>
          <a:prstGeom prst="line">
            <a:avLst/>
          </a:prstGeom>
          <a:noFill/>
          <a:ln w="8890">
            <a:solidFill>
              <a:srgbClr val="CBD5E1">
                <a:alpha val="75000"/>
              </a:srgbClr>
            </a:solidFill>
            <a:prstDash val="solid"/>
          </a:ln>
        </p:spPr>
        <p:txBody>
          <a:bodyPr/>
          <a:lstStyle/>
          <a:p>
            <a:endParaRPr lang="en-US" sz="1350"/>
          </a:p>
        </p:txBody>
      </p:sp>
      <p:sp>
        <p:nvSpPr>
          <p:cNvPr id="41" name="Text 39"/>
          <p:cNvSpPr/>
          <p:nvPr/>
        </p:nvSpPr>
        <p:spPr>
          <a:xfrm>
            <a:off x="4972050" y="2184294"/>
            <a:ext cx="905256" cy="192024"/>
          </a:xfrm>
          <a:prstGeom prst="rect">
            <a:avLst/>
          </a:prstGeom>
          <a:noFill/>
          <a:ln/>
        </p:spPr>
        <p:txBody>
          <a:bodyPr wrap="square" lIns="0" tIns="0" rIns="0" bIns="0" rtlCol="0" anchor="ctr">
            <a:normAutofit/>
          </a:bodyPr>
          <a:lstStyle/>
          <a:p>
            <a:r>
              <a:rPr lang="en-US" sz="938" b="1" dirty="0">
                <a:solidFill>
                  <a:schemeClr val="accent1"/>
                </a:solidFill>
                <a:latin typeface="Segoe UI" pitchFamily="34" charset="0"/>
                <a:ea typeface="Segoe UI" pitchFamily="34" charset="-122"/>
                <a:cs typeface="Segoe UI" pitchFamily="34" charset="-120"/>
              </a:rPr>
              <a:t>Search</a:t>
            </a:r>
            <a:endParaRPr lang="en-US" sz="938" dirty="0">
              <a:solidFill>
                <a:schemeClr val="accent1"/>
              </a:solidFill>
            </a:endParaRPr>
          </a:p>
        </p:txBody>
      </p:sp>
      <p:sp>
        <p:nvSpPr>
          <p:cNvPr id="42" name="Text 40"/>
          <p:cNvSpPr/>
          <p:nvPr/>
        </p:nvSpPr>
        <p:spPr>
          <a:xfrm>
            <a:off x="5959602" y="2184294"/>
            <a:ext cx="1988820" cy="288036"/>
          </a:xfrm>
          <a:prstGeom prst="rect">
            <a:avLst/>
          </a:prstGeom>
          <a:noFill/>
          <a:ln/>
        </p:spPr>
        <p:txBody>
          <a:bodyPr wrap="square" lIns="0" tIns="0" rIns="0" bIns="0" rtlCol="0" anchor="ctr">
            <a:normAutofit/>
          </a:bodyPr>
          <a:lstStyle/>
          <a:p>
            <a:r>
              <a:rPr lang="en-US" sz="900" dirty="0">
                <a:solidFill>
                  <a:srgbClr val="1E2A36"/>
                </a:solidFill>
                <a:latin typeface="Segoe UI" pitchFamily="34" charset="0"/>
                <a:ea typeface="Segoe UI" pitchFamily="34" charset="-122"/>
                <a:cs typeface="Segoe UI" pitchFamily="34" charset="-120"/>
              </a:rPr>
              <a:t>Tìm theo cùng quy tắc so sánh; dừng khi gặp giá trị cần tìm hoặc NULL.</a:t>
            </a:r>
            <a:endParaRPr lang="en-US" sz="900" dirty="0"/>
          </a:p>
        </p:txBody>
      </p:sp>
      <p:sp>
        <p:nvSpPr>
          <p:cNvPr id="43" name="Text 41"/>
          <p:cNvSpPr/>
          <p:nvPr/>
        </p:nvSpPr>
        <p:spPr>
          <a:xfrm>
            <a:off x="8078724" y="2184294"/>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O(h)</a:t>
            </a:r>
            <a:endParaRPr lang="en-US" sz="900" dirty="0"/>
          </a:p>
        </p:txBody>
      </p:sp>
      <p:sp>
        <p:nvSpPr>
          <p:cNvPr id="44" name="Shape 42"/>
          <p:cNvSpPr/>
          <p:nvPr/>
        </p:nvSpPr>
        <p:spPr>
          <a:xfrm>
            <a:off x="4972050" y="3110124"/>
            <a:ext cx="3669030" cy="0"/>
          </a:xfrm>
          <a:prstGeom prst="line">
            <a:avLst/>
          </a:prstGeom>
          <a:noFill/>
          <a:ln w="8890">
            <a:solidFill>
              <a:srgbClr val="CBD5E1">
                <a:alpha val="75000"/>
              </a:srgbClr>
            </a:solidFill>
            <a:prstDash val="solid"/>
          </a:ln>
        </p:spPr>
        <p:txBody>
          <a:bodyPr/>
          <a:lstStyle/>
          <a:p>
            <a:endParaRPr lang="en-US" sz="1350"/>
          </a:p>
        </p:txBody>
      </p:sp>
      <p:sp>
        <p:nvSpPr>
          <p:cNvPr id="45" name="Text 43"/>
          <p:cNvSpPr/>
          <p:nvPr/>
        </p:nvSpPr>
        <p:spPr>
          <a:xfrm>
            <a:off x="4972050" y="2691786"/>
            <a:ext cx="905256" cy="192024"/>
          </a:xfrm>
          <a:prstGeom prst="rect">
            <a:avLst/>
          </a:prstGeom>
          <a:noFill/>
          <a:ln/>
        </p:spPr>
        <p:txBody>
          <a:bodyPr wrap="square" lIns="0" tIns="0" rIns="0" bIns="0" rtlCol="0" anchor="ctr">
            <a:normAutofit/>
          </a:bodyPr>
          <a:lstStyle/>
          <a:p>
            <a:r>
              <a:rPr lang="en-US" sz="938" b="1" dirty="0">
                <a:solidFill>
                  <a:schemeClr val="accent1"/>
                </a:solidFill>
                <a:latin typeface="Segoe UI" pitchFamily="34" charset="0"/>
                <a:ea typeface="Segoe UI" pitchFamily="34" charset="-122"/>
                <a:cs typeface="Segoe UI" pitchFamily="34" charset="-120"/>
              </a:rPr>
              <a:t>Delete</a:t>
            </a:r>
            <a:endParaRPr lang="en-US" sz="938" dirty="0">
              <a:solidFill>
                <a:schemeClr val="accent1"/>
              </a:solidFill>
            </a:endParaRPr>
          </a:p>
        </p:txBody>
      </p:sp>
      <p:sp>
        <p:nvSpPr>
          <p:cNvPr id="46" name="Text 44"/>
          <p:cNvSpPr/>
          <p:nvPr/>
        </p:nvSpPr>
        <p:spPr>
          <a:xfrm>
            <a:off x="5959602" y="2691786"/>
            <a:ext cx="1988820" cy="288036"/>
          </a:xfrm>
          <a:prstGeom prst="rect">
            <a:avLst/>
          </a:prstGeom>
          <a:noFill/>
          <a:ln/>
        </p:spPr>
        <p:txBody>
          <a:bodyPr wrap="square" lIns="0" tIns="0" rIns="0" bIns="0" rtlCol="0" anchor="ctr">
            <a:noAutofit/>
          </a:bodyPr>
          <a:lstStyle/>
          <a:p>
            <a:r>
              <a:rPr lang="en-US" sz="900" dirty="0">
                <a:solidFill>
                  <a:srgbClr val="1E2A36"/>
                </a:solidFill>
                <a:latin typeface="Segoe UI" pitchFamily="34" charset="0"/>
                <a:ea typeface="Segoe UI" pitchFamily="34" charset="-122"/>
                <a:cs typeface="Segoe UI" pitchFamily="34" charset="-120"/>
              </a:rPr>
              <a:t>Xóa node: 0 con thì bỏ; 1 con thì nối con; 2 con thì dùng successor </a:t>
            </a:r>
            <a:r>
              <a:rPr lang="en-US" sz="900" dirty="0" err="1">
                <a:solidFill>
                  <a:srgbClr val="1E2A36"/>
                </a:solidFill>
                <a:latin typeface="Segoe UI" pitchFamily="34" charset="0"/>
                <a:ea typeface="Segoe UI" pitchFamily="34" charset="-122"/>
                <a:cs typeface="Segoe UI" pitchFamily="34" charset="-120"/>
              </a:rPr>
              <a:t>nhỏ</a:t>
            </a:r>
            <a:r>
              <a:rPr lang="en-US" sz="900" dirty="0">
                <a:solidFill>
                  <a:srgbClr val="1E2A36"/>
                </a:solidFill>
                <a:latin typeface="Segoe UI" pitchFamily="34" charset="0"/>
                <a:ea typeface="Segoe UI" pitchFamily="34" charset="-122"/>
                <a:cs typeface="Segoe UI" pitchFamily="34" charset="-120"/>
              </a:rPr>
              <a:t> </a:t>
            </a:r>
            <a:r>
              <a:rPr lang="en-US" sz="900" dirty="0">
                <a:solidFill>
                  <a:srgbClr val="1E2A36"/>
                </a:solidFill>
                <a:latin typeface="Segoe UI" pitchFamily="34" charset="0"/>
                <a:cs typeface="Segoe UI" pitchFamily="34" charset="-120"/>
              </a:rPr>
              <a:t>nhất</a:t>
            </a:r>
            <a:r>
              <a:rPr lang="en-US" sz="900" dirty="0">
                <a:solidFill>
                  <a:srgbClr val="1E2A36"/>
                </a:solidFill>
                <a:latin typeface="Segoe UI" pitchFamily="34" charset="0"/>
                <a:ea typeface="Segoe UI" pitchFamily="34" charset="-122"/>
                <a:cs typeface="Segoe UI" pitchFamily="34" charset="-120"/>
              </a:rPr>
              <a:t> nhánh phải.</a:t>
            </a:r>
            <a:endParaRPr lang="en-US" sz="900" dirty="0"/>
          </a:p>
        </p:txBody>
      </p:sp>
      <p:sp>
        <p:nvSpPr>
          <p:cNvPr id="47" name="Text 45"/>
          <p:cNvSpPr/>
          <p:nvPr/>
        </p:nvSpPr>
        <p:spPr>
          <a:xfrm>
            <a:off x="8078724" y="2691786"/>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O(h)</a:t>
            </a:r>
            <a:endParaRPr lang="en-US" sz="900" dirty="0"/>
          </a:p>
        </p:txBody>
      </p:sp>
      <p:sp>
        <p:nvSpPr>
          <p:cNvPr id="48" name="Shape 46"/>
          <p:cNvSpPr/>
          <p:nvPr/>
        </p:nvSpPr>
        <p:spPr>
          <a:xfrm>
            <a:off x="4972050" y="3617616"/>
            <a:ext cx="3669030" cy="0"/>
          </a:xfrm>
          <a:prstGeom prst="line">
            <a:avLst/>
          </a:prstGeom>
          <a:noFill/>
          <a:ln w="8890">
            <a:solidFill>
              <a:srgbClr val="CBD5E1">
                <a:alpha val="75000"/>
              </a:srgbClr>
            </a:solidFill>
            <a:prstDash val="solid"/>
          </a:ln>
        </p:spPr>
        <p:txBody>
          <a:bodyPr/>
          <a:lstStyle/>
          <a:p>
            <a:endParaRPr lang="en-US" sz="1350"/>
          </a:p>
        </p:txBody>
      </p:sp>
      <p:sp>
        <p:nvSpPr>
          <p:cNvPr id="49" name="Text 47"/>
          <p:cNvSpPr/>
          <p:nvPr/>
        </p:nvSpPr>
        <p:spPr>
          <a:xfrm>
            <a:off x="4972050" y="3199278"/>
            <a:ext cx="905256" cy="192024"/>
          </a:xfrm>
          <a:prstGeom prst="rect">
            <a:avLst/>
          </a:prstGeom>
          <a:noFill/>
          <a:ln/>
        </p:spPr>
        <p:txBody>
          <a:bodyPr wrap="square" lIns="0" tIns="0" rIns="0" bIns="0" rtlCol="0" anchor="ctr">
            <a:normAutofit/>
          </a:bodyPr>
          <a:lstStyle/>
          <a:p>
            <a:r>
              <a:rPr lang="en-US" sz="938" b="1" dirty="0">
                <a:solidFill>
                  <a:schemeClr val="accent1"/>
                </a:solidFill>
                <a:latin typeface="Segoe UI" pitchFamily="34" charset="0"/>
                <a:ea typeface="Segoe UI" pitchFamily="34" charset="-122"/>
                <a:cs typeface="Segoe UI" pitchFamily="34" charset="-120"/>
              </a:rPr>
              <a:t>Preorder</a:t>
            </a:r>
            <a:endParaRPr lang="en-US" sz="938" dirty="0">
              <a:solidFill>
                <a:schemeClr val="accent1"/>
              </a:solidFill>
            </a:endParaRPr>
          </a:p>
        </p:txBody>
      </p:sp>
      <p:sp>
        <p:nvSpPr>
          <p:cNvPr id="50" name="Text 48"/>
          <p:cNvSpPr/>
          <p:nvPr/>
        </p:nvSpPr>
        <p:spPr>
          <a:xfrm>
            <a:off x="5959602" y="3199278"/>
            <a:ext cx="1988820" cy="288036"/>
          </a:xfrm>
          <a:prstGeom prst="rect">
            <a:avLst/>
          </a:prstGeom>
          <a:noFill/>
          <a:ln/>
        </p:spPr>
        <p:txBody>
          <a:bodyPr wrap="square" lIns="0" tIns="0" rIns="0" bIns="0" rtlCol="0" anchor="ctr">
            <a:normAutofit/>
          </a:bodyPr>
          <a:lstStyle/>
          <a:p>
            <a:r>
              <a:rPr lang="en-US" sz="900" dirty="0">
                <a:solidFill>
                  <a:srgbClr val="1E2A36"/>
                </a:solidFill>
                <a:latin typeface="Segoe UI" pitchFamily="34" charset="0"/>
                <a:ea typeface="Segoe UI" pitchFamily="34" charset="-122"/>
                <a:cs typeface="Segoe UI" pitchFamily="34" charset="-120"/>
              </a:rPr>
              <a:t>Duyệt NLR: xử lý Gốc trước, sau đó duyệt Trái rồi Phải.</a:t>
            </a:r>
            <a:endParaRPr lang="en-US" sz="900" dirty="0"/>
          </a:p>
        </p:txBody>
      </p:sp>
      <p:sp>
        <p:nvSpPr>
          <p:cNvPr id="51" name="Text 49"/>
          <p:cNvSpPr/>
          <p:nvPr/>
        </p:nvSpPr>
        <p:spPr>
          <a:xfrm>
            <a:off x="8078724" y="3199278"/>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O(n)</a:t>
            </a:r>
            <a:endParaRPr lang="en-US" sz="900" dirty="0"/>
          </a:p>
        </p:txBody>
      </p:sp>
      <p:sp>
        <p:nvSpPr>
          <p:cNvPr id="52" name="Shape 50"/>
          <p:cNvSpPr/>
          <p:nvPr/>
        </p:nvSpPr>
        <p:spPr>
          <a:xfrm>
            <a:off x="4972050" y="4125108"/>
            <a:ext cx="3669030" cy="0"/>
          </a:xfrm>
          <a:prstGeom prst="line">
            <a:avLst/>
          </a:prstGeom>
          <a:noFill/>
          <a:ln w="8890">
            <a:solidFill>
              <a:srgbClr val="CBD5E1">
                <a:alpha val="75000"/>
              </a:srgbClr>
            </a:solidFill>
            <a:prstDash val="solid"/>
          </a:ln>
        </p:spPr>
        <p:txBody>
          <a:bodyPr/>
          <a:lstStyle/>
          <a:p>
            <a:endParaRPr lang="en-US" sz="1350"/>
          </a:p>
        </p:txBody>
      </p:sp>
      <p:sp>
        <p:nvSpPr>
          <p:cNvPr id="53" name="Text 51"/>
          <p:cNvSpPr/>
          <p:nvPr/>
        </p:nvSpPr>
        <p:spPr>
          <a:xfrm>
            <a:off x="4972050" y="3706770"/>
            <a:ext cx="905256" cy="192024"/>
          </a:xfrm>
          <a:prstGeom prst="rect">
            <a:avLst/>
          </a:prstGeom>
          <a:noFill/>
          <a:ln/>
        </p:spPr>
        <p:txBody>
          <a:bodyPr wrap="square" lIns="0" tIns="0" rIns="0" bIns="0" rtlCol="0" anchor="ctr">
            <a:normAutofit/>
          </a:bodyPr>
          <a:lstStyle/>
          <a:p>
            <a:r>
              <a:rPr lang="en-US" sz="938" b="1" dirty="0">
                <a:solidFill>
                  <a:schemeClr val="accent1"/>
                </a:solidFill>
                <a:latin typeface="Segoe UI" pitchFamily="34" charset="0"/>
                <a:ea typeface="Segoe UI" pitchFamily="34" charset="-122"/>
                <a:cs typeface="Segoe UI" pitchFamily="34" charset="-120"/>
              </a:rPr>
              <a:t>In/</a:t>
            </a:r>
            <a:r>
              <a:rPr lang="en-US" sz="938" b="1" dirty="0" err="1">
                <a:solidFill>
                  <a:schemeClr val="accent1"/>
                </a:solidFill>
                <a:latin typeface="Segoe UI" pitchFamily="34" charset="0"/>
                <a:ea typeface="Segoe UI" pitchFamily="34" charset="-122"/>
                <a:cs typeface="Segoe UI" pitchFamily="34" charset="-120"/>
              </a:rPr>
              <a:t>Postorder</a:t>
            </a:r>
            <a:endParaRPr lang="en-US" sz="938" dirty="0">
              <a:solidFill>
                <a:schemeClr val="accent1"/>
              </a:solidFill>
            </a:endParaRPr>
          </a:p>
        </p:txBody>
      </p:sp>
      <p:sp>
        <p:nvSpPr>
          <p:cNvPr id="54" name="Text 52"/>
          <p:cNvSpPr/>
          <p:nvPr/>
        </p:nvSpPr>
        <p:spPr>
          <a:xfrm>
            <a:off x="5959602" y="3706770"/>
            <a:ext cx="1988820" cy="288036"/>
          </a:xfrm>
          <a:prstGeom prst="rect">
            <a:avLst/>
          </a:prstGeom>
          <a:noFill/>
          <a:ln/>
        </p:spPr>
        <p:txBody>
          <a:bodyPr wrap="square" lIns="0" tIns="0" rIns="0" bIns="0" rtlCol="0" anchor="ctr">
            <a:normAutofit/>
          </a:bodyPr>
          <a:lstStyle/>
          <a:p>
            <a:r>
              <a:rPr lang="en-US" sz="900" dirty="0">
                <a:solidFill>
                  <a:srgbClr val="1E2A36"/>
                </a:solidFill>
                <a:latin typeface="Segoe UI" pitchFamily="34" charset="0"/>
                <a:ea typeface="Segoe UI" pitchFamily="34" charset="-122"/>
                <a:cs typeface="Segoe UI" pitchFamily="34" charset="-120"/>
              </a:rPr>
              <a:t>Inorder LNR cho dãy tăng dần; Postorder LRN xử lý Gốc sau cùng.</a:t>
            </a:r>
            <a:endParaRPr lang="en-US" sz="900" dirty="0"/>
          </a:p>
        </p:txBody>
      </p:sp>
      <p:sp>
        <p:nvSpPr>
          <p:cNvPr id="55" name="Text 53"/>
          <p:cNvSpPr/>
          <p:nvPr/>
        </p:nvSpPr>
        <p:spPr>
          <a:xfrm>
            <a:off x="8078724" y="3706770"/>
            <a:ext cx="534924" cy="171450"/>
          </a:xfrm>
          <a:prstGeom prst="rect">
            <a:avLst/>
          </a:prstGeom>
          <a:noFill/>
          <a:ln/>
        </p:spPr>
        <p:txBody>
          <a:bodyPr wrap="square" lIns="0" tIns="0" rIns="0" bIns="0" rtlCol="0" anchor="ctr"/>
          <a:lstStyle/>
          <a:p>
            <a:pPr algn="r"/>
            <a:r>
              <a:rPr lang="en-US" sz="900" b="1" dirty="0">
                <a:solidFill>
                  <a:srgbClr val="0F172A"/>
                </a:solidFill>
                <a:latin typeface="Segoe UI" pitchFamily="34" charset="0"/>
                <a:ea typeface="Segoe UI" pitchFamily="34" charset="-122"/>
                <a:cs typeface="Segoe UI" pitchFamily="34" charset="-120"/>
              </a:rPr>
              <a:t>O(n)</a:t>
            </a:r>
            <a:endParaRPr lang="en-US" sz="900" dirty="0"/>
          </a:p>
        </p:txBody>
      </p:sp>
      <p:sp>
        <p:nvSpPr>
          <p:cNvPr id="56" name="Shape 54"/>
          <p:cNvSpPr/>
          <p:nvPr/>
        </p:nvSpPr>
        <p:spPr>
          <a:xfrm>
            <a:off x="445770" y="4323990"/>
            <a:ext cx="4080510" cy="466344"/>
          </a:xfrm>
          <a:prstGeom prst="roundRect">
            <a:avLst>
              <a:gd name="adj" fmla="val 11765"/>
            </a:avLst>
          </a:prstGeom>
          <a:solidFill>
            <a:srgbClr val="DBEAFE"/>
          </a:solidFill>
          <a:ln w="12700">
            <a:solidFill>
              <a:srgbClr val="DBEAFE"/>
            </a:solidFill>
            <a:prstDash val="solid"/>
          </a:ln>
        </p:spPr>
        <p:txBody>
          <a:bodyPr/>
          <a:lstStyle/>
          <a:p>
            <a:endParaRPr lang="en-US" sz="1350"/>
          </a:p>
        </p:txBody>
      </p:sp>
      <p:sp>
        <p:nvSpPr>
          <p:cNvPr id="57" name="Text 55"/>
          <p:cNvSpPr/>
          <p:nvPr/>
        </p:nvSpPr>
        <p:spPr>
          <a:xfrm>
            <a:off x="617220" y="4440576"/>
            <a:ext cx="3703320" cy="205740"/>
          </a:xfrm>
          <a:prstGeom prst="rect">
            <a:avLst/>
          </a:prstGeom>
          <a:noFill/>
          <a:ln/>
        </p:spPr>
        <p:txBody>
          <a:bodyPr wrap="square" lIns="0" tIns="0" rIns="0" bIns="0" rtlCol="0" anchor="ctr">
            <a:normAutofit fontScale="85000" lnSpcReduction="20000"/>
          </a:bodyPr>
          <a:lstStyle/>
          <a:p>
            <a:r>
              <a:rPr lang="en-US" sz="990" b="1" dirty="0">
                <a:solidFill>
                  <a:srgbClr val="1E2A36"/>
                </a:solidFill>
                <a:latin typeface="Segoe UI" pitchFamily="34" charset="0"/>
                <a:ea typeface="Segoe UI" pitchFamily="34" charset="-122"/>
                <a:cs typeface="Segoe UI" pitchFamily="34" charset="-120"/>
              </a:rPr>
              <a:t>h = chiều cao cây. Cây cân bằng: O(log n); cây suy biến giống linked list: O(n).</a:t>
            </a:r>
            <a:endParaRPr lang="en-US" sz="990" dirty="0"/>
          </a:p>
        </p:txBody>
      </p:sp>
      <p:sp>
        <p:nvSpPr>
          <p:cNvPr id="58" name="Shape 0">
            <a:extLst>
              <a:ext uri="{FF2B5EF4-FFF2-40B4-BE49-F238E27FC236}">
                <a16:creationId xmlns:a16="http://schemas.microsoft.com/office/drawing/2014/main" id="{511502FC-E0A7-D26F-F694-04D21EDEA569}"/>
              </a:ext>
            </a:extLst>
          </p:cNvPr>
          <p:cNvSpPr/>
          <p:nvPr/>
        </p:nvSpPr>
        <p:spPr>
          <a:xfrm>
            <a:off x="0" y="0"/>
            <a:ext cx="9144000" cy="502920"/>
          </a:xfrm>
          <a:prstGeom prst="rect">
            <a:avLst/>
          </a:prstGeom>
          <a:solidFill>
            <a:srgbClr val="0891B2"/>
          </a:solidFill>
          <a:ln w="12700">
            <a:solidFill>
              <a:srgbClr val="0891B2"/>
            </a:solidFill>
            <a:prstDash val="solid"/>
          </a:ln>
        </p:spPr>
        <p:txBody>
          <a:bodyPr/>
          <a:lstStyle/>
          <a:p>
            <a:endParaRPr lang="en-US"/>
          </a:p>
        </p:txBody>
      </p:sp>
      <p:sp>
        <p:nvSpPr>
          <p:cNvPr id="59" name="Text 1">
            <a:extLst>
              <a:ext uri="{FF2B5EF4-FFF2-40B4-BE49-F238E27FC236}">
                <a16:creationId xmlns:a16="http://schemas.microsoft.com/office/drawing/2014/main" id="{9D8D4002-B67A-30F5-1D92-D338E39B2728}"/>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2 — CƠ SỞ LÝ THUYẾT</a:t>
            </a:r>
            <a:endParaRPr lang="en-US" sz="1100" dirty="0"/>
          </a:p>
        </p:txBody>
      </p:sp>
      <p:sp>
        <p:nvSpPr>
          <p:cNvPr id="60" name="Text 2">
            <a:extLst>
              <a:ext uri="{FF2B5EF4-FFF2-40B4-BE49-F238E27FC236}">
                <a16:creationId xmlns:a16="http://schemas.microsoft.com/office/drawing/2014/main" id="{B58E5EA6-11B9-1CC5-228A-BD802607E0EB}"/>
              </a:ext>
            </a:extLst>
          </p:cNvPr>
          <p:cNvSpPr/>
          <p:nvPr/>
        </p:nvSpPr>
        <p:spPr>
          <a:xfrm>
            <a:off x="321918" y="511379"/>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Cây nhị phân tìm kiếm (Binary Search Tree)</a:t>
            </a:r>
            <a:endParaRPr lang="en-US" sz="3000" dirty="0"/>
          </a:p>
        </p:txBody>
      </p:sp>
      <p:sp>
        <p:nvSpPr>
          <p:cNvPr id="61" name="Shape 3">
            <a:extLst>
              <a:ext uri="{FF2B5EF4-FFF2-40B4-BE49-F238E27FC236}">
                <a16:creationId xmlns:a16="http://schemas.microsoft.com/office/drawing/2014/main" id="{1C16A485-7727-F1D4-2CC3-297A7B7DBE54}"/>
              </a:ext>
            </a:extLst>
          </p:cNvPr>
          <p:cNvSpPr/>
          <p:nvPr/>
        </p:nvSpPr>
        <p:spPr>
          <a:xfrm>
            <a:off x="320040" y="1036701"/>
            <a:ext cx="8503920" cy="32004"/>
          </a:xfrm>
          <a:prstGeom prst="rect">
            <a:avLst/>
          </a:prstGeom>
          <a:solidFill>
            <a:srgbClr val="0891B2"/>
          </a:solidFill>
          <a:ln w="12700">
            <a:solidFill>
              <a:srgbClr val="0891B2"/>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D02375-49DE-2A67-EA71-C9D0ECBDB779}"/>
              </a:ext>
            </a:extLst>
          </p:cNvPr>
          <p:cNvPicPr>
            <a:picLocks noChangeAspect="1"/>
          </p:cNvPicPr>
          <p:nvPr/>
        </p:nvPicPr>
        <p:blipFill>
          <a:blip r:embed="rId2"/>
          <a:stretch>
            <a:fillRect/>
          </a:stretch>
        </p:blipFill>
        <p:spPr>
          <a:xfrm>
            <a:off x="600961" y="0"/>
            <a:ext cx="7715250" cy="5143500"/>
          </a:xfrm>
          <a:prstGeom prst="rect">
            <a:avLst/>
          </a:prstGeom>
        </p:spPr>
      </p:pic>
    </p:spTree>
    <p:extLst>
      <p:ext uri="{BB962C8B-B14F-4D97-AF65-F5344CB8AC3E}">
        <p14:creationId xmlns:p14="http://schemas.microsoft.com/office/powerpoint/2010/main" val="2477570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2 — THUẬT TOÁN XÓA NÚT BST</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Xóa nút (DeleteNode) — 3 </a:t>
            </a:r>
            <a:r>
              <a:rPr lang="en-US" sz="3000" b="1" dirty="0" err="1">
                <a:solidFill>
                  <a:srgbClr val="1B3A6B"/>
                </a:solidFill>
                <a:latin typeface="Calibri" pitchFamily="34" charset="0"/>
                <a:ea typeface="Calibri" pitchFamily="34" charset="-122"/>
                <a:cs typeface="Calibri" pitchFamily="34" charset="-120"/>
              </a:rPr>
              <a:t>kịch</a:t>
            </a:r>
            <a:r>
              <a:rPr lang="en-US" sz="3000" b="1" dirty="0">
                <a:solidFill>
                  <a:srgbClr val="1B3A6B"/>
                </a:solidFill>
                <a:latin typeface="Calibri" pitchFamily="34" charset="0"/>
                <a:ea typeface="Calibri" pitchFamily="34" charset="-122"/>
                <a:cs typeface="Calibri" pitchFamily="34" charset="-120"/>
              </a:rPr>
              <a:t> </a:t>
            </a:r>
            <a:r>
              <a:rPr lang="en-US" sz="3000" b="1" dirty="0" err="1">
                <a:solidFill>
                  <a:srgbClr val="1B3A6B"/>
                </a:solidFill>
                <a:latin typeface="Calibri" pitchFamily="34" charset="0"/>
                <a:ea typeface="Calibri" pitchFamily="34" charset="-122"/>
                <a:cs typeface="Calibri" pitchFamily="34" charset="-120"/>
              </a:rPr>
              <a:t>bản</a:t>
            </a:r>
            <a:endParaRPr lang="en-US" sz="3000" dirty="0"/>
          </a:p>
        </p:txBody>
      </p:sp>
      <p:sp>
        <p:nvSpPr>
          <p:cNvPr id="5" name="Shape 3"/>
          <p:cNvSpPr/>
          <p:nvPr/>
        </p:nvSpPr>
        <p:spPr>
          <a:xfrm>
            <a:off x="320040" y="1243584"/>
            <a:ext cx="8503920" cy="32004"/>
          </a:xfrm>
          <a:prstGeom prst="rect">
            <a:avLst/>
          </a:prstGeom>
          <a:solidFill>
            <a:srgbClr val="0891B2"/>
          </a:solidFill>
          <a:ln w="12700">
            <a:solidFill>
              <a:srgbClr val="0891B2"/>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320040" y="1389888"/>
            <a:ext cx="8503920" cy="2148840"/>
          </a:xfrm>
          <a:prstGeom prst="rect">
            <a:avLst/>
          </a:prstGeom>
        </p:spPr>
      </p:pic>
      <p:sp>
        <p:nvSpPr>
          <p:cNvPr id="7" name="Shape 4"/>
          <p:cNvSpPr/>
          <p:nvPr/>
        </p:nvSpPr>
        <p:spPr>
          <a:xfrm>
            <a:off x="320040" y="3639312"/>
            <a:ext cx="2697480" cy="1188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320040" y="3639312"/>
            <a:ext cx="2697480" cy="54864"/>
          </a:xfrm>
          <a:prstGeom prst="rect">
            <a:avLst/>
          </a:prstGeom>
          <a:solidFill>
            <a:srgbClr val="16A34A"/>
          </a:solidFill>
          <a:ln w="12700">
            <a:solidFill>
              <a:srgbClr val="16A34A"/>
            </a:solidFill>
            <a:prstDash val="solid"/>
          </a:ln>
        </p:spPr>
        <p:txBody>
          <a:bodyPr/>
          <a:lstStyle/>
          <a:p>
            <a:endParaRPr lang="en-US"/>
          </a:p>
        </p:txBody>
      </p:sp>
      <p:sp>
        <p:nvSpPr>
          <p:cNvPr id="9" name="Text 6"/>
          <p:cNvSpPr/>
          <p:nvPr/>
        </p:nvSpPr>
        <p:spPr>
          <a:xfrm>
            <a:off x="457200" y="3749040"/>
            <a:ext cx="2423160" cy="347472"/>
          </a:xfrm>
          <a:prstGeom prst="rect">
            <a:avLst/>
          </a:prstGeom>
          <a:noFill/>
          <a:ln/>
        </p:spPr>
        <p:txBody>
          <a:bodyPr wrap="square"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TH1 — Nút lá</a:t>
            </a:r>
            <a:endParaRPr lang="en-US" sz="1400" dirty="0"/>
          </a:p>
        </p:txBody>
      </p:sp>
      <p:sp>
        <p:nvSpPr>
          <p:cNvPr id="10" name="Text 7"/>
          <p:cNvSpPr/>
          <p:nvPr/>
        </p:nvSpPr>
        <p:spPr>
          <a:xfrm>
            <a:off x="457200" y="4151376"/>
            <a:ext cx="2423160" cy="585216"/>
          </a:xfrm>
          <a:prstGeom prst="rect">
            <a:avLst/>
          </a:prstGeom>
          <a:noFill/>
          <a:ln/>
        </p:spPr>
        <p:txBody>
          <a:bodyPr wrap="square" rtlCol="0" anchor="ctr"/>
          <a:lstStyle/>
          <a:p>
            <a:pPr marL="0" indent="0">
              <a:lnSpc>
                <a:spcPct val="130000"/>
              </a:lnSpc>
              <a:buNone/>
            </a:pPr>
            <a:r>
              <a:rPr lang="en-US" sz="1150" dirty="0">
                <a:solidFill>
                  <a:srgbClr val="475569"/>
                </a:solidFill>
                <a:latin typeface="Calibri" pitchFamily="34" charset="0"/>
                <a:ea typeface="Calibri" pitchFamily="34" charset="-122"/>
                <a:cs typeface="Calibri" pitchFamily="34" charset="-120"/>
              </a:rPr>
              <a:t>Ngắt liên kết, xóa trực tiếp</a:t>
            </a:r>
            <a:endParaRPr lang="en-US" sz="1150" dirty="0"/>
          </a:p>
        </p:txBody>
      </p:sp>
      <p:sp>
        <p:nvSpPr>
          <p:cNvPr id="11" name="Shape 8"/>
          <p:cNvSpPr/>
          <p:nvPr/>
        </p:nvSpPr>
        <p:spPr>
          <a:xfrm>
            <a:off x="3200400" y="3639312"/>
            <a:ext cx="2697480" cy="1188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3200400" y="3639312"/>
            <a:ext cx="2697480" cy="54864"/>
          </a:xfrm>
          <a:prstGeom prst="rect">
            <a:avLst/>
          </a:prstGeom>
          <a:solidFill>
            <a:srgbClr val="D97706"/>
          </a:solidFill>
          <a:ln w="12700">
            <a:solidFill>
              <a:srgbClr val="D97706"/>
            </a:solidFill>
            <a:prstDash val="solid"/>
          </a:ln>
        </p:spPr>
        <p:txBody>
          <a:bodyPr/>
          <a:lstStyle/>
          <a:p>
            <a:endParaRPr lang="en-US"/>
          </a:p>
        </p:txBody>
      </p:sp>
      <p:sp>
        <p:nvSpPr>
          <p:cNvPr id="13" name="Text 10"/>
          <p:cNvSpPr/>
          <p:nvPr/>
        </p:nvSpPr>
        <p:spPr>
          <a:xfrm>
            <a:off x="3337560" y="3749040"/>
            <a:ext cx="2423160" cy="347472"/>
          </a:xfrm>
          <a:prstGeom prst="rect">
            <a:avLst/>
          </a:prstGeom>
          <a:noFill/>
          <a:ln/>
        </p:spPr>
        <p:txBody>
          <a:bodyPr wrap="square"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TH2 — 1 con</a:t>
            </a:r>
            <a:endParaRPr lang="en-US" sz="1400" dirty="0"/>
          </a:p>
        </p:txBody>
      </p:sp>
      <p:sp>
        <p:nvSpPr>
          <p:cNvPr id="14" name="Text 11"/>
          <p:cNvSpPr/>
          <p:nvPr/>
        </p:nvSpPr>
        <p:spPr>
          <a:xfrm>
            <a:off x="3337560" y="4151376"/>
            <a:ext cx="2423160" cy="585216"/>
          </a:xfrm>
          <a:prstGeom prst="rect">
            <a:avLst/>
          </a:prstGeom>
          <a:noFill/>
          <a:ln/>
        </p:spPr>
        <p:txBody>
          <a:bodyPr wrap="square" rtlCol="0" anchor="ctr"/>
          <a:lstStyle/>
          <a:p>
            <a:pPr marL="0" indent="0">
              <a:lnSpc>
                <a:spcPct val="130000"/>
              </a:lnSpc>
              <a:buNone/>
            </a:pPr>
            <a:r>
              <a:rPr lang="en-US" sz="1150" dirty="0">
                <a:solidFill>
                  <a:srgbClr val="475569"/>
                </a:solidFill>
                <a:latin typeface="Calibri" pitchFamily="34" charset="0"/>
                <a:ea typeface="Calibri" pitchFamily="34" charset="-122"/>
                <a:cs typeface="Calibri" pitchFamily="34" charset="-120"/>
              </a:rPr>
              <a:t>Bypass: kéo con lên nối trực tiếp với cha</a:t>
            </a:r>
            <a:endParaRPr lang="en-US" sz="1150" dirty="0"/>
          </a:p>
        </p:txBody>
      </p:sp>
      <p:sp>
        <p:nvSpPr>
          <p:cNvPr id="15" name="Shape 12"/>
          <p:cNvSpPr/>
          <p:nvPr/>
        </p:nvSpPr>
        <p:spPr>
          <a:xfrm>
            <a:off x="6080760" y="3639312"/>
            <a:ext cx="2697480" cy="1188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p:cNvSpPr/>
          <p:nvPr/>
        </p:nvSpPr>
        <p:spPr>
          <a:xfrm>
            <a:off x="6080760" y="3639312"/>
            <a:ext cx="2697480" cy="54864"/>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6217920" y="3749040"/>
            <a:ext cx="2423160" cy="347472"/>
          </a:xfrm>
          <a:prstGeom prst="rect">
            <a:avLst/>
          </a:prstGeom>
          <a:noFill/>
          <a:ln/>
        </p:spPr>
        <p:txBody>
          <a:bodyPr wrap="square"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TH3 — 2 con</a:t>
            </a:r>
            <a:endParaRPr lang="en-US" sz="1400" dirty="0"/>
          </a:p>
        </p:txBody>
      </p:sp>
      <p:sp>
        <p:nvSpPr>
          <p:cNvPr id="18" name="Text 15"/>
          <p:cNvSpPr/>
          <p:nvPr/>
        </p:nvSpPr>
        <p:spPr>
          <a:xfrm>
            <a:off x="6217920" y="4151376"/>
            <a:ext cx="2423160" cy="585216"/>
          </a:xfrm>
          <a:prstGeom prst="rect">
            <a:avLst/>
          </a:prstGeom>
          <a:noFill/>
          <a:ln/>
        </p:spPr>
        <p:txBody>
          <a:bodyPr wrap="square" rtlCol="0" anchor="ctr"/>
          <a:lstStyle/>
          <a:p>
            <a:pPr marL="0" indent="0">
              <a:lnSpc>
                <a:spcPct val="130000"/>
              </a:lnSpc>
              <a:buNone/>
            </a:pPr>
            <a:r>
              <a:rPr lang="en-US" sz="1150" dirty="0">
                <a:solidFill>
                  <a:srgbClr val="475569"/>
                </a:solidFill>
                <a:latin typeface="Calibri" pitchFamily="34" charset="0"/>
                <a:ea typeface="Calibri" pitchFamily="34" charset="-122"/>
                <a:cs typeface="Calibri" pitchFamily="34" charset="-120"/>
              </a:rPr>
              <a:t>Thay bằng In-order Successor (nhỏ nhất của nhánh phải)</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2 — ĐỘ PHỨC TẠP THUẬT TOÁN</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So sánh Big-O: Linked List vs. BST</a:t>
            </a:r>
            <a:endParaRPr lang="en-US" sz="3000" dirty="0"/>
          </a:p>
        </p:txBody>
      </p:sp>
      <p:sp>
        <p:nvSpPr>
          <p:cNvPr id="5" name="Shape 3"/>
          <p:cNvSpPr/>
          <p:nvPr/>
        </p:nvSpPr>
        <p:spPr>
          <a:xfrm>
            <a:off x="320040" y="1092643"/>
            <a:ext cx="8503920" cy="32004"/>
          </a:xfrm>
          <a:prstGeom prst="rect">
            <a:avLst/>
          </a:prstGeom>
          <a:solidFill>
            <a:srgbClr val="0891B2"/>
          </a:solidFill>
          <a:ln w="12700">
            <a:solidFill>
              <a:srgbClr val="0891B2"/>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320040" y="1371600"/>
            <a:ext cx="5486400" cy="3063240"/>
          </a:xfrm>
          <a:prstGeom prst="rect">
            <a:avLst/>
          </a:prstGeom>
        </p:spPr>
      </p:pic>
      <p:sp>
        <p:nvSpPr>
          <p:cNvPr id="7" name="Shape 4"/>
          <p:cNvSpPr/>
          <p:nvPr/>
        </p:nvSpPr>
        <p:spPr>
          <a:xfrm>
            <a:off x="6035040" y="1176741"/>
            <a:ext cx="28346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6035040" y="1176741"/>
            <a:ext cx="2834640" cy="54864"/>
          </a:xfrm>
          <a:prstGeom prst="rect">
            <a:avLst/>
          </a:prstGeom>
          <a:solidFill>
            <a:srgbClr val="16A34A"/>
          </a:solidFill>
          <a:ln w="12700">
            <a:solidFill>
              <a:srgbClr val="16A34A"/>
            </a:solidFill>
            <a:prstDash val="solid"/>
          </a:ln>
        </p:spPr>
        <p:txBody>
          <a:bodyPr/>
          <a:lstStyle/>
          <a:p>
            <a:endParaRPr lang="en-US"/>
          </a:p>
        </p:txBody>
      </p:sp>
      <p:sp>
        <p:nvSpPr>
          <p:cNvPr id="9" name="Text 6"/>
          <p:cNvSpPr/>
          <p:nvPr/>
        </p:nvSpPr>
        <p:spPr>
          <a:xfrm>
            <a:off x="6080760" y="1286469"/>
            <a:ext cx="2743200" cy="914400"/>
          </a:xfrm>
          <a:prstGeom prst="rect">
            <a:avLst/>
          </a:prstGeom>
          <a:noFill/>
          <a:ln/>
        </p:spPr>
        <p:txBody>
          <a:bodyPr wrap="square" rtlCol="0" anchor="ctr"/>
          <a:lstStyle/>
          <a:p>
            <a:pPr marL="0" indent="0" algn="ctr">
              <a:buNone/>
            </a:pPr>
            <a:r>
              <a:rPr lang="en-US" sz="4200" b="1" dirty="0">
                <a:solidFill>
                  <a:srgbClr val="16A34A"/>
                </a:solidFill>
                <a:latin typeface="Calibri" pitchFamily="34" charset="0"/>
                <a:ea typeface="Calibri" pitchFamily="34" charset="-122"/>
                <a:cs typeface="Calibri" pitchFamily="34" charset="-120"/>
              </a:rPr>
              <a:t>O(log n)</a:t>
            </a:r>
            <a:endParaRPr lang="en-US" sz="4200" dirty="0"/>
          </a:p>
        </p:txBody>
      </p:sp>
      <p:sp>
        <p:nvSpPr>
          <p:cNvPr id="10" name="Text 7"/>
          <p:cNvSpPr/>
          <p:nvPr/>
        </p:nvSpPr>
        <p:spPr>
          <a:xfrm>
            <a:off x="6080760" y="2255733"/>
            <a:ext cx="2743200" cy="64008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BST cân bằng</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15 phần tử → 4 phép so sánh</a:t>
            </a:r>
            <a:endParaRPr lang="en-US" sz="1200" dirty="0"/>
          </a:p>
        </p:txBody>
      </p:sp>
      <p:sp>
        <p:nvSpPr>
          <p:cNvPr id="11" name="Shape 8"/>
          <p:cNvSpPr/>
          <p:nvPr/>
        </p:nvSpPr>
        <p:spPr>
          <a:xfrm>
            <a:off x="6035040" y="3188421"/>
            <a:ext cx="28346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6035040" y="3188421"/>
            <a:ext cx="2834640" cy="54864"/>
          </a:xfrm>
          <a:prstGeom prst="rect">
            <a:avLst/>
          </a:prstGeom>
          <a:solidFill>
            <a:srgbClr val="DC2626"/>
          </a:solidFill>
          <a:ln w="12700">
            <a:solidFill>
              <a:srgbClr val="DC2626"/>
            </a:solidFill>
            <a:prstDash val="solid"/>
          </a:ln>
        </p:spPr>
        <p:txBody>
          <a:bodyPr/>
          <a:lstStyle/>
          <a:p>
            <a:endParaRPr lang="en-US"/>
          </a:p>
        </p:txBody>
      </p:sp>
      <p:sp>
        <p:nvSpPr>
          <p:cNvPr id="13" name="Text 10"/>
          <p:cNvSpPr/>
          <p:nvPr/>
        </p:nvSpPr>
        <p:spPr>
          <a:xfrm>
            <a:off x="6080760" y="3298149"/>
            <a:ext cx="2743200" cy="914400"/>
          </a:xfrm>
          <a:prstGeom prst="rect">
            <a:avLst/>
          </a:prstGeom>
          <a:noFill/>
          <a:ln/>
        </p:spPr>
        <p:txBody>
          <a:bodyPr wrap="square" rtlCol="0" anchor="ctr"/>
          <a:lstStyle/>
          <a:p>
            <a:pPr marL="0" indent="0" algn="ctr">
              <a:buNone/>
            </a:pPr>
            <a:r>
              <a:rPr lang="en-US" sz="4200" b="1" dirty="0">
                <a:solidFill>
                  <a:srgbClr val="DC2626"/>
                </a:solidFill>
                <a:latin typeface="Calibri" pitchFamily="34" charset="0"/>
                <a:ea typeface="Calibri" pitchFamily="34" charset="-122"/>
                <a:cs typeface="Calibri" pitchFamily="34" charset="-120"/>
              </a:rPr>
              <a:t>O(n)</a:t>
            </a:r>
            <a:endParaRPr lang="en-US" sz="4200" dirty="0"/>
          </a:p>
        </p:txBody>
      </p:sp>
      <p:sp>
        <p:nvSpPr>
          <p:cNvPr id="14" name="Text 11"/>
          <p:cNvSpPr/>
          <p:nvPr/>
        </p:nvSpPr>
        <p:spPr>
          <a:xfrm>
            <a:off x="6080760" y="4267413"/>
            <a:ext cx="2743200" cy="640080"/>
          </a:xfrm>
          <a:prstGeom prst="rect">
            <a:avLst/>
          </a:prstGeom>
          <a:noFill/>
          <a:ln/>
        </p:spPr>
        <p:txBody>
          <a:bodyPr wrap="square"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Linked List / BST suy biến</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15 phần tử → 15 lần duyệt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A580C"/>
          </a:solidFill>
          <a:ln w="12700">
            <a:solidFill>
              <a:srgbClr val="EA580C"/>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Tổng quan kiến trúc DSA Visualizer</a:t>
            </a:r>
            <a:endParaRPr lang="en-US" sz="3000" dirty="0"/>
          </a:p>
        </p:txBody>
      </p:sp>
      <p:sp>
        <p:nvSpPr>
          <p:cNvPr id="5" name="Shape 3"/>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sp>
        <p:nvSpPr>
          <p:cNvPr id="6" name="Shape 4"/>
          <p:cNvSpPr/>
          <p:nvPr/>
        </p:nvSpPr>
        <p:spPr>
          <a:xfrm>
            <a:off x="320040" y="146304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548640" y="1691640"/>
            <a:ext cx="548640" cy="548640"/>
          </a:xfrm>
          <a:prstGeom prst="ellipse">
            <a:avLst/>
          </a:prstGeom>
          <a:solidFill>
            <a:srgbClr val="EFF6FF"/>
          </a:solidFill>
          <a:ln w="12700">
            <a:solidFill>
              <a:srgbClr val="2563EB"/>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76072" y="1719072"/>
            <a:ext cx="493776" cy="493776"/>
          </a:xfrm>
          <a:prstGeom prst="rect">
            <a:avLst/>
          </a:prstGeom>
        </p:spPr>
      </p:pic>
      <p:sp>
        <p:nvSpPr>
          <p:cNvPr id="9" name="Text 6"/>
          <p:cNvSpPr/>
          <p:nvPr/>
        </p:nvSpPr>
        <p:spPr>
          <a:xfrm>
            <a:off x="1216152" y="1691640"/>
            <a:ext cx="3108960" cy="38404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Linked List Module</a:t>
            </a:r>
            <a:endParaRPr lang="en-US" sz="1500" dirty="0"/>
          </a:p>
        </p:txBody>
      </p:sp>
      <p:sp>
        <p:nvSpPr>
          <p:cNvPr id="10" name="Text 7"/>
          <p:cNvSpPr/>
          <p:nvPr/>
        </p:nvSpPr>
        <p:spPr>
          <a:xfrm>
            <a:off x="1216152" y="2148840"/>
            <a:ext cx="3108960" cy="731520"/>
          </a:xfrm>
          <a:prstGeom prst="rect">
            <a:avLst/>
          </a:prstGeom>
          <a:noFill/>
          <a:ln/>
        </p:spPr>
        <p:txBody>
          <a:bodyPr wrap="square"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index.html — 5 thao tác </a:t>
            </a:r>
            <a:r>
              <a:rPr lang="en-US" sz="1200" dirty="0" err="1">
                <a:solidFill>
                  <a:srgbClr val="475569"/>
                </a:solidFill>
                <a:latin typeface="Calibri" pitchFamily="34" charset="0"/>
                <a:ea typeface="Calibri" pitchFamily="34" charset="-122"/>
                <a:cs typeface="Calibri" pitchFamily="34" charset="-120"/>
              </a:rPr>
              <a:t>đầy</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đủ</a:t>
            </a:r>
            <a:endParaRPr lang="en-US" sz="1200" dirty="0"/>
          </a:p>
        </p:txBody>
      </p:sp>
      <p:sp>
        <p:nvSpPr>
          <p:cNvPr id="11" name="Shape 8"/>
          <p:cNvSpPr/>
          <p:nvPr/>
        </p:nvSpPr>
        <p:spPr>
          <a:xfrm>
            <a:off x="548640" y="2907792"/>
            <a:ext cx="3749040" cy="36576"/>
          </a:xfrm>
          <a:prstGeom prst="rect">
            <a:avLst/>
          </a:prstGeom>
          <a:solidFill>
            <a:srgbClr val="2563EB"/>
          </a:solidFill>
          <a:ln w="12700">
            <a:solidFill>
              <a:srgbClr val="2563EB"/>
            </a:solidFill>
            <a:prstDash val="solid"/>
          </a:ln>
        </p:spPr>
        <p:txBody>
          <a:bodyPr/>
          <a:lstStyle/>
          <a:p>
            <a:endParaRPr lang="en-US"/>
          </a:p>
        </p:txBody>
      </p:sp>
      <p:sp>
        <p:nvSpPr>
          <p:cNvPr id="12" name="Shape 9"/>
          <p:cNvSpPr/>
          <p:nvPr/>
        </p:nvSpPr>
        <p:spPr>
          <a:xfrm>
            <a:off x="4736592" y="146304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0"/>
          <p:cNvSpPr/>
          <p:nvPr/>
        </p:nvSpPr>
        <p:spPr>
          <a:xfrm>
            <a:off x="4965192" y="1691640"/>
            <a:ext cx="548640" cy="548640"/>
          </a:xfrm>
          <a:prstGeom prst="ellipse">
            <a:avLst/>
          </a:prstGeom>
          <a:solidFill>
            <a:srgbClr val="EFF6FF"/>
          </a:solidFill>
          <a:ln w="12700">
            <a:solidFill>
              <a:srgbClr val="0891B2"/>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992624" y="1719072"/>
            <a:ext cx="493776" cy="493776"/>
          </a:xfrm>
          <a:prstGeom prst="rect">
            <a:avLst/>
          </a:prstGeom>
        </p:spPr>
      </p:pic>
      <p:sp>
        <p:nvSpPr>
          <p:cNvPr id="15" name="Text 11"/>
          <p:cNvSpPr/>
          <p:nvPr/>
        </p:nvSpPr>
        <p:spPr>
          <a:xfrm>
            <a:off x="5632704" y="1691640"/>
            <a:ext cx="3108960" cy="38404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BST Module</a:t>
            </a:r>
            <a:endParaRPr lang="en-US" sz="1500" dirty="0"/>
          </a:p>
        </p:txBody>
      </p:sp>
      <p:sp>
        <p:nvSpPr>
          <p:cNvPr id="16" name="Text 12"/>
          <p:cNvSpPr/>
          <p:nvPr/>
        </p:nvSpPr>
        <p:spPr>
          <a:xfrm>
            <a:off x="5632704" y="2148840"/>
            <a:ext cx="3108960" cy="731520"/>
          </a:xfrm>
          <a:prstGeom prst="rect">
            <a:avLst/>
          </a:prstGeom>
          <a:noFill/>
          <a:ln/>
        </p:spPr>
        <p:txBody>
          <a:bodyPr wrap="square"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bst.html — 8 thao tác + 3 </a:t>
            </a:r>
            <a:r>
              <a:rPr lang="en-US" sz="1200" dirty="0" err="1">
                <a:solidFill>
                  <a:srgbClr val="475569"/>
                </a:solidFill>
                <a:latin typeface="Calibri" pitchFamily="34" charset="0"/>
                <a:ea typeface="Calibri" pitchFamily="34" charset="-122"/>
                <a:cs typeface="Calibri" pitchFamily="34" charset="-120"/>
              </a:rPr>
              <a:t>duyệt</a:t>
            </a:r>
            <a:endParaRPr lang="en-US" sz="1200" dirty="0"/>
          </a:p>
        </p:txBody>
      </p:sp>
      <p:sp>
        <p:nvSpPr>
          <p:cNvPr id="17" name="Shape 13"/>
          <p:cNvSpPr/>
          <p:nvPr/>
        </p:nvSpPr>
        <p:spPr>
          <a:xfrm>
            <a:off x="4965192" y="2907792"/>
            <a:ext cx="3749040" cy="36576"/>
          </a:xfrm>
          <a:prstGeom prst="rect">
            <a:avLst/>
          </a:prstGeom>
          <a:solidFill>
            <a:srgbClr val="0891B2"/>
          </a:solidFill>
          <a:ln w="12700">
            <a:solidFill>
              <a:srgbClr val="0891B2"/>
            </a:solidFill>
            <a:prstDash val="solid"/>
          </a:ln>
        </p:spPr>
        <p:txBody>
          <a:bodyPr/>
          <a:lstStyle/>
          <a:p>
            <a:endParaRPr lang="en-US"/>
          </a:p>
        </p:txBody>
      </p:sp>
      <p:sp>
        <p:nvSpPr>
          <p:cNvPr id="18" name="Shape 14"/>
          <p:cNvSpPr/>
          <p:nvPr/>
        </p:nvSpPr>
        <p:spPr>
          <a:xfrm>
            <a:off x="320040" y="329184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5"/>
          <p:cNvSpPr/>
          <p:nvPr/>
        </p:nvSpPr>
        <p:spPr>
          <a:xfrm>
            <a:off x="548640" y="3520440"/>
            <a:ext cx="548640" cy="548640"/>
          </a:xfrm>
          <a:prstGeom prst="ellipse">
            <a:avLst/>
          </a:prstGeom>
          <a:solidFill>
            <a:srgbClr val="EFF6FF"/>
          </a:solidFill>
          <a:ln w="12700">
            <a:solidFill>
              <a:srgbClr val="7C3AED"/>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576072" y="3547872"/>
            <a:ext cx="493776" cy="493776"/>
          </a:xfrm>
          <a:prstGeom prst="rect">
            <a:avLst/>
          </a:prstGeom>
        </p:spPr>
      </p:pic>
      <p:sp>
        <p:nvSpPr>
          <p:cNvPr id="21" name="Text 16"/>
          <p:cNvSpPr/>
          <p:nvPr/>
        </p:nvSpPr>
        <p:spPr>
          <a:xfrm>
            <a:off x="1216152" y="3520440"/>
            <a:ext cx="3108960" cy="38404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Challenge Center</a:t>
            </a:r>
            <a:endParaRPr lang="en-US" sz="1500" dirty="0"/>
          </a:p>
        </p:txBody>
      </p:sp>
      <p:sp>
        <p:nvSpPr>
          <p:cNvPr id="22" name="Text 17"/>
          <p:cNvSpPr/>
          <p:nvPr/>
        </p:nvSpPr>
        <p:spPr>
          <a:xfrm>
            <a:off x="1216152" y="3977640"/>
            <a:ext cx="3108960" cy="731520"/>
          </a:xfrm>
          <a:prstGeom prst="rect">
            <a:avLst/>
          </a:prstGeom>
          <a:noFill/>
          <a:ln/>
        </p:spPr>
        <p:txBody>
          <a:bodyPr wrap="square"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quiz.html — Sĩ Tử + </a:t>
            </a:r>
            <a:r>
              <a:rPr lang="en-US" sz="1200" dirty="0" err="1">
                <a:solidFill>
                  <a:srgbClr val="475569"/>
                </a:solidFill>
                <a:latin typeface="Calibri" pitchFamily="34" charset="0"/>
                <a:ea typeface="Calibri" pitchFamily="34" charset="-122"/>
                <a:cs typeface="Calibri" pitchFamily="34" charset="-120"/>
              </a:rPr>
              <a:t>Chiến</a:t>
            </a:r>
            <a:r>
              <a:rPr lang="en-US" sz="1200" dirty="0">
                <a:solidFill>
                  <a:srgbClr val="475569"/>
                </a:solidFill>
                <a:latin typeface="Calibri" pitchFamily="34" charset="0"/>
                <a:ea typeface="Calibri" pitchFamily="34" charset="-122"/>
                <a:cs typeface="Calibri" pitchFamily="34" charset="-120"/>
              </a:rPr>
              <a:t> Binh</a:t>
            </a:r>
            <a:endParaRPr lang="en-US" sz="1200" dirty="0"/>
          </a:p>
        </p:txBody>
      </p:sp>
      <p:sp>
        <p:nvSpPr>
          <p:cNvPr id="23" name="Shape 18"/>
          <p:cNvSpPr/>
          <p:nvPr/>
        </p:nvSpPr>
        <p:spPr>
          <a:xfrm>
            <a:off x="548640" y="4736592"/>
            <a:ext cx="3749040" cy="36576"/>
          </a:xfrm>
          <a:prstGeom prst="rect">
            <a:avLst/>
          </a:prstGeom>
          <a:solidFill>
            <a:srgbClr val="7C3AED"/>
          </a:solidFill>
          <a:ln w="12700">
            <a:solidFill>
              <a:srgbClr val="7C3AED"/>
            </a:solidFill>
            <a:prstDash val="solid"/>
          </a:ln>
        </p:spPr>
        <p:txBody>
          <a:bodyPr/>
          <a:lstStyle/>
          <a:p>
            <a:endParaRPr lang="en-US"/>
          </a:p>
        </p:txBody>
      </p:sp>
      <p:sp>
        <p:nvSpPr>
          <p:cNvPr id="24" name="Shape 19"/>
          <p:cNvSpPr/>
          <p:nvPr/>
        </p:nvSpPr>
        <p:spPr>
          <a:xfrm>
            <a:off x="4736592" y="329184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0"/>
          <p:cNvSpPr/>
          <p:nvPr/>
        </p:nvSpPr>
        <p:spPr>
          <a:xfrm>
            <a:off x="4965192" y="3520440"/>
            <a:ext cx="548640" cy="548640"/>
          </a:xfrm>
          <a:prstGeom prst="ellipse">
            <a:avLst/>
          </a:prstGeom>
          <a:solidFill>
            <a:srgbClr val="EFF6FF"/>
          </a:solidFill>
          <a:ln w="12700">
            <a:solidFill>
              <a:srgbClr val="D97706"/>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4992624" y="3547872"/>
            <a:ext cx="493776" cy="493776"/>
          </a:xfrm>
          <a:prstGeom prst="rect">
            <a:avLst/>
          </a:prstGeom>
        </p:spPr>
      </p:pic>
      <p:sp>
        <p:nvSpPr>
          <p:cNvPr id="27" name="Text 21"/>
          <p:cNvSpPr/>
          <p:nvPr/>
        </p:nvSpPr>
        <p:spPr>
          <a:xfrm>
            <a:off x="5632704" y="3520440"/>
            <a:ext cx="3108960" cy="38404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Shared Utils</a:t>
            </a:r>
            <a:endParaRPr lang="en-US" sz="1500" dirty="0"/>
          </a:p>
        </p:txBody>
      </p:sp>
      <p:sp>
        <p:nvSpPr>
          <p:cNvPr id="28" name="Text 22"/>
          <p:cNvSpPr/>
          <p:nvPr/>
        </p:nvSpPr>
        <p:spPr>
          <a:xfrm>
            <a:off x="5632704" y="3977640"/>
            <a:ext cx="3108960" cy="731520"/>
          </a:xfrm>
          <a:prstGeom prst="rect">
            <a:avLst/>
          </a:prstGeom>
          <a:noFill/>
          <a:ln/>
        </p:spPr>
        <p:txBody>
          <a:bodyPr wrap="square"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CSS Variables, Dark Mode</a:t>
            </a:r>
            <a:endParaRPr lang="en-US" sz="1200" dirty="0"/>
          </a:p>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localStorage + Early Injection</a:t>
            </a:r>
            <a:endParaRPr lang="en-US" sz="1200" dirty="0"/>
          </a:p>
        </p:txBody>
      </p:sp>
      <p:sp>
        <p:nvSpPr>
          <p:cNvPr id="29" name="Shape 23"/>
          <p:cNvSpPr/>
          <p:nvPr/>
        </p:nvSpPr>
        <p:spPr>
          <a:xfrm>
            <a:off x="4965192" y="4736592"/>
            <a:ext cx="3749040" cy="36576"/>
          </a:xfrm>
          <a:prstGeom prst="rect">
            <a:avLst/>
          </a:prstGeom>
          <a:solidFill>
            <a:srgbClr val="D97706"/>
          </a:solidFill>
          <a:ln w="12700">
            <a:solidFill>
              <a:srgbClr val="D97706"/>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53570-0DE5-432B-3069-F9A1F5FFCF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CC77B10-064A-AF69-4913-A0B8FDBFDC8D}"/>
              </a:ext>
            </a:extLst>
          </p:cNvPr>
          <p:cNvSpPr/>
          <p:nvPr/>
        </p:nvSpPr>
        <p:spPr>
          <a:xfrm>
            <a:off x="0" y="0"/>
            <a:ext cx="9144000" cy="502920"/>
          </a:xfrm>
          <a:prstGeom prst="rect">
            <a:avLst/>
          </a:prstGeom>
          <a:solidFill>
            <a:srgbClr val="EA580C"/>
          </a:solidFill>
          <a:ln w="12700">
            <a:solidFill>
              <a:srgbClr val="EA580C"/>
            </a:solidFill>
            <a:prstDash val="solid"/>
          </a:ln>
        </p:spPr>
        <p:txBody>
          <a:bodyPr/>
          <a:lstStyle/>
          <a:p>
            <a:endParaRPr lang="en-US"/>
          </a:p>
        </p:txBody>
      </p:sp>
      <p:sp>
        <p:nvSpPr>
          <p:cNvPr id="3" name="Text 1">
            <a:extLst>
              <a:ext uri="{FF2B5EF4-FFF2-40B4-BE49-F238E27FC236}">
                <a16:creationId xmlns:a16="http://schemas.microsoft.com/office/drawing/2014/main" id="{98BC2BF9-4E84-06AA-F80F-F862E55FEC2A}"/>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GIẢI PHÁP KỸ THUẬT 06</a:t>
            </a:r>
            <a:endParaRPr lang="en-US" sz="1100" dirty="0"/>
          </a:p>
        </p:txBody>
      </p:sp>
      <p:sp>
        <p:nvSpPr>
          <p:cNvPr id="4" name="Text 2">
            <a:extLst>
              <a:ext uri="{FF2B5EF4-FFF2-40B4-BE49-F238E27FC236}">
                <a16:creationId xmlns:a16="http://schemas.microsoft.com/office/drawing/2014/main" id="{0A88962B-9594-B60D-C23D-C60EC66C8779}"/>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Cross-page UI State — Dark / Light Mode liền mạch</a:t>
            </a:r>
            <a:endParaRPr lang="en-US" sz="3000" dirty="0"/>
          </a:p>
        </p:txBody>
      </p:sp>
      <p:sp>
        <p:nvSpPr>
          <p:cNvPr id="5" name="Shape 3">
            <a:extLst>
              <a:ext uri="{FF2B5EF4-FFF2-40B4-BE49-F238E27FC236}">
                <a16:creationId xmlns:a16="http://schemas.microsoft.com/office/drawing/2014/main" id="{A9DD43D7-6E68-EC91-C459-80D825DD023A}"/>
              </a:ext>
            </a:extLst>
          </p:cNvPr>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pic>
        <p:nvPicPr>
          <p:cNvPr id="36" name="Picture 35">
            <a:extLst>
              <a:ext uri="{FF2B5EF4-FFF2-40B4-BE49-F238E27FC236}">
                <a16:creationId xmlns:a16="http://schemas.microsoft.com/office/drawing/2014/main" id="{5218CA5B-00F2-D5F5-BDC2-EC93C975D1B7}"/>
              </a:ext>
            </a:extLst>
          </p:cNvPr>
          <p:cNvPicPr>
            <a:picLocks noChangeAspect="1"/>
          </p:cNvPicPr>
          <p:nvPr/>
        </p:nvPicPr>
        <p:blipFill>
          <a:blip r:embed="rId3"/>
          <a:stretch>
            <a:fillRect/>
          </a:stretch>
        </p:blipFill>
        <p:spPr>
          <a:xfrm>
            <a:off x="274320" y="1649916"/>
            <a:ext cx="4103001" cy="2249102"/>
          </a:xfrm>
          <a:prstGeom prst="rect">
            <a:avLst/>
          </a:prstGeom>
        </p:spPr>
      </p:pic>
      <p:pic>
        <p:nvPicPr>
          <p:cNvPr id="38" name="Picture 37">
            <a:extLst>
              <a:ext uri="{FF2B5EF4-FFF2-40B4-BE49-F238E27FC236}">
                <a16:creationId xmlns:a16="http://schemas.microsoft.com/office/drawing/2014/main" id="{57AC8642-3CDC-5838-CBEA-FF97CB86FAC2}"/>
              </a:ext>
            </a:extLst>
          </p:cNvPr>
          <p:cNvPicPr>
            <a:picLocks noChangeAspect="1"/>
          </p:cNvPicPr>
          <p:nvPr/>
        </p:nvPicPr>
        <p:blipFill>
          <a:blip r:embed="rId4"/>
          <a:stretch>
            <a:fillRect/>
          </a:stretch>
        </p:blipFill>
        <p:spPr>
          <a:xfrm>
            <a:off x="4650294" y="1649916"/>
            <a:ext cx="4100842" cy="2250000"/>
          </a:xfrm>
          <a:prstGeom prst="rect">
            <a:avLst/>
          </a:prstGeom>
        </p:spPr>
      </p:pic>
      <p:sp>
        <p:nvSpPr>
          <p:cNvPr id="6" name="Shape 0">
            <a:extLst>
              <a:ext uri="{FF2B5EF4-FFF2-40B4-BE49-F238E27FC236}">
                <a16:creationId xmlns:a16="http://schemas.microsoft.com/office/drawing/2014/main" id="{DFC8DBDE-F24F-1425-B0A9-2401EFBC9B9B}"/>
              </a:ext>
            </a:extLst>
          </p:cNvPr>
          <p:cNvSpPr/>
          <p:nvPr/>
        </p:nvSpPr>
        <p:spPr>
          <a:xfrm>
            <a:off x="0" y="9144"/>
            <a:ext cx="9144000" cy="502920"/>
          </a:xfrm>
          <a:prstGeom prst="rect">
            <a:avLst/>
          </a:prstGeom>
          <a:solidFill>
            <a:srgbClr val="EA580C"/>
          </a:solidFill>
          <a:ln w="12700">
            <a:solidFill>
              <a:srgbClr val="EA580C"/>
            </a:solidFill>
            <a:prstDash val="solid"/>
          </a:ln>
        </p:spPr>
        <p:txBody>
          <a:bodyPr/>
          <a:lstStyle/>
          <a:p>
            <a:endParaRPr lang="en-US"/>
          </a:p>
        </p:txBody>
      </p:sp>
      <p:sp>
        <p:nvSpPr>
          <p:cNvPr id="7" name="Text 1">
            <a:extLst>
              <a:ext uri="{FF2B5EF4-FFF2-40B4-BE49-F238E27FC236}">
                <a16:creationId xmlns:a16="http://schemas.microsoft.com/office/drawing/2014/main" id="{0D3A28E7-992A-DAB5-750A-8295683BE1D1}"/>
              </a:ext>
            </a:extLst>
          </p:cNvPr>
          <p:cNvSpPr/>
          <p:nvPr/>
        </p:nvSpPr>
        <p:spPr>
          <a:xfrm>
            <a:off x="274320" y="9144"/>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
        <p:nvSpPr>
          <p:cNvPr id="8" name="TextBox 7">
            <a:extLst>
              <a:ext uri="{FF2B5EF4-FFF2-40B4-BE49-F238E27FC236}">
                <a16:creationId xmlns:a16="http://schemas.microsoft.com/office/drawing/2014/main" id="{00788746-273B-B753-BF9C-64E189380D35}"/>
              </a:ext>
            </a:extLst>
          </p:cNvPr>
          <p:cNvSpPr txBox="1"/>
          <p:nvPr/>
        </p:nvSpPr>
        <p:spPr>
          <a:xfrm>
            <a:off x="1503380" y="3899916"/>
            <a:ext cx="1218603" cy="369332"/>
          </a:xfrm>
          <a:prstGeom prst="rect">
            <a:avLst/>
          </a:prstGeom>
          <a:noFill/>
        </p:spPr>
        <p:txBody>
          <a:bodyPr wrap="none" rtlCol="0">
            <a:spAutoFit/>
          </a:bodyPr>
          <a:lstStyle/>
          <a:p>
            <a:r>
              <a:rPr lang="en-US" dirty="0"/>
              <a:t>Dark mode</a:t>
            </a:r>
          </a:p>
        </p:txBody>
      </p:sp>
      <p:sp>
        <p:nvSpPr>
          <p:cNvPr id="9" name="TextBox 8">
            <a:extLst>
              <a:ext uri="{FF2B5EF4-FFF2-40B4-BE49-F238E27FC236}">
                <a16:creationId xmlns:a16="http://schemas.microsoft.com/office/drawing/2014/main" id="{A824DCE8-3DF1-16DF-6D4C-2A16E5BAFD73}"/>
              </a:ext>
            </a:extLst>
          </p:cNvPr>
          <p:cNvSpPr txBox="1"/>
          <p:nvPr/>
        </p:nvSpPr>
        <p:spPr>
          <a:xfrm>
            <a:off x="6091413" y="3899916"/>
            <a:ext cx="1237326" cy="369332"/>
          </a:xfrm>
          <a:prstGeom prst="rect">
            <a:avLst/>
          </a:prstGeom>
          <a:noFill/>
        </p:spPr>
        <p:txBody>
          <a:bodyPr wrap="none" rtlCol="0">
            <a:spAutoFit/>
          </a:bodyPr>
          <a:lstStyle/>
          <a:p>
            <a:r>
              <a:rPr lang="en-US" dirty="0"/>
              <a:t>Light mode</a:t>
            </a:r>
          </a:p>
        </p:txBody>
      </p:sp>
    </p:spTree>
    <p:extLst>
      <p:ext uri="{BB962C8B-B14F-4D97-AF65-F5344CB8AC3E}">
        <p14:creationId xmlns:p14="http://schemas.microsoft.com/office/powerpoint/2010/main" val="3436011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B7B9B-B779-2770-2D9C-765F3A3368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1A229C-7CF6-7FC7-3D4B-11D8C05A83A5}"/>
              </a:ext>
            </a:extLst>
          </p:cNvPr>
          <p:cNvSpPr/>
          <p:nvPr/>
        </p:nvSpPr>
        <p:spPr>
          <a:xfrm>
            <a:off x="0" y="0"/>
            <a:ext cx="9144000" cy="502920"/>
          </a:xfrm>
          <a:prstGeom prst="rect">
            <a:avLst/>
          </a:prstGeom>
          <a:solidFill>
            <a:srgbClr val="0891B2"/>
          </a:solidFill>
          <a:ln w="12700">
            <a:solidFill>
              <a:srgbClr val="0891B2"/>
            </a:solidFill>
            <a:prstDash val="solid"/>
          </a:ln>
        </p:spPr>
        <p:txBody>
          <a:bodyPr/>
          <a:lstStyle/>
          <a:p>
            <a:endParaRPr lang="en-US"/>
          </a:p>
        </p:txBody>
      </p:sp>
      <p:sp>
        <p:nvSpPr>
          <p:cNvPr id="3" name="Text 1">
            <a:extLst>
              <a:ext uri="{FF2B5EF4-FFF2-40B4-BE49-F238E27FC236}">
                <a16:creationId xmlns:a16="http://schemas.microsoft.com/office/drawing/2014/main" id="{AF6AFD67-499E-0C11-D754-74F3F854F23F}"/>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2 — CƠ SỞ LÝ THUYẾT</a:t>
            </a:r>
            <a:endParaRPr lang="en-US" sz="1100" dirty="0"/>
          </a:p>
        </p:txBody>
      </p:sp>
      <p:sp>
        <p:nvSpPr>
          <p:cNvPr id="4" name="Text 2">
            <a:extLst>
              <a:ext uri="{FF2B5EF4-FFF2-40B4-BE49-F238E27FC236}">
                <a16:creationId xmlns:a16="http://schemas.microsoft.com/office/drawing/2014/main" id="{C91095F7-58CA-A4A1-0B63-4401B595B7CB}"/>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Danh sách liên kết đơn (Singly Linked List)</a:t>
            </a:r>
            <a:endParaRPr lang="en-US" sz="3000" dirty="0"/>
          </a:p>
        </p:txBody>
      </p:sp>
      <p:sp>
        <p:nvSpPr>
          <p:cNvPr id="5" name="Shape 3">
            <a:extLst>
              <a:ext uri="{FF2B5EF4-FFF2-40B4-BE49-F238E27FC236}">
                <a16:creationId xmlns:a16="http://schemas.microsoft.com/office/drawing/2014/main" id="{8E6802BE-7A20-91D7-DE94-7A92B1614421}"/>
              </a:ext>
            </a:extLst>
          </p:cNvPr>
          <p:cNvSpPr/>
          <p:nvPr/>
        </p:nvSpPr>
        <p:spPr>
          <a:xfrm>
            <a:off x="320040" y="1243584"/>
            <a:ext cx="8503920" cy="32004"/>
          </a:xfrm>
          <a:prstGeom prst="rect">
            <a:avLst/>
          </a:prstGeom>
          <a:solidFill>
            <a:srgbClr val="0891B2"/>
          </a:solidFill>
          <a:ln w="12700">
            <a:solidFill>
              <a:srgbClr val="0891B2"/>
            </a:solidFill>
            <a:prstDash val="solid"/>
          </a:ln>
        </p:spPr>
        <p:txBody>
          <a:bodyPr/>
          <a:lstStyle/>
          <a:p>
            <a:endParaRPr lang="en-US"/>
          </a:p>
        </p:txBody>
      </p:sp>
      <p:pic>
        <p:nvPicPr>
          <p:cNvPr id="9" name="Picture 8">
            <a:extLst>
              <a:ext uri="{FF2B5EF4-FFF2-40B4-BE49-F238E27FC236}">
                <a16:creationId xmlns:a16="http://schemas.microsoft.com/office/drawing/2014/main" id="{717932A5-8E65-C497-B779-6BD4574B5F6C}"/>
              </a:ext>
            </a:extLst>
          </p:cNvPr>
          <p:cNvPicPr>
            <a:picLocks noChangeAspect="1"/>
          </p:cNvPicPr>
          <p:nvPr/>
        </p:nvPicPr>
        <p:blipFill>
          <a:blip r:embed="rId3"/>
          <a:stretch>
            <a:fillRect/>
          </a:stretch>
        </p:blipFill>
        <p:spPr>
          <a:xfrm>
            <a:off x="914402" y="1312164"/>
            <a:ext cx="7003913" cy="3786311"/>
          </a:xfrm>
          <a:prstGeom prst="rect">
            <a:avLst/>
          </a:prstGeom>
        </p:spPr>
      </p:pic>
      <p:sp>
        <p:nvSpPr>
          <p:cNvPr id="6" name="Shape 0">
            <a:extLst>
              <a:ext uri="{FF2B5EF4-FFF2-40B4-BE49-F238E27FC236}">
                <a16:creationId xmlns:a16="http://schemas.microsoft.com/office/drawing/2014/main" id="{C4F5377E-3755-B928-02D0-EBAB2038E85C}"/>
              </a:ext>
            </a:extLst>
          </p:cNvPr>
          <p:cNvSpPr/>
          <p:nvPr/>
        </p:nvSpPr>
        <p:spPr>
          <a:xfrm>
            <a:off x="0" y="3242"/>
            <a:ext cx="9144000" cy="502920"/>
          </a:xfrm>
          <a:prstGeom prst="rect">
            <a:avLst/>
          </a:prstGeom>
          <a:solidFill>
            <a:srgbClr val="EA580C"/>
          </a:solidFill>
          <a:ln w="12700">
            <a:solidFill>
              <a:srgbClr val="EA580C"/>
            </a:solidFill>
            <a:prstDash val="solid"/>
          </a:ln>
        </p:spPr>
        <p:txBody>
          <a:bodyPr/>
          <a:lstStyle/>
          <a:p>
            <a:endParaRPr lang="en-US"/>
          </a:p>
        </p:txBody>
      </p:sp>
      <p:sp>
        <p:nvSpPr>
          <p:cNvPr id="7" name="Text 1">
            <a:extLst>
              <a:ext uri="{FF2B5EF4-FFF2-40B4-BE49-F238E27FC236}">
                <a16:creationId xmlns:a16="http://schemas.microsoft.com/office/drawing/2014/main" id="{2D0F697A-661A-30CB-C616-A38D7D7C99D5}"/>
              </a:ext>
            </a:extLst>
          </p:cNvPr>
          <p:cNvSpPr/>
          <p:nvPr/>
        </p:nvSpPr>
        <p:spPr>
          <a:xfrm>
            <a:off x="274320" y="324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Tree>
    <p:extLst>
      <p:ext uri="{BB962C8B-B14F-4D97-AF65-F5344CB8AC3E}">
        <p14:creationId xmlns:p14="http://schemas.microsoft.com/office/powerpoint/2010/main" val="855667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F1CB-29CB-B6A5-4D52-A5FA7F44837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69FC421-2EC3-4249-5CF1-800C617687E3}"/>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Cây nhị phân tìm kiếm (Binary Search Tree)</a:t>
            </a:r>
            <a:endParaRPr lang="en-US" sz="3000" dirty="0"/>
          </a:p>
        </p:txBody>
      </p:sp>
      <p:sp>
        <p:nvSpPr>
          <p:cNvPr id="5" name="Shape 3">
            <a:extLst>
              <a:ext uri="{FF2B5EF4-FFF2-40B4-BE49-F238E27FC236}">
                <a16:creationId xmlns:a16="http://schemas.microsoft.com/office/drawing/2014/main" id="{6CD7BF5A-9493-ED06-7834-CE5803D9A321}"/>
              </a:ext>
            </a:extLst>
          </p:cNvPr>
          <p:cNvSpPr/>
          <p:nvPr/>
        </p:nvSpPr>
        <p:spPr>
          <a:xfrm>
            <a:off x="320040" y="1243584"/>
            <a:ext cx="8503920" cy="32004"/>
          </a:xfrm>
          <a:prstGeom prst="rect">
            <a:avLst/>
          </a:prstGeom>
          <a:solidFill>
            <a:srgbClr val="0891B2"/>
          </a:solidFill>
          <a:ln w="12700">
            <a:solidFill>
              <a:srgbClr val="0891B2"/>
            </a:solidFill>
            <a:prstDash val="solid"/>
          </a:ln>
        </p:spPr>
        <p:txBody>
          <a:bodyPr/>
          <a:lstStyle/>
          <a:p>
            <a:endParaRPr lang="en-US"/>
          </a:p>
        </p:txBody>
      </p:sp>
      <p:pic>
        <p:nvPicPr>
          <p:cNvPr id="24" name="Picture 23">
            <a:extLst>
              <a:ext uri="{FF2B5EF4-FFF2-40B4-BE49-F238E27FC236}">
                <a16:creationId xmlns:a16="http://schemas.microsoft.com/office/drawing/2014/main" id="{3F0A41DA-6856-4A5B-677B-3BCC5D896F70}"/>
              </a:ext>
            </a:extLst>
          </p:cNvPr>
          <p:cNvPicPr>
            <a:picLocks noChangeAspect="1"/>
          </p:cNvPicPr>
          <p:nvPr/>
        </p:nvPicPr>
        <p:blipFill>
          <a:blip r:embed="rId3"/>
          <a:stretch>
            <a:fillRect/>
          </a:stretch>
        </p:blipFill>
        <p:spPr>
          <a:xfrm>
            <a:off x="1128409" y="1312164"/>
            <a:ext cx="6887182" cy="3794518"/>
          </a:xfrm>
          <a:prstGeom prst="rect">
            <a:avLst/>
          </a:prstGeom>
        </p:spPr>
      </p:pic>
      <p:sp>
        <p:nvSpPr>
          <p:cNvPr id="6" name="Shape 0">
            <a:extLst>
              <a:ext uri="{FF2B5EF4-FFF2-40B4-BE49-F238E27FC236}">
                <a16:creationId xmlns:a16="http://schemas.microsoft.com/office/drawing/2014/main" id="{FDEB07DB-B6A6-9478-0085-E783F7B87D9D}"/>
              </a:ext>
            </a:extLst>
          </p:cNvPr>
          <p:cNvSpPr/>
          <p:nvPr/>
        </p:nvSpPr>
        <p:spPr>
          <a:xfrm>
            <a:off x="0" y="0"/>
            <a:ext cx="9144000" cy="502920"/>
          </a:xfrm>
          <a:prstGeom prst="rect">
            <a:avLst/>
          </a:prstGeom>
          <a:solidFill>
            <a:srgbClr val="EA580C"/>
          </a:solidFill>
          <a:ln w="12700">
            <a:solidFill>
              <a:srgbClr val="EA580C"/>
            </a:solidFill>
            <a:prstDash val="solid"/>
          </a:ln>
        </p:spPr>
        <p:txBody>
          <a:bodyPr/>
          <a:lstStyle/>
          <a:p>
            <a:endParaRPr lang="en-US"/>
          </a:p>
        </p:txBody>
      </p:sp>
      <p:sp>
        <p:nvSpPr>
          <p:cNvPr id="7" name="Text 1">
            <a:extLst>
              <a:ext uri="{FF2B5EF4-FFF2-40B4-BE49-F238E27FC236}">
                <a16:creationId xmlns:a16="http://schemas.microsoft.com/office/drawing/2014/main" id="{611A5094-15A9-56A8-C443-79FD1B9BEE30}"/>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Tree>
    <p:extLst>
      <p:ext uri="{BB962C8B-B14F-4D97-AF65-F5344CB8AC3E}">
        <p14:creationId xmlns:p14="http://schemas.microsoft.com/office/powerpoint/2010/main" val="3801251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GIẢI PHÁP KỸ THUẬT 02</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Dynamic BST Rendering — Đồ họa cây tự động</a:t>
            </a:r>
            <a:endParaRPr lang="en-US" sz="3000" dirty="0"/>
          </a:p>
        </p:txBody>
      </p:sp>
      <p:sp>
        <p:nvSpPr>
          <p:cNvPr id="5" name="Shape 3"/>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320040" y="1371600"/>
            <a:ext cx="8503920" cy="2487168"/>
          </a:xfrm>
          <a:prstGeom prst="rect">
            <a:avLst/>
          </a:prstGeom>
        </p:spPr>
      </p:pic>
      <p:sp>
        <p:nvSpPr>
          <p:cNvPr id="7" name="Shape 4"/>
          <p:cNvSpPr/>
          <p:nvPr/>
        </p:nvSpPr>
        <p:spPr>
          <a:xfrm>
            <a:off x="320040" y="3977640"/>
            <a:ext cx="269748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320040" y="3977640"/>
            <a:ext cx="2697480" cy="54864"/>
          </a:xfrm>
          <a:prstGeom prst="rect">
            <a:avLst/>
          </a:prstGeom>
          <a:solidFill>
            <a:srgbClr val="2563EB"/>
          </a:solidFill>
          <a:ln w="12700">
            <a:solidFill>
              <a:srgbClr val="2563EB"/>
            </a:solidFill>
            <a:prstDash val="solid"/>
          </a:ln>
        </p:spPr>
        <p:txBody>
          <a:bodyPr/>
          <a:lstStyle/>
          <a:p>
            <a:endParaRPr lang="en-US"/>
          </a:p>
        </p:txBody>
      </p:sp>
      <p:sp>
        <p:nvSpPr>
          <p:cNvPr id="9" name="Text 6"/>
          <p:cNvSpPr/>
          <p:nvPr/>
        </p:nvSpPr>
        <p:spPr>
          <a:xfrm>
            <a:off x="457200" y="4087368"/>
            <a:ext cx="2423160" cy="329184"/>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Tọa độ đệ quy</a:t>
            </a:r>
            <a:endParaRPr lang="en-US" sz="1300" dirty="0"/>
          </a:p>
        </p:txBody>
      </p:sp>
      <p:sp>
        <p:nvSpPr>
          <p:cNvPr id="10" name="Text 7"/>
          <p:cNvSpPr/>
          <p:nvPr/>
        </p:nvSpPr>
        <p:spPr>
          <a:xfrm>
            <a:off x="457200" y="4462272"/>
            <a:ext cx="2423160" cy="457200"/>
          </a:xfrm>
          <a:prstGeom prst="rect">
            <a:avLst/>
          </a:prstGeom>
          <a:noFill/>
          <a:ln/>
        </p:spPr>
        <p:txBody>
          <a:bodyPr wrap="square"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nextGap = max(35, hGap/1.7)</a:t>
            </a:r>
            <a:endParaRPr lang="en-US" sz="1100" dirty="0"/>
          </a:p>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Chống va chạm hình học</a:t>
            </a:r>
            <a:endParaRPr lang="en-US" sz="1100" dirty="0"/>
          </a:p>
        </p:txBody>
      </p:sp>
      <p:sp>
        <p:nvSpPr>
          <p:cNvPr id="11" name="Shape 8"/>
          <p:cNvSpPr/>
          <p:nvPr/>
        </p:nvSpPr>
        <p:spPr>
          <a:xfrm>
            <a:off x="3200400" y="3977640"/>
            <a:ext cx="269748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3200400" y="3977640"/>
            <a:ext cx="2697480" cy="54864"/>
          </a:xfrm>
          <a:prstGeom prst="rect">
            <a:avLst/>
          </a:prstGeom>
          <a:solidFill>
            <a:srgbClr val="D97706"/>
          </a:solidFill>
          <a:ln w="12700">
            <a:solidFill>
              <a:srgbClr val="D97706"/>
            </a:solidFill>
            <a:prstDash val="solid"/>
          </a:ln>
        </p:spPr>
        <p:txBody>
          <a:bodyPr/>
          <a:lstStyle/>
          <a:p>
            <a:endParaRPr lang="en-US"/>
          </a:p>
        </p:txBody>
      </p:sp>
      <p:sp>
        <p:nvSpPr>
          <p:cNvPr id="13" name="Text 10"/>
          <p:cNvSpPr/>
          <p:nvPr/>
        </p:nvSpPr>
        <p:spPr>
          <a:xfrm>
            <a:off x="3337560" y="4087368"/>
            <a:ext cx="2423160" cy="329184"/>
          </a:xfrm>
          <a:prstGeom prst="rect">
            <a:avLst/>
          </a:prstGeom>
          <a:noFill/>
          <a:ln/>
        </p:spPr>
        <p:txBody>
          <a:bodyPr wrap="square"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Auto-Scaling</a:t>
            </a:r>
            <a:endParaRPr lang="en-US" sz="1300" dirty="0"/>
          </a:p>
        </p:txBody>
      </p:sp>
      <p:sp>
        <p:nvSpPr>
          <p:cNvPr id="14" name="Text 11"/>
          <p:cNvSpPr/>
          <p:nvPr/>
        </p:nvSpPr>
        <p:spPr>
          <a:xfrm>
            <a:off x="3337560" y="4462272"/>
            <a:ext cx="2423160" cy="457200"/>
          </a:xfrm>
          <a:prstGeom prst="rect">
            <a:avLst/>
          </a:prstGeom>
          <a:noFill/>
          <a:ln/>
        </p:spPr>
        <p:txBody>
          <a:bodyPr wrap="square"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currentScale = max(0.5, 4/h)</a:t>
            </a:r>
            <a:endParaRPr lang="en-US" sz="1100" dirty="0"/>
          </a:p>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Scale Node + Font đồng bộ</a:t>
            </a:r>
            <a:endParaRPr lang="en-US" sz="1100" dirty="0"/>
          </a:p>
        </p:txBody>
      </p:sp>
      <p:sp>
        <p:nvSpPr>
          <p:cNvPr id="15" name="Shape 12"/>
          <p:cNvSpPr/>
          <p:nvPr/>
        </p:nvSpPr>
        <p:spPr>
          <a:xfrm>
            <a:off x="6080760" y="3977640"/>
            <a:ext cx="269748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p:cNvSpPr/>
          <p:nvPr/>
        </p:nvSpPr>
        <p:spPr>
          <a:xfrm>
            <a:off x="6080760" y="3977640"/>
            <a:ext cx="2697480" cy="54864"/>
          </a:xfrm>
          <a:prstGeom prst="rect">
            <a:avLst/>
          </a:prstGeom>
          <a:solidFill>
            <a:srgbClr val="0891B2"/>
          </a:solidFill>
          <a:ln w="12700">
            <a:solidFill>
              <a:srgbClr val="0891B2"/>
            </a:solidFill>
            <a:prstDash val="solid"/>
          </a:ln>
        </p:spPr>
        <p:txBody>
          <a:bodyPr/>
          <a:lstStyle/>
          <a:p>
            <a:endParaRPr lang="en-US"/>
          </a:p>
        </p:txBody>
      </p:sp>
      <p:sp>
        <p:nvSpPr>
          <p:cNvPr id="17" name="Text 14"/>
          <p:cNvSpPr/>
          <p:nvPr/>
        </p:nvSpPr>
        <p:spPr>
          <a:xfrm>
            <a:off x="6217920" y="4087368"/>
            <a:ext cx="2423160" cy="329184"/>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Hybrid DOM + SVG</a:t>
            </a:r>
            <a:endParaRPr lang="en-US" sz="1300" dirty="0"/>
          </a:p>
        </p:txBody>
      </p:sp>
      <p:sp>
        <p:nvSpPr>
          <p:cNvPr id="18" name="Text 15"/>
          <p:cNvSpPr/>
          <p:nvPr/>
        </p:nvSpPr>
        <p:spPr>
          <a:xfrm>
            <a:off x="6217920" y="4462272"/>
            <a:ext cx="2423160" cy="457200"/>
          </a:xfrm>
          <a:prstGeom prst="rect">
            <a:avLst/>
          </a:prstGeom>
          <a:noFill/>
          <a:ln/>
        </p:spPr>
        <p:txBody>
          <a:bodyPr wrap="square"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&lt;div&gt; cho Node, &lt;line&gt; SVG cho cạnh</a:t>
            </a:r>
            <a:endParaRPr lang="en-US" sz="1100" dirty="0"/>
          </a:p>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Hiệu ứng CSS transition</a:t>
            </a:r>
            <a:endParaRPr lang="en-US" sz="1100" dirty="0"/>
          </a:p>
        </p:txBody>
      </p:sp>
      <p:sp>
        <p:nvSpPr>
          <p:cNvPr id="21" name="Shape 0">
            <a:extLst>
              <a:ext uri="{FF2B5EF4-FFF2-40B4-BE49-F238E27FC236}">
                <a16:creationId xmlns:a16="http://schemas.microsoft.com/office/drawing/2014/main" id="{13207F7E-C983-8DA7-906C-48DCC3579203}"/>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22" name="Text 1">
            <a:extLst>
              <a:ext uri="{FF2B5EF4-FFF2-40B4-BE49-F238E27FC236}">
                <a16:creationId xmlns:a16="http://schemas.microsoft.com/office/drawing/2014/main" id="{203CEC77-6780-6126-409C-D0DB868FC321}"/>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Time-Travel Engine — Mô phỏng từng bước</a:t>
            </a:r>
            <a:endParaRPr lang="en-US" sz="3000" dirty="0"/>
          </a:p>
        </p:txBody>
      </p:sp>
      <p:sp>
        <p:nvSpPr>
          <p:cNvPr id="5" name="Shape 3"/>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sp>
        <p:nvSpPr>
          <p:cNvPr id="17" name="Shape 0">
            <a:extLst>
              <a:ext uri="{FF2B5EF4-FFF2-40B4-BE49-F238E27FC236}">
                <a16:creationId xmlns:a16="http://schemas.microsoft.com/office/drawing/2014/main" id="{BDDD38C1-3208-02FD-4471-9515CDF09B51}"/>
              </a:ext>
            </a:extLst>
          </p:cNvPr>
          <p:cNvSpPr/>
          <p:nvPr/>
        </p:nvSpPr>
        <p:spPr>
          <a:xfrm>
            <a:off x="0" y="0"/>
            <a:ext cx="9144000" cy="502920"/>
          </a:xfrm>
          <a:prstGeom prst="rect">
            <a:avLst/>
          </a:prstGeom>
          <a:solidFill>
            <a:srgbClr val="EA580C"/>
          </a:solidFill>
          <a:ln w="12700">
            <a:solidFill>
              <a:srgbClr val="EA580C"/>
            </a:solidFill>
            <a:prstDash val="solid"/>
          </a:ln>
        </p:spPr>
        <p:txBody>
          <a:bodyPr/>
          <a:lstStyle/>
          <a:p>
            <a:endParaRPr lang="en-US"/>
          </a:p>
        </p:txBody>
      </p:sp>
      <p:sp>
        <p:nvSpPr>
          <p:cNvPr id="18" name="Text 1">
            <a:extLst>
              <a:ext uri="{FF2B5EF4-FFF2-40B4-BE49-F238E27FC236}">
                <a16:creationId xmlns:a16="http://schemas.microsoft.com/office/drawing/2014/main" id="{2110F340-82E7-2025-8D4F-37A1DEC1CD2E}"/>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pic>
        <p:nvPicPr>
          <p:cNvPr id="21" name="Picture 20">
            <a:extLst>
              <a:ext uri="{FF2B5EF4-FFF2-40B4-BE49-F238E27FC236}">
                <a16:creationId xmlns:a16="http://schemas.microsoft.com/office/drawing/2014/main" id="{2D9B04AF-E300-6607-4365-398DF76DFA2F}"/>
              </a:ext>
            </a:extLst>
          </p:cNvPr>
          <p:cNvPicPr>
            <a:picLocks noChangeAspect="1"/>
          </p:cNvPicPr>
          <p:nvPr/>
        </p:nvPicPr>
        <p:blipFill>
          <a:blip r:embed="rId3"/>
          <a:stretch>
            <a:fillRect/>
          </a:stretch>
        </p:blipFill>
        <p:spPr>
          <a:xfrm>
            <a:off x="56707" y="1312164"/>
            <a:ext cx="9030586" cy="3364030"/>
          </a:xfrm>
          <a:prstGeom prst="rect">
            <a:avLst/>
          </a:prstGeom>
        </p:spPr>
      </p:pic>
      <p:sp>
        <p:nvSpPr>
          <p:cNvPr id="23" name="TextBox 22">
            <a:extLst>
              <a:ext uri="{FF2B5EF4-FFF2-40B4-BE49-F238E27FC236}">
                <a16:creationId xmlns:a16="http://schemas.microsoft.com/office/drawing/2014/main" id="{0BEDE947-E8F3-F118-6578-6CFB5AF03511}"/>
              </a:ext>
            </a:extLst>
          </p:cNvPr>
          <p:cNvSpPr txBox="1"/>
          <p:nvPr/>
        </p:nvSpPr>
        <p:spPr>
          <a:xfrm>
            <a:off x="253055" y="4458184"/>
            <a:ext cx="7721364" cy="646331"/>
          </a:xfrm>
          <a:prstGeom prst="rect">
            <a:avLst/>
          </a:prstGeom>
          <a:noFill/>
        </p:spPr>
        <p:txBody>
          <a:bodyPr wrap="square">
            <a:spAutoFit/>
          </a:bodyPr>
          <a:lstStyle/>
          <a:p>
            <a:r>
              <a:rPr lang="en-US" dirty="0" err="1"/>
              <a:t>Thuật</a:t>
            </a:r>
            <a:r>
              <a:rPr lang="en-US" dirty="0"/>
              <a:t> </a:t>
            </a:r>
            <a:r>
              <a:rPr lang="en-US" dirty="0" err="1"/>
              <a:t>toán</a:t>
            </a:r>
            <a:r>
              <a:rPr lang="en-US" dirty="0"/>
              <a:t> </a:t>
            </a:r>
            <a:r>
              <a:rPr lang="en-US" dirty="0" err="1"/>
              <a:t>chạy</a:t>
            </a:r>
            <a:r>
              <a:rPr lang="en-US" dirty="0"/>
              <a:t> </a:t>
            </a:r>
            <a:r>
              <a:rPr lang="en-US" dirty="0" err="1"/>
              <a:t>ngầm</a:t>
            </a:r>
            <a:r>
              <a:rPr lang="en-US" dirty="0"/>
              <a:t> </a:t>
            </a:r>
            <a:r>
              <a:rPr lang="en-US" dirty="0" err="1"/>
              <a:t>tạo</a:t>
            </a:r>
            <a:r>
              <a:rPr lang="en-US" dirty="0"/>
              <a:t> </a:t>
            </a:r>
            <a:r>
              <a:rPr lang="en-US" dirty="0" err="1"/>
              <a:t>các</a:t>
            </a:r>
            <a:r>
              <a:rPr lang="en-US" dirty="0"/>
              <a:t> snapshot </a:t>
            </a:r>
            <a:r>
              <a:rPr lang="en-US" dirty="0" err="1"/>
              <a:t>trạng</a:t>
            </a:r>
            <a:r>
              <a:rPr lang="en-US" dirty="0"/>
              <a:t> </a:t>
            </a:r>
            <a:r>
              <a:rPr lang="en-US" dirty="0" err="1"/>
              <a:t>thái</a:t>
            </a:r>
            <a:r>
              <a:rPr lang="en-US" dirty="0"/>
              <a:t>, Player Engine </a:t>
            </a:r>
            <a:r>
              <a:rPr lang="en-US" dirty="0" err="1"/>
              <a:t>đọc</a:t>
            </a:r>
            <a:r>
              <a:rPr lang="en-US" dirty="0"/>
              <a:t> snapshot </a:t>
            </a:r>
            <a:r>
              <a:rPr lang="en-US" dirty="0" err="1"/>
              <a:t>từ</a:t>
            </a:r>
            <a:r>
              <a:rPr lang="en-US" dirty="0"/>
              <a:t> queue </a:t>
            </a:r>
            <a:r>
              <a:rPr lang="en-US" dirty="0" err="1"/>
              <a:t>và</a:t>
            </a:r>
            <a:r>
              <a:rPr lang="en-US" dirty="0"/>
              <a:t> </a:t>
            </a:r>
            <a:r>
              <a:rPr lang="en-US" dirty="0" err="1"/>
              <a:t>hiển</a:t>
            </a:r>
            <a:r>
              <a:rPr lang="en-US" dirty="0"/>
              <a:t> </a:t>
            </a:r>
            <a:r>
              <a:rPr lang="en-US" dirty="0" err="1"/>
              <a:t>thị</a:t>
            </a:r>
            <a:r>
              <a:rPr lang="en-US" dirty="0"/>
              <a:t> </a:t>
            </a:r>
            <a:r>
              <a:rPr lang="en-US" dirty="0" err="1"/>
              <a:t>thành</a:t>
            </a:r>
            <a:r>
              <a:rPr lang="en-US" dirty="0"/>
              <a:t> </a:t>
            </a:r>
            <a:r>
              <a:rPr lang="en-US" dirty="0" err="1"/>
              <a:t>hoạt</a:t>
            </a:r>
            <a:r>
              <a:rPr lang="en-US" dirty="0"/>
              <a:t> </a:t>
            </a:r>
            <a:r>
              <a:rPr lang="en-US" dirty="0" err="1"/>
              <a:t>ảnh</a:t>
            </a:r>
            <a:r>
              <a:rPr lang="en-US" dirty="0"/>
              <a:t> </a:t>
            </a:r>
            <a:r>
              <a:rPr lang="en-US" dirty="0" err="1"/>
              <a:t>trực</a:t>
            </a:r>
            <a:r>
              <a:rPr lang="en-US" dirty="0"/>
              <a:t> </a:t>
            </a:r>
            <a:r>
              <a:rPr lang="en-US" dirty="0" err="1"/>
              <a:t>quan</a:t>
            </a:r>
            <a:r>
              <a:rPr lang="en-US" dirty="0"/>
              <a:t> </a:t>
            </a:r>
            <a:r>
              <a:rPr lang="en-US" dirty="0" err="1"/>
              <a:t>theo</a:t>
            </a:r>
            <a:r>
              <a:rPr lang="en-US" dirty="0"/>
              <a:t> </a:t>
            </a:r>
            <a:r>
              <a:rPr lang="en-US" dirty="0" err="1"/>
              <a:t>thời</a:t>
            </a:r>
            <a:r>
              <a:rPr lang="en-US" dirty="0"/>
              <a:t> </a:t>
            </a:r>
            <a:r>
              <a:rPr lang="en-US" dirty="0" err="1"/>
              <a:t>gian</a:t>
            </a:r>
            <a:r>
              <a:rPr lang="en-US" dirty="0"/>
              <a:t> </a:t>
            </a:r>
            <a:r>
              <a:rPr lang="en-US" dirty="0" err="1"/>
              <a:t>thực</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5847A1-AC3A-1CE1-05B7-031765D9938A}"/>
              </a:ext>
            </a:extLst>
          </p:cNvPr>
          <p:cNvPicPr>
            <a:picLocks noChangeAspect="1"/>
          </p:cNvPicPr>
          <p:nvPr/>
        </p:nvPicPr>
        <p:blipFill>
          <a:blip r:embed="rId2"/>
          <a:stretch>
            <a:fillRect/>
          </a:stretch>
        </p:blipFill>
        <p:spPr>
          <a:xfrm>
            <a:off x="941294" y="1312164"/>
            <a:ext cx="7422776" cy="3799332"/>
          </a:xfrm>
          <a:prstGeom prst="rect">
            <a:avLst/>
          </a:prstGeom>
        </p:spPr>
      </p:pic>
      <p:sp>
        <p:nvSpPr>
          <p:cNvPr id="4" name="Rectangle 3">
            <a:extLst>
              <a:ext uri="{FF2B5EF4-FFF2-40B4-BE49-F238E27FC236}">
                <a16:creationId xmlns:a16="http://schemas.microsoft.com/office/drawing/2014/main" id="{25D34E45-81F0-E316-3897-6F4C111B2E72}"/>
              </a:ext>
            </a:extLst>
          </p:cNvPr>
          <p:cNvSpPr/>
          <p:nvPr/>
        </p:nvSpPr>
        <p:spPr>
          <a:xfrm>
            <a:off x="5809165" y="3116019"/>
            <a:ext cx="2487706" cy="191956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2">
            <a:extLst>
              <a:ext uri="{FF2B5EF4-FFF2-40B4-BE49-F238E27FC236}">
                <a16:creationId xmlns:a16="http://schemas.microsoft.com/office/drawing/2014/main" id="{3B3C605C-36B8-26A6-6397-ED38B70CAC1D}"/>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Time-Travel Engine — Mô phỏng từng bước</a:t>
            </a:r>
            <a:endParaRPr lang="en-US" sz="3000" dirty="0"/>
          </a:p>
        </p:txBody>
      </p:sp>
      <p:sp>
        <p:nvSpPr>
          <p:cNvPr id="6" name="Shape 3">
            <a:extLst>
              <a:ext uri="{FF2B5EF4-FFF2-40B4-BE49-F238E27FC236}">
                <a16:creationId xmlns:a16="http://schemas.microsoft.com/office/drawing/2014/main" id="{870DB8E2-30B6-50B1-42B7-B3D15E7619EC}"/>
              </a:ext>
            </a:extLst>
          </p:cNvPr>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sp>
        <p:nvSpPr>
          <p:cNvPr id="7" name="Shape 0">
            <a:extLst>
              <a:ext uri="{FF2B5EF4-FFF2-40B4-BE49-F238E27FC236}">
                <a16:creationId xmlns:a16="http://schemas.microsoft.com/office/drawing/2014/main" id="{3E15FB04-FAAB-6A29-D74D-607302F945BF}"/>
              </a:ext>
            </a:extLst>
          </p:cNvPr>
          <p:cNvSpPr/>
          <p:nvPr/>
        </p:nvSpPr>
        <p:spPr>
          <a:xfrm>
            <a:off x="0" y="0"/>
            <a:ext cx="9144000" cy="502920"/>
          </a:xfrm>
          <a:prstGeom prst="rect">
            <a:avLst/>
          </a:prstGeom>
          <a:solidFill>
            <a:srgbClr val="EA580C"/>
          </a:solidFill>
          <a:ln w="12700">
            <a:solidFill>
              <a:srgbClr val="EA580C"/>
            </a:solidFill>
            <a:prstDash val="solid"/>
          </a:ln>
        </p:spPr>
        <p:txBody>
          <a:bodyPr/>
          <a:lstStyle/>
          <a:p>
            <a:endParaRPr lang="en-US"/>
          </a:p>
        </p:txBody>
      </p:sp>
      <p:sp>
        <p:nvSpPr>
          <p:cNvPr id="8" name="Text 1">
            <a:extLst>
              <a:ext uri="{FF2B5EF4-FFF2-40B4-BE49-F238E27FC236}">
                <a16:creationId xmlns:a16="http://schemas.microsoft.com/office/drawing/2014/main" id="{D529524A-5696-C784-AE19-CA882EB0218C}"/>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
        <p:nvSpPr>
          <p:cNvPr id="9" name="Rectangle 8">
            <a:extLst>
              <a:ext uri="{FF2B5EF4-FFF2-40B4-BE49-F238E27FC236}">
                <a16:creationId xmlns:a16="http://schemas.microsoft.com/office/drawing/2014/main" id="{8ABC5DF3-F338-855E-D3F1-FEE5255E16E5}"/>
              </a:ext>
            </a:extLst>
          </p:cNvPr>
          <p:cNvSpPr/>
          <p:nvPr/>
        </p:nvSpPr>
        <p:spPr>
          <a:xfrm>
            <a:off x="3101266" y="2367515"/>
            <a:ext cx="2487706" cy="35441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D74235-8501-2244-CC43-82C97815F71E}"/>
              </a:ext>
            </a:extLst>
          </p:cNvPr>
          <p:cNvSpPr/>
          <p:nvPr/>
        </p:nvSpPr>
        <p:spPr>
          <a:xfrm>
            <a:off x="7152167" y="2394540"/>
            <a:ext cx="1050540" cy="35441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C13154DD-45B6-DEEA-657D-C383061AC64A}"/>
              </a:ext>
            </a:extLst>
          </p:cNvPr>
          <p:cNvCxnSpPr>
            <a:cxnSpLocks/>
            <a:stCxn id="15" idx="3"/>
          </p:cNvCxnSpPr>
          <p:nvPr/>
        </p:nvCxnSpPr>
        <p:spPr>
          <a:xfrm>
            <a:off x="849145" y="2083059"/>
            <a:ext cx="2252121" cy="49353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0871A433-913F-9265-A6C8-D32ACF51CD34}"/>
              </a:ext>
            </a:extLst>
          </p:cNvPr>
          <p:cNvSpPr txBox="1"/>
          <p:nvPr/>
        </p:nvSpPr>
        <p:spPr>
          <a:xfrm>
            <a:off x="3960" y="1621394"/>
            <a:ext cx="845185" cy="923330"/>
          </a:xfrm>
          <a:prstGeom prst="rect">
            <a:avLst/>
          </a:prstGeom>
          <a:noFill/>
        </p:spPr>
        <p:txBody>
          <a:bodyPr wrap="square" rtlCol="0">
            <a:spAutoFit/>
          </a:bodyPr>
          <a:lstStyle/>
          <a:p>
            <a:r>
              <a:rPr lang="en-US" dirty="0">
                <a:solidFill>
                  <a:srgbClr val="FF0000"/>
                </a:solidFill>
              </a:rPr>
              <a:t>Xem </a:t>
            </a:r>
            <a:r>
              <a:rPr lang="en-US" dirty="0" err="1">
                <a:solidFill>
                  <a:srgbClr val="FF0000"/>
                </a:solidFill>
              </a:rPr>
              <a:t>lại</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bước</a:t>
            </a:r>
            <a:r>
              <a:rPr lang="en-US" dirty="0">
                <a:solidFill>
                  <a:srgbClr val="FF0000"/>
                </a:solidFill>
              </a:rPr>
              <a:t> </a:t>
            </a:r>
          </a:p>
        </p:txBody>
      </p:sp>
      <p:cxnSp>
        <p:nvCxnSpPr>
          <p:cNvPr id="18" name="Straight Arrow Connector 17">
            <a:extLst>
              <a:ext uri="{FF2B5EF4-FFF2-40B4-BE49-F238E27FC236}">
                <a16:creationId xmlns:a16="http://schemas.microsoft.com/office/drawing/2014/main" id="{7EA5525A-93D2-64B6-695F-0D19DAF3E763}"/>
              </a:ext>
            </a:extLst>
          </p:cNvPr>
          <p:cNvCxnSpPr>
            <a:cxnSpLocks/>
            <a:stCxn id="20" idx="1"/>
          </p:cNvCxnSpPr>
          <p:nvPr/>
        </p:nvCxnSpPr>
        <p:spPr>
          <a:xfrm flipH="1">
            <a:off x="8174820" y="2010295"/>
            <a:ext cx="318696" cy="56629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713E07C3-EF80-A1FB-0CBB-2EA8FECBEC1A}"/>
              </a:ext>
            </a:extLst>
          </p:cNvPr>
          <p:cNvSpPr txBox="1"/>
          <p:nvPr/>
        </p:nvSpPr>
        <p:spPr>
          <a:xfrm>
            <a:off x="8493516" y="1271631"/>
            <a:ext cx="845185" cy="1477328"/>
          </a:xfrm>
          <a:prstGeom prst="rect">
            <a:avLst/>
          </a:prstGeom>
          <a:noFill/>
        </p:spPr>
        <p:txBody>
          <a:bodyPr wrap="square" rtlCol="0">
            <a:spAutoFit/>
          </a:bodyPr>
          <a:lstStyle/>
          <a:p>
            <a:r>
              <a:rPr lang="en-US" dirty="0" err="1">
                <a:solidFill>
                  <a:srgbClr val="FF0000"/>
                </a:solidFill>
              </a:rPr>
              <a:t>Điều</a:t>
            </a:r>
            <a:r>
              <a:rPr lang="en-US" dirty="0">
                <a:solidFill>
                  <a:srgbClr val="FF0000"/>
                </a:solidFill>
              </a:rPr>
              <a:t> </a:t>
            </a:r>
            <a:r>
              <a:rPr lang="en-US" dirty="0" err="1">
                <a:solidFill>
                  <a:srgbClr val="FF0000"/>
                </a:solidFill>
              </a:rPr>
              <a:t>chỉnh</a:t>
            </a:r>
            <a:r>
              <a:rPr lang="en-US" dirty="0">
                <a:solidFill>
                  <a:srgbClr val="FF0000"/>
                </a:solidFill>
              </a:rPr>
              <a:t> </a:t>
            </a:r>
            <a:r>
              <a:rPr lang="en-US" dirty="0" err="1">
                <a:solidFill>
                  <a:srgbClr val="FF0000"/>
                </a:solidFill>
              </a:rPr>
              <a:t>tốc</a:t>
            </a:r>
            <a:r>
              <a:rPr lang="en-US" dirty="0">
                <a:solidFill>
                  <a:srgbClr val="FF0000"/>
                </a:solidFill>
              </a:rPr>
              <a:t> </a:t>
            </a:r>
            <a:r>
              <a:rPr lang="en-US" dirty="0" err="1">
                <a:solidFill>
                  <a:srgbClr val="FF0000"/>
                </a:solidFill>
              </a:rPr>
              <a:t>độ</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thi</a:t>
            </a:r>
            <a:endParaRPr lang="en-US" dirty="0">
              <a:solidFill>
                <a:srgbClr val="FF0000"/>
              </a:solidFill>
            </a:endParaRPr>
          </a:p>
        </p:txBody>
      </p:sp>
      <p:cxnSp>
        <p:nvCxnSpPr>
          <p:cNvPr id="22" name="Straight Arrow Connector 21">
            <a:extLst>
              <a:ext uri="{FF2B5EF4-FFF2-40B4-BE49-F238E27FC236}">
                <a16:creationId xmlns:a16="http://schemas.microsoft.com/office/drawing/2014/main" id="{C15E0895-1543-4496-A167-60EEDA420D32}"/>
              </a:ext>
            </a:extLst>
          </p:cNvPr>
          <p:cNvCxnSpPr>
            <a:cxnSpLocks/>
            <a:stCxn id="25" idx="1"/>
          </p:cNvCxnSpPr>
          <p:nvPr/>
        </p:nvCxnSpPr>
        <p:spPr>
          <a:xfrm flipH="1" flipV="1">
            <a:off x="8174820" y="3574589"/>
            <a:ext cx="318696" cy="40190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3177D3A-0358-DC1D-79CC-DF9091569F5B}"/>
              </a:ext>
            </a:extLst>
          </p:cNvPr>
          <p:cNvSpPr txBox="1"/>
          <p:nvPr/>
        </p:nvSpPr>
        <p:spPr>
          <a:xfrm>
            <a:off x="8493516" y="2960834"/>
            <a:ext cx="845185" cy="2031325"/>
          </a:xfrm>
          <a:prstGeom prst="rect">
            <a:avLst/>
          </a:prstGeom>
          <a:noFill/>
        </p:spPr>
        <p:txBody>
          <a:bodyPr wrap="square" rtlCol="0">
            <a:spAutoFit/>
          </a:bodyPr>
          <a:lstStyle/>
          <a:p>
            <a:r>
              <a:rPr lang="en-US" dirty="0" err="1">
                <a:solidFill>
                  <a:srgbClr val="FF0000"/>
                </a:solidFill>
              </a:rPr>
              <a:t>Mô</a:t>
            </a:r>
            <a:r>
              <a:rPr lang="en-US" dirty="0">
                <a:solidFill>
                  <a:srgbClr val="FF0000"/>
                </a:solidFill>
              </a:rPr>
              <a:t> </a:t>
            </a:r>
            <a:r>
              <a:rPr lang="en-US" dirty="0" err="1">
                <a:solidFill>
                  <a:srgbClr val="FF0000"/>
                </a:solidFill>
              </a:rPr>
              <a:t>phỏng</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bước</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thuật</a:t>
            </a:r>
            <a:r>
              <a:rPr lang="en-US" dirty="0">
                <a:solidFill>
                  <a:srgbClr val="FF0000"/>
                </a:solidFill>
              </a:rPr>
              <a:t> </a:t>
            </a:r>
            <a:r>
              <a:rPr lang="en-US" dirty="0" err="1">
                <a:solidFill>
                  <a:srgbClr val="FF0000"/>
                </a:solidFill>
              </a:rPr>
              <a:t>toán</a:t>
            </a:r>
            <a:endParaRPr lang="en-US" dirty="0">
              <a:solidFill>
                <a:srgbClr val="FF0000"/>
              </a:solidFill>
            </a:endParaRPr>
          </a:p>
        </p:txBody>
      </p:sp>
    </p:spTree>
    <p:extLst>
      <p:ext uri="{BB962C8B-B14F-4D97-AF65-F5344CB8AC3E}">
        <p14:creationId xmlns:p14="http://schemas.microsoft.com/office/powerpoint/2010/main" val="560138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Dynamic Pseudocode &amp; Mã nguồn Đa ngôn ngữ</a:t>
            </a:r>
            <a:endParaRPr lang="en-US" sz="3000" dirty="0"/>
          </a:p>
        </p:txBody>
      </p:sp>
      <p:sp>
        <p:nvSpPr>
          <p:cNvPr id="5" name="Shape 3"/>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pic>
        <p:nvPicPr>
          <p:cNvPr id="42" name="Picture 41">
            <a:extLst>
              <a:ext uri="{FF2B5EF4-FFF2-40B4-BE49-F238E27FC236}">
                <a16:creationId xmlns:a16="http://schemas.microsoft.com/office/drawing/2014/main" id="{3DB8D460-C0DB-5517-18F3-271A92D3C50C}"/>
              </a:ext>
            </a:extLst>
          </p:cNvPr>
          <p:cNvPicPr>
            <a:picLocks noChangeAspect="1"/>
          </p:cNvPicPr>
          <p:nvPr/>
        </p:nvPicPr>
        <p:blipFill>
          <a:blip r:embed="rId3"/>
          <a:stretch>
            <a:fillRect/>
          </a:stretch>
        </p:blipFill>
        <p:spPr>
          <a:xfrm>
            <a:off x="1277566" y="1373383"/>
            <a:ext cx="6588868" cy="3554757"/>
          </a:xfrm>
          <a:prstGeom prst="rect">
            <a:avLst/>
          </a:prstGeom>
        </p:spPr>
      </p:pic>
      <p:sp>
        <p:nvSpPr>
          <p:cNvPr id="6" name="Shape 0">
            <a:extLst>
              <a:ext uri="{FF2B5EF4-FFF2-40B4-BE49-F238E27FC236}">
                <a16:creationId xmlns:a16="http://schemas.microsoft.com/office/drawing/2014/main" id="{B8F10D7B-1541-925F-AD53-E1F4F21F1858}"/>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7" name="Text 1">
            <a:extLst>
              <a:ext uri="{FF2B5EF4-FFF2-40B4-BE49-F238E27FC236}">
                <a16:creationId xmlns:a16="http://schemas.microsoft.com/office/drawing/2014/main" id="{3F28D621-1BFF-1E39-5B9D-529753CBF6D4}"/>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Tree>
    <p:extLst>
      <p:ext uri="{BB962C8B-B14F-4D97-AF65-F5344CB8AC3E}">
        <p14:creationId xmlns:p14="http://schemas.microsoft.com/office/powerpoint/2010/main" val="67954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GIẢI PHÁP KỸ THUẬT 03</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Live Big-O Tracker — Học qua thực chứng</a:t>
            </a:r>
            <a:endParaRPr lang="en-US" sz="3000" dirty="0"/>
          </a:p>
        </p:txBody>
      </p:sp>
      <p:sp>
        <p:nvSpPr>
          <p:cNvPr id="5" name="Shape 3"/>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sp>
        <p:nvSpPr>
          <p:cNvPr id="6" name="Shape 4"/>
          <p:cNvSpPr/>
          <p:nvPr/>
        </p:nvSpPr>
        <p:spPr>
          <a:xfrm>
            <a:off x="320040" y="1389888"/>
            <a:ext cx="4160520" cy="3547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Text 5"/>
          <p:cNvSpPr/>
          <p:nvPr/>
        </p:nvSpPr>
        <p:spPr>
          <a:xfrm>
            <a:off x="457200" y="1481328"/>
            <a:ext cx="3886200" cy="365760"/>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Cơ chế hoạt động</a:t>
            </a:r>
            <a:endParaRPr lang="en-US" sz="1400" dirty="0"/>
          </a:p>
        </p:txBody>
      </p:sp>
      <p:sp>
        <p:nvSpPr>
          <p:cNvPr id="8" name="Shape 6"/>
          <p:cNvSpPr/>
          <p:nvPr/>
        </p:nvSpPr>
        <p:spPr>
          <a:xfrm>
            <a:off x="475488" y="1993392"/>
            <a:ext cx="256032" cy="256032"/>
          </a:xfrm>
          <a:prstGeom prst="ellipse">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804672" y="1965960"/>
            <a:ext cx="3520440"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① Khởi tạo biến đếm: currentCost = 0</a:t>
            </a:r>
            <a:endParaRPr lang="en-US" sz="1250" dirty="0"/>
          </a:p>
        </p:txBody>
      </p:sp>
      <p:sp>
        <p:nvSpPr>
          <p:cNvPr id="10" name="Shape 8"/>
          <p:cNvSpPr/>
          <p:nvPr/>
        </p:nvSpPr>
        <p:spPr>
          <a:xfrm>
            <a:off x="475488" y="2587752"/>
            <a:ext cx="256032" cy="256032"/>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804672" y="2560320"/>
            <a:ext cx="3520440"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② Đặt cost++ vào vòng lặp cốt lõi (mỗi phép so sánh BST)</a:t>
            </a:r>
            <a:endParaRPr lang="en-US" sz="1250" dirty="0"/>
          </a:p>
        </p:txBody>
      </p:sp>
      <p:sp>
        <p:nvSpPr>
          <p:cNvPr id="12" name="Shape 10"/>
          <p:cNvSpPr/>
          <p:nvPr/>
        </p:nvSpPr>
        <p:spPr>
          <a:xfrm>
            <a:off x="475488" y="3182112"/>
            <a:ext cx="256032" cy="256032"/>
          </a:xfrm>
          <a:prstGeom prst="ellipse">
            <a:avLst/>
          </a:prstGeom>
          <a:solidFill>
            <a:srgbClr val="2563EB"/>
          </a:solidFill>
          <a:ln w="12700">
            <a:solidFill>
              <a:srgbClr val="2563EB"/>
            </a:solidFill>
            <a:prstDash val="solid"/>
          </a:ln>
        </p:spPr>
        <p:txBody>
          <a:bodyPr/>
          <a:lstStyle/>
          <a:p>
            <a:endParaRPr lang="en-US"/>
          </a:p>
        </p:txBody>
      </p:sp>
      <p:sp>
        <p:nvSpPr>
          <p:cNvPr id="13" name="Text 11"/>
          <p:cNvSpPr/>
          <p:nvPr/>
        </p:nvSpPr>
        <p:spPr>
          <a:xfrm>
            <a:off x="804672" y="3154680"/>
            <a:ext cx="3520440"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③ Lưu cost vào từng Snapshot của historyQueue</a:t>
            </a:r>
            <a:endParaRPr lang="en-US" sz="1250" dirty="0"/>
          </a:p>
        </p:txBody>
      </p:sp>
      <p:sp>
        <p:nvSpPr>
          <p:cNvPr id="14" name="Shape 12"/>
          <p:cNvSpPr/>
          <p:nvPr/>
        </p:nvSpPr>
        <p:spPr>
          <a:xfrm>
            <a:off x="475488" y="3776472"/>
            <a:ext cx="256032" cy="256032"/>
          </a:xfrm>
          <a:prstGeom prst="ellipse">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804672" y="3749040"/>
            <a:ext cx="3520440"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④ Render Phase hiển thị cost lên bảng phân tích</a:t>
            </a:r>
            <a:endParaRPr lang="en-US" sz="1250" dirty="0"/>
          </a:p>
        </p:txBody>
      </p:sp>
      <p:sp>
        <p:nvSpPr>
          <p:cNvPr id="16" name="Shape 14"/>
          <p:cNvSpPr/>
          <p:nvPr/>
        </p:nvSpPr>
        <p:spPr>
          <a:xfrm>
            <a:off x="4663440" y="1389888"/>
            <a:ext cx="4160520" cy="3547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4800600" y="1481328"/>
            <a:ext cx="3886200" cy="365760"/>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Thực nghiệm: n = 15 phần tử</a:t>
            </a:r>
            <a:endParaRPr lang="en-US" sz="1400" dirty="0"/>
          </a:p>
        </p:txBody>
      </p:sp>
      <p:sp>
        <p:nvSpPr>
          <p:cNvPr id="18" name="Shape 16"/>
          <p:cNvSpPr/>
          <p:nvPr/>
        </p:nvSpPr>
        <p:spPr>
          <a:xfrm>
            <a:off x="4754880" y="1965960"/>
            <a:ext cx="1261872" cy="196596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Text 17"/>
          <p:cNvSpPr/>
          <p:nvPr/>
        </p:nvSpPr>
        <p:spPr>
          <a:xfrm>
            <a:off x="4754880" y="2011680"/>
            <a:ext cx="1261872" cy="777240"/>
          </a:xfrm>
          <a:prstGeom prst="rect">
            <a:avLst/>
          </a:prstGeom>
          <a:noFill/>
          <a:ln/>
        </p:spPr>
        <p:txBody>
          <a:bodyPr wrap="square" rtlCol="0" anchor="ctr"/>
          <a:lstStyle/>
          <a:p>
            <a:pPr marL="0" indent="0" algn="ctr">
              <a:buNone/>
            </a:pPr>
            <a:r>
              <a:rPr lang="en-US" sz="4800" b="1" dirty="0">
                <a:solidFill>
                  <a:srgbClr val="16A34A"/>
                </a:solidFill>
                <a:latin typeface="Calibri" pitchFamily="34" charset="0"/>
                <a:ea typeface="Calibri" pitchFamily="34" charset="-122"/>
                <a:cs typeface="Calibri" pitchFamily="34" charset="-120"/>
              </a:rPr>
              <a:t>4</a:t>
            </a:r>
            <a:endParaRPr lang="en-US" sz="4800" dirty="0"/>
          </a:p>
        </p:txBody>
      </p:sp>
      <p:sp>
        <p:nvSpPr>
          <p:cNvPr id="20" name="Text 18"/>
          <p:cNvSpPr/>
          <p:nvPr/>
        </p:nvSpPr>
        <p:spPr>
          <a:xfrm>
            <a:off x="4754880" y="2834640"/>
            <a:ext cx="1261872" cy="274320"/>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lần so sánh</a:t>
            </a:r>
            <a:endParaRPr lang="en-US" sz="1100" dirty="0"/>
          </a:p>
        </p:txBody>
      </p:sp>
      <p:sp>
        <p:nvSpPr>
          <p:cNvPr id="21" name="Text 19"/>
          <p:cNvSpPr/>
          <p:nvPr/>
        </p:nvSpPr>
        <p:spPr>
          <a:xfrm>
            <a:off x="4754880" y="3127248"/>
            <a:ext cx="1261872" cy="694944"/>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BST cân bằng</a:t>
            </a:r>
            <a:endParaRPr lang="en-US" sz="1100" dirty="0"/>
          </a:p>
        </p:txBody>
      </p:sp>
      <p:sp>
        <p:nvSpPr>
          <p:cNvPr id="22" name="Shape 20"/>
          <p:cNvSpPr/>
          <p:nvPr/>
        </p:nvSpPr>
        <p:spPr>
          <a:xfrm>
            <a:off x="6126480" y="1965960"/>
            <a:ext cx="1261872" cy="196596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Text 21"/>
          <p:cNvSpPr/>
          <p:nvPr/>
        </p:nvSpPr>
        <p:spPr>
          <a:xfrm>
            <a:off x="6126480" y="2011680"/>
            <a:ext cx="1261872" cy="777240"/>
          </a:xfrm>
          <a:prstGeom prst="rect">
            <a:avLst/>
          </a:prstGeom>
          <a:noFill/>
          <a:ln/>
        </p:spPr>
        <p:txBody>
          <a:bodyPr wrap="square" rtlCol="0" anchor="ctr"/>
          <a:lstStyle/>
          <a:p>
            <a:pPr marL="0" indent="0" algn="ctr">
              <a:buNone/>
            </a:pPr>
            <a:r>
              <a:rPr lang="en-US" sz="4800" b="1" dirty="0">
                <a:solidFill>
                  <a:srgbClr val="D97706"/>
                </a:solidFill>
                <a:latin typeface="Calibri" pitchFamily="34" charset="0"/>
                <a:ea typeface="Calibri" pitchFamily="34" charset="-122"/>
                <a:cs typeface="Calibri" pitchFamily="34" charset="-120"/>
              </a:rPr>
              <a:t>15</a:t>
            </a:r>
            <a:endParaRPr lang="en-US" sz="4800" dirty="0"/>
          </a:p>
        </p:txBody>
      </p:sp>
      <p:sp>
        <p:nvSpPr>
          <p:cNvPr id="24" name="Text 22"/>
          <p:cNvSpPr/>
          <p:nvPr/>
        </p:nvSpPr>
        <p:spPr>
          <a:xfrm>
            <a:off x="6126480" y="2834640"/>
            <a:ext cx="1261872" cy="274320"/>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lần duyệt</a:t>
            </a:r>
            <a:endParaRPr lang="en-US" sz="1100" dirty="0"/>
          </a:p>
        </p:txBody>
      </p:sp>
      <p:sp>
        <p:nvSpPr>
          <p:cNvPr id="25" name="Text 23"/>
          <p:cNvSpPr/>
          <p:nvPr/>
        </p:nvSpPr>
        <p:spPr>
          <a:xfrm>
            <a:off x="6126480" y="3127248"/>
            <a:ext cx="1261872" cy="694944"/>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Linked List</a:t>
            </a:r>
            <a:endParaRPr lang="en-US" sz="1100" dirty="0"/>
          </a:p>
        </p:txBody>
      </p:sp>
      <p:sp>
        <p:nvSpPr>
          <p:cNvPr id="26" name="Shape 24"/>
          <p:cNvSpPr/>
          <p:nvPr/>
        </p:nvSpPr>
        <p:spPr>
          <a:xfrm>
            <a:off x="7498080" y="1965960"/>
            <a:ext cx="1261872" cy="196596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Text 25"/>
          <p:cNvSpPr/>
          <p:nvPr/>
        </p:nvSpPr>
        <p:spPr>
          <a:xfrm>
            <a:off x="7498080" y="2011680"/>
            <a:ext cx="1261872" cy="777240"/>
          </a:xfrm>
          <a:prstGeom prst="rect">
            <a:avLst/>
          </a:prstGeom>
          <a:noFill/>
          <a:ln/>
        </p:spPr>
        <p:txBody>
          <a:bodyPr wrap="square" rtlCol="0" anchor="ctr"/>
          <a:lstStyle/>
          <a:p>
            <a:pPr marL="0" indent="0" algn="ctr">
              <a:buNone/>
            </a:pPr>
            <a:r>
              <a:rPr lang="en-US" sz="4800" b="1" dirty="0">
                <a:solidFill>
                  <a:srgbClr val="DC2626"/>
                </a:solidFill>
                <a:latin typeface="Calibri" pitchFamily="34" charset="0"/>
                <a:ea typeface="Calibri" pitchFamily="34" charset="-122"/>
                <a:cs typeface="Calibri" pitchFamily="34" charset="-120"/>
              </a:rPr>
              <a:t>15</a:t>
            </a:r>
            <a:endParaRPr lang="en-US" sz="4800" dirty="0"/>
          </a:p>
        </p:txBody>
      </p:sp>
      <p:sp>
        <p:nvSpPr>
          <p:cNvPr id="28" name="Text 26"/>
          <p:cNvSpPr/>
          <p:nvPr/>
        </p:nvSpPr>
        <p:spPr>
          <a:xfrm>
            <a:off x="7498080" y="2834640"/>
            <a:ext cx="1261872" cy="274320"/>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lần so sánh</a:t>
            </a:r>
            <a:endParaRPr lang="en-US" sz="1100" dirty="0"/>
          </a:p>
        </p:txBody>
      </p:sp>
      <p:sp>
        <p:nvSpPr>
          <p:cNvPr id="29" name="Text 27"/>
          <p:cNvSpPr/>
          <p:nvPr/>
        </p:nvSpPr>
        <p:spPr>
          <a:xfrm>
            <a:off x="7498080" y="3127248"/>
            <a:ext cx="1261872" cy="694944"/>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BST suy biến</a:t>
            </a:r>
            <a:endParaRPr lang="en-US" sz="1100" dirty="0"/>
          </a:p>
        </p:txBody>
      </p:sp>
      <p:sp>
        <p:nvSpPr>
          <p:cNvPr id="30" name="Shape 28"/>
          <p:cNvSpPr/>
          <p:nvPr/>
        </p:nvSpPr>
        <p:spPr>
          <a:xfrm>
            <a:off x="4754880" y="3977640"/>
            <a:ext cx="4005072" cy="713232"/>
          </a:xfrm>
          <a:prstGeom prst="rect">
            <a:avLst/>
          </a:prstGeom>
          <a:solidFill>
            <a:srgbClr val="EFF6FF"/>
          </a:solidFill>
          <a:ln w="12700">
            <a:solidFill>
              <a:srgbClr val="BFDBFE"/>
            </a:solidFill>
            <a:prstDash val="solid"/>
          </a:ln>
        </p:spPr>
        <p:txBody>
          <a:bodyPr/>
          <a:lstStyle/>
          <a:p>
            <a:endParaRPr lang="en-US"/>
          </a:p>
        </p:txBody>
      </p:sp>
      <p:sp>
        <p:nvSpPr>
          <p:cNvPr id="31" name="Text 29"/>
          <p:cNvSpPr/>
          <p:nvPr/>
        </p:nvSpPr>
        <p:spPr>
          <a:xfrm>
            <a:off x="4846320" y="4005072"/>
            <a:ext cx="3858768" cy="658368"/>
          </a:xfrm>
          <a:prstGeom prst="rect">
            <a:avLst/>
          </a:prstGeom>
          <a:noFill/>
          <a:ln/>
        </p:spPr>
        <p:txBody>
          <a:bodyPr wrap="square" rtlCol="0" anchor="ctr"/>
          <a:lstStyle/>
          <a:p>
            <a:pPr marL="0" indent="0" algn="ctr">
              <a:buNone/>
            </a:pPr>
            <a:r>
              <a:rPr lang="en-US" sz="1150" b="1" dirty="0" err="1">
                <a:solidFill>
                  <a:srgbClr val="1B3A6B"/>
                </a:solidFill>
                <a:latin typeface="Calibri" pitchFamily="34" charset="0"/>
                <a:ea typeface="Calibri" pitchFamily="34" charset="-122"/>
                <a:cs typeface="Calibri" pitchFamily="34" charset="-120"/>
              </a:rPr>
              <a:t>Người</a:t>
            </a:r>
            <a:r>
              <a:rPr lang="en-US" sz="1150" b="1" dirty="0">
                <a:solidFill>
                  <a:srgbClr val="1B3A6B"/>
                </a:solidFill>
                <a:latin typeface="Calibri" pitchFamily="34" charset="0"/>
                <a:ea typeface="Calibri" pitchFamily="34" charset="-122"/>
                <a:cs typeface="Calibri" pitchFamily="34" charset="-120"/>
              </a:rPr>
              <a:t> học tự chứng minh được O(log n) vs O(n) bằng con số thực — không phải học thuộc lòng!</a:t>
            </a:r>
            <a:endParaRPr lang="en-US" sz="1150" dirty="0"/>
          </a:p>
        </p:txBody>
      </p:sp>
      <p:sp>
        <p:nvSpPr>
          <p:cNvPr id="32" name="Shape 0">
            <a:extLst>
              <a:ext uri="{FF2B5EF4-FFF2-40B4-BE49-F238E27FC236}">
                <a16:creationId xmlns:a16="http://schemas.microsoft.com/office/drawing/2014/main" id="{5EA22E7B-F5C7-4DD6-D663-AAB75F9A0A82}"/>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33" name="Text 1">
            <a:extLst>
              <a:ext uri="{FF2B5EF4-FFF2-40B4-BE49-F238E27FC236}">
                <a16:creationId xmlns:a16="http://schemas.microsoft.com/office/drawing/2014/main" id="{C26BA52B-22B0-A8C3-DAAE-2ED24CEF616B}"/>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8BAB-3CAE-24E0-BF47-CECE4F40A76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74C9D0A-D764-AF04-02E3-39C70DB6BC4F}"/>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GIẢI PHÁP KỸ THUẬT 03</a:t>
            </a:r>
            <a:endParaRPr lang="en-US" sz="1100" dirty="0"/>
          </a:p>
        </p:txBody>
      </p:sp>
      <p:sp>
        <p:nvSpPr>
          <p:cNvPr id="4" name="Text 2">
            <a:extLst>
              <a:ext uri="{FF2B5EF4-FFF2-40B4-BE49-F238E27FC236}">
                <a16:creationId xmlns:a16="http://schemas.microsoft.com/office/drawing/2014/main" id="{21DD5D65-9DB9-F225-11A7-6A39CAE30FB4}"/>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Live Big-O Tracker — Học qua thực chứng</a:t>
            </a:r>
            <a:endParaRPr lang="en-US" sz="3000" dirty="0"/>
          </a:p>
        </p:txBody>
      </p:sp>
      <p:sp>
        <p:nvSpPr>
          <p:cNvPr id="5" name="Shape 3">
            <a:extLst>
              <a:ext uri="{FF2B5EF4-FFF2-40B4-BE49-F238E27FC236}">
                <a16:creationId xmlns:a16="http://schemas.microsoft.com/office/drawing/2014/main" id="{58C25652-202C-2352-9280-ED112A497C31}"/>
              </a:ext>
            </a:extLst>
          </p:cNvPr>
          <p:cNvSpPr/>
          <p:nvPr/>
        </p:nvSpPr>
        <p:spPr>
          <a:xfrm>
            <a:off x="320040" y="1243584"/>
            <a:ext cx="8503920" cy="32004"/>
          </a:xfrm>
          <a:prstGeom prst="rect">
            <a:avLst/>
          </a:prstGeom>
          <a:solidFill>
            <a:srgbClr val="EA580C"/>
          </a:solidFill>
          <a:ln w="12700">
            <a:solidFill>
              <a:srgbClr val="EA580C"/>
            </a:solidFill>
            <a:prstDash val="solid"/>
          </a:ln>
        </p:spPr>
        <p:txBody>
          <a:bodyPr/>
          <a:lstStyle/>
          <a:p>
            <a:endParaRPr lang="en-US"/>
          </a:p>
        </p:txBody>
      </p:sp>
      <p:sp>
        <p:nvSpPr>
          <p:cNvPr id="32" name="Shape 0">
            <a:extLst>
              <a:ext uri="{FF2B5EF4-FFF2-40B4-BE49-F238E27FC236}">
                <a16:creationId xmlns:a16="http://schemas.microsoft.com/office/drawing/2014/main" id="{C398334A-8EE8-31BE-EC41-163B2FCFD5CB}"/>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33" name="Text 1">
            <a:extLst>
              <a:ext uri="{FF2B5EF4-FFF2-40B4-BE49-F238E27FC236}">
                <a16:creationId xmlns:a16="http://schemas.microsoft.com/office/drawing/2014/main" id="{64C2A136-D7F1-A8A2-1C6C-94B836DC2EB9}"/>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pic>
        <p:nvPicPr>
          <p:cNvPr id="34" name="Picture 33">
            <a:extLst>
              <a:ext uri="{FF2B5EF4-FFF2-40B4-BE49-F238E27FC236}">
                <a16:creationId xmlns:a16="http://schemas.microsoft.com/office/drawing/2014/main" id="{FE6EB467-8BCB-28EE-2B3C-E489CBCF479B}"/>
              </a:ext>
            </a:extLst>
          </p:cNvPr>
          <p:cNvPicPr>
            <a:picLocks noChangeAspect="1"/>
          </p:cNvPicPr>
          <p:nvPr/>
        </p:nvPicPr>
        <p:blipFill>
          <a:blip r:embed="rId3"/>
          <a:stretch>
            <a:fillRect/>
          </a:stretch>
        </p:blipFill>
        <p:spPr>
          <a:xfrm>
            <a:off x="1127051" y="1312164"/>
            <a:ext cx="6648893" cy="3636847"/>
          </a:xfrm>
          <a:prstGeom prst="rect">
            <a:avLst/>
          </a:prstGeom>
        </p:spPr>
      </p:pic>
      <p:sp>
        <p:nvSpPr>
          <p:cNvPr id="35" name="Rectangle 34">
            <a:extLst>
              <a:ext uri="{FF2B5EF4-FFF2-40B4-BE49-F238E27FC236}">
                <a16:creationId xmlns:a16="http://schemas.microsoft.com/office/drawing/2014/main" id="{E8996C2E-51CD-2386-A93B-1D653B021E72}"/>
              </a:ext>
            </a:extLst>
          </p:cNvPr>
          <p:cNvSpPr/>
          <p:nvPr/>
        </p:nvSpPr>
        <p:spPr>
          <a:xfrm>
            <a:off x="5826642" y="2693581"/>
            <a:ext cx="2006009" cy="294062"/>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4405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Gamification &amp; Auto-Grading — Trung tâm Thử </a:t>
            </a:r>
            <a:r>
              <a:rPr lang="en-US" sz="2800" b="1" dirty="0">
                <a:solidFill>
                  <a:srgbClr val="1B3A6B"/>
                </a:solidFill>
                <a:latin typeface="Calibri" pitchFamily="34" charset="0"/>
                <a:ea typeface="Calibri" pitchFamily="34" charset="-122"/>
                <a:cs typeface="Calibri" pitchFamily="34" charset="-120"/>
              </a:rPr>
              <a:t>thách</a:t>
            </a:r>
            <a:endParaRPr lang="en-US" sz="3000" dirty="0"/>
          </a:p>
        </p:txBody>
      </p:sp>
      <p:sp>
        <p:nvSpPr>
          <p:cNvPr id="5" name="Shape 3"/>
          <p:cNvSpPr/>
          <p:nvPr/>
        </p:nvSpPr>
        <p:spPr>
          <a:xfrm>
            <a:off x="320040" y="1280517"/>
            <a:ext cx="8503920" cy="32004"/>
          </a:xfrm>
          <a:prstGeom prst="rect">
            <a:avLst/>
          </a:prstGeom>
          <a:solidFill>
            <a:srgbClr val="EA580C"/>
          </a:solidFill>
          <a:ln w="12700">
            <a:solidFill>
              <a:srgbClr val="EA580C"/>
            </a:solidFill>
            <a:prstDash val="solid"/>
          </a:ln>
        </p:spPr>
        <p:txBody>
          <a:bodyPr/>
          <a:lstStyle/>
          <a:p>
            <a:endParaRPr lang="en-US"/>
          </a:p>
        </p:txBody>
      </p:sp>
      <p:sp>
        <p:nvSpPr>
          <p:cNvPr id="7" name="Shape 4"/>
          <p:cNvSpPr/>
          <p:nvPr/>
        </p:nvSpPr>
        <p:spPr>
          <a:xfrm>
            <a:off x="274320" y="3947967"/>
            <a:ext cx="8503920" cy="436074"/>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r>
              <a:rPr lang="en-US" b="1" dirty="0" err="1">
                <a:latin typeface="Arial" panose="020B0604020202020204" pitchFamily="34" charset="0"/>
                <a:cs typeface="Arial" panose="020B0604020202020204" pitchFamily="34" charset="0"/>
              </a:rPr>
              <a:t>Cơ</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chế</a:t>
            </a:r>
            <a:r>
              <a:rPr lang="en-US" b="1" dirty="0">
                <a:latin typeface="Arial" panose="020B0604020202020204" pitchFamily="34" charset="0"/>
                <a:cs typeface="Arial" panose="020B0604020202020204" pitchFamily="34" charset="0"/>
              </a:rPr>
              <a:t> </a:t>
            </a:r>
            <a:r>
              <a:rPr lang="vi-VN" b="1" dirty="0"/>
              <a:t>Auto Grading động đánh giá kết quả thao tác của người học</a:t>
            </a:r>
            <a:endParaRPr lang="vi-VN" dirty="0"/>
          </a:p>
        </p:txBody>
      </p:sp>
      <p:sp>
        <p:nvSpPr>
          <p:cNvPr id="8" name="Text 5"/>
          <p:cNvSpPr/>
          <p:nvPr/>
        </p:nvSpPr>
        <p:spPr>
          <a:xfrm>
            <a:off x="457200" y="3983589"/>
            <a:ext cx="4114800" cy="347472"/>
          </a:xfrm>
          <a:prstGeom prst="rect">
            <a:avLst/>
          </a:prstGeom>
          <a:noFill/>
          <a:ln/>
        </p:spPr>
        <p:txBody>
          <a:bodyPr wrap="square" rtlCol="0" anchor="ctr"/>
          <a:lstStyle/>
          <a:p>
            <a:pPr marL="0" indent="0">
              <a:buNone/>
            </a:pPr>
            <a:endParaRPr lang="en-US" sz="1300" dirty="0"/>
          </a:p>
        </p:txBody>
      </p:sp>
      <p:sp>
        <p:nvSpPr>
          <p:cNvPr id="9" name="Text 6"/>
          <p:cNvSpPr/>
          <p:nvPr/>
        </p:nvSpPr>
        <p:spPr>
          <a:xfrm>
            <a:off x="457200" y="4133088"/>
            <a:ext cx="8321040" cy="685800"/>
          </a:xfrm>
          <a:prstGeom prst="rect">
            <a:avLst/>
          </a:prstGeom>
          <a:noFill/>
          <a:ln/>
        </p:spPr>
        <p:txBody>
          <a:bodyPr wrap="square" rtlCol="0" anchor="ctr"/>
          <a:lstStyle/>
          <a:p>
            <a:pPr marL="0" indent="0">
              <a:buNone/>
            </a:pPr>
            <a:endParaRPr lang="en-US" sz="1200" dirty="0"/>
          </a:p>
        </p:txBody>
      </p:sp>
      <p:sp>
        <p:nvSpPr>
          <p:cNvPr id="6" name="Shape 0">
            <a:extLst>
              <a:ext uri="{FF2B5EF4-FFF2-40B4-BE49-F238E27FC236}">
                <a16:creationId xmlns:a16="http://schemas.microsoft.com/office/drawing/2014/main" id="{C2EDD283-0979-3E7C-D63E-F22CADC8CA9D}"/>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10" name="Text 1">
            <a:extLst>
              <a:ext uri="{FF2B5EF4-FFF2-40B4-BE49-F238E27FC236}">
                <a16:creationId xmlns:a16="http://schemas.microsoft.com/office/drawing/2014/main" id="{E4F277BA-AB83-A68C-9626-4D86D7E8CC1B}"/>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pic>
        <p:nvPicPr>
          <p:cNvPr id="12" name="Picture 11">
            <a:extLst>
              <a:ext uri="{FF2B5EF4-FFF2-40B4-BE49-F238E27FC236}">
                <a16:creationId xmlns:a16="http://schemas.microsoft.com/office/drawing/2014/main" id="{AEABCB46-AEC4-1476-87E7-8211D4B424D7}"/>
              </a:ext>
            </a:extLst>
          </p:cNvPr>
          <p:cNvPicPr>
            <a:picLocks noChangeAspect="1"/>
          </p:cNvPicPr>
          <p:nvPr/>
        </p:nvPicPr>
        <p:blipFill>
          <a:blip r:embed="rId3"/>
          <a:stretch>
            <a:fillRect/>
          </a:stretch>
        </p:blipFill>
        <p:spPr>
          <a:xfrm>
            <a:off x="1782127" y="1434782"/>
            <a:ext cx="5579745" cy="22739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4CDBA-AD11-6C75-8F4B-A1C3D5C07A8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98226B1-AA7E-E240-2DA8-84CB8518D27F}"/>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Gamification &amp; Auto-Grading — Trung tâm Thử </a:t>
            </a:r>
            <a:r>
              <a:rPr lang="en-US" sz="2800" b="1" dirty="0">
                <a:solidFill>
                  <a:srgbClr val="1B3A6B"/>
                </a:solidFill>
                <a:latin typeface="Calibri" pitchFamily="34" charset="0"/>
                <a:ea typeface="Calibri" pitchFamily="34" charset="-122"/>
                <a:cs typeface="Calibri" pitchFamily="34" charset="-120"/>
              </a:rPr>
              <a:t>thách</a:t>
            </a:r>
            <a:endParaRPr lang="en-US" sz="3000" dirty="0"/>
          </a:p>
        </p:txBody>
      </p:sp>
      <p:sp>
        <p:nvSpPr>
          <p:cNvPr id="5" name="Shape 3">
            <a:extLst>
              <a:ext uri="{FF2B5EF4-FFF2-40B4-BE49-F238E27FC236}">
                <a16:creationId xmlns:a16="http://schemas.microsoft.com/office/drawing/2014/main" id="{1F4CB907-6E1C-1DB9-8562-085218174B5F}"/>
              </a:ext>
            </a:extLst>
          </p:cNvPr>
          <p:cNvSpPr/>
          <p:nvPr/>
        </p:nvSpPr>
        <p:spPr>
          <a:xfrm>
            <a:off x="320040" y="1280517"/>
            <a:ext cx="8503920" cy="32004"/>
          </a:xfrm>
          <a:prstGeom prst="rect">
            <a:avLst/>
          </a:prstGeom>
          <a:solidFill>
            <a:srgbClr val="EA580C"/>
          </a:solidFill>
          <a:ln w="12700">
            <a:solidFill>
              <a:srgbClr val="EA580C"/>
            </a:solidFill>
            <a:prstDash val="solid"/>
          </a:ln>
        </p:spPr>
        <p:txBody>
          <a:bodyPr/>
          <a:lstStyle/>
          <a:p>
            <a:endParaRPr lang="en-US"/>
          </a:p>
        </p:txBody>
      </p:sp>
      <p:sp>
        <p:nvSpPr>
          <p:cNvPr id="8" name="Text 5">
            <a:extLst>
              <a:ext uri="{FF2B5EF4-FFF2-40B4-BE49-F238E27FC236}">
                <a16:creationId xmlns:a16="http://schemas.microsoft.com/office/drawing/2014/main" id="{8632F4CB-4D6C-9D76-A268-A85EA1D32E3A}"/>
              </a:ext>
            </a:extLst>
          </p:cNvPr>
          <p:cNvSpPr/>
          <p:nvPr/>
        </p:nvSpPr>
        <p:spPr>
          <a:xfrm>
            <a:off x="457200" y="3983589"/>
            <a:ext cx="4114800" cy="347472"/>
          </a:xfrm>
          <a:prstGeom prst="rect">
            <a:avLst/>
          </a:prstGeom>
          <a:noFill/>
          <a:ln/>
        </p:spPr>
        <p:txBody>
          <a:bodyPr wrap="square" rtlCol="0" anchor="ctr"/>
          <a:lstStyle/>
          <a:p>
            <a:pPr marL="0" indent="0">
              <a:buNone/>
            </a:pPr>
            <a:endParaRPr lang="en-US" sz="1300" dirty="0"/>
          </a:p>
        </p:txBody>
      </p:sp>
      <p:sp>
        <p:nvSpPr>
          <p:cNvPr id="6" name="Shape 0">
            <a:extLst>
              <a:ext uri="{FF2B5EF4-FFF2-40B4-BE49-F238E27FC236}">
                <a16:creationId xmlns:a16="http://schemas.microsoft.com/office/drawing/2014/main" id="{4C1541E3-029A-CECA-FC39-A4F1410A9100}"/>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10" name="Text 1">
            <a:extLst>
              <a:ext uri="{FF2B5EF4-FFF2-40B4-BE49-F238E27FC236}">
                <a16:creationId xmlns:a16="http://schemas.microsoft.com/office/drawing/2014/main" id="{3A6932F8-5E52-FD5F-8481-B3FE7C967B96}"/>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pic>
        <p:nvPicPr>
          <p:cNvPr id="3" name="Picture 2">
            <a:extLst>
              <a:ext uri="{FF2B5EF4-FFF2-40B4-BE49-F238E27FC236}">
                <a16:creationId xmlns:a16="http://schemas.microsoft.com/office/drawing/2014/main" id="{BCCEF827-99DC-2D82-0280-43B5F28FA828}"/>
              </a:ext>
            </a:extLst>
          </p:cNvPr>
          <p:cNvPicPr>
            <a:picLocks noChangeAspect="1"/>
          </p:cNvPicPr>
          <p:nvPr/>
        </p:nvPicPr>
        <p:blipFill>
          <a:blip r:embed="rId3"/>
          <a:stretch>
            <a:fillRect/>
          </a:stretch>
        </p:blipFill>
        <p:spPr>
          <a:xfrm>
            <a:off x="1209756" y="1386030"/>
            <a:ext cx="6724487" cy="3518670"/>
          </a:xfrm>
          <a:prstGeom prst="rect">
            <a:avLst/>
          </a:prstGeom>
        </p:spPr>
      </p:pic>
    </p:spTree>
    <p:extLst>
      <p:ext uri="{BB962C8B-B14F-4D97-AF65-F5344CB8AC3E}">
        <p14:creationId xmlns:p14="http://schemas.microsoft.com/office/powerpoint/2010/main" val="336431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D062C-66BC-3E80-8F4B-F07354DCB88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B7B2324-3661-DA51-CFA8-BA8F0D68A835}"/>
              </a:ext>
            </a:extLst>
          </p:cNvPr>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Gamification &amp; Auto-Grading — Trung tâm Thử </a:t>
            </a:r>
            <a:r>
              <a:rPr lang="en-US" sz="2800" b="1" dirty="0">
                <a:solidFill>
                  <a:srgbClr val="1B3A6B"/>
                </a:solidFill>
                <a:latin typeface="Calibri" pitchFamily="34" charset="0"/>
                <a:ea typeface="Calibri" pitchFamily="34" charset="-122"/>
                <a:cs typeface="Calibri" pitchFamily="34" charset="-120"/>
              </a:rPr>
              <a:t>thách</a:t>
            </a:r>
            <a:endParaRPr lang="en-US" sz="3000" dirty="0"/>
          </a:p>
        </p:txBody>
      </p:sp>
      <p:sp>
        <p:nvSpPr>
          <p:cNvPr id="5" name="Shape 3">
            <a:extLst>
              <a:ext uri="{FF2B5EF4-FFF2-40B4-BE49-F238E27FC236}">
                <a16:creationId xmlns:a16="http://schemas.microsoft.com/office/drawing/2014/main" id="{B7FA7B91-2DB9-E4C4-536C-91BDC4CEA8F0}"/>
              </a:ext>
            </a:extLst>
          </p:cNvPr>
          <p:cNvSpPr/>
          <p:nvPr/>
        </p:nvSpPr>
        <p:spPr>
          <a:xfrm>
            <a:off x="320040" y="1280517"/>
            <a:ext cx="8503920" cy="32004"/>
          </a:xfrm>
          <a:prstGeom prst="rect">
            <a:avLst/>
          </a:prstGeom>
          <a:solidFill>
            <a:srgbClr val="EA580C"/>
          </a:solidFill>
          <a:ln w="12700">
            <a:solidFill>
              <a:srgbClr val="EA580C"/>
            </a:solidFill>
            <a:prstDash val="solid"/>
          </a:ln>
        </p:spPr>
        <p:txBody>
          <a:bodyPr/>
          <a:lstStyle/>
          <a:p>
            <a:endParaRPr lang="en-US"/>
          </a:p>
        </p:txBody>
      </p:sp>
      <p:sp>
        <p:nvSpPr>
          <p:cNvPr id="8" name="Text 5">
            <a:extLst>
              <a:ext uri="{FF2B5EF4-FFF2-40B4-BE49-F238E27FC236}">
                <a16:creationId xmlns:a16="http://schemas.microsoft.com/office/drawing/2014/main" id="{EAB7FD98-E576-89EB-4545-F35763B72A33}"/>
              </a:ext>
            </a:extLst>
          </p:cNvPr>
          <p:cNvSpPr/>
          <p:nvPr/>
        </p:nvSpPr>
        <p:spPr>
          <a:xfrm>
            <a:off x="457200" y="3983589"/>
            <a:ext cx="4114800" cy="347472"/>
          </a:xfrm>
          <a:prstGeom prst="rect">
            <a:avLst/>
          </a:prstGeom>
          <a:noFill/>
          <a:ln/>
        </p:spPr>
        <p:txBody>
          <a:bodyPr wrap="square" rtlCol="0" anchor="ctr"/>
          <a:lstStyle/>
          <a:p>
            <a:pPr marL="0" indent="0">
              <a:buNone/>
            </a:pPr>
            <a:endParaRPr lang="en-US" sz="1300" dirty="0"/>
          </a:p>
        </p:txBody>
      </p:sp>
      <p:sp>
        <p:nvSpPr>
          <p:cNvPr id="6" name="Shape 0">
            <a:extLst>
              <a:ext uri="{FF2B5EF4-FFF2-40B4-BE49-F238E27FC236}">
                <a16:creationId xmlns:a16="http://schemas.microsoft.com/office/drawing/2014/main" id="{32A832D9-E4C2-DFAB-6CF3-6CF78D15818E}"/>
              </a:ext>
            </a:extLst>
          </p:cNvPr>
          <p:cNvSpPr/>
          <p:nvPr/>
        </p:nvSpPr>
        <p:spPr>
          <a:xfrm>
            <a:off x="0" y="4572"/>
            <a:ext cx="9144000" cy="502920"/>
          </a:xfrm>
          <a:prstGeom prst="rect">
            <a:avLst/>
          </a:prstGeom>
          <a:solidFill>
            <a:srgbClr val="EA580C"/>
          </a:solidFill>
          <a:ln w="12700">
            <a:solidFill>
              <a:srgbClr val="EA580C"/>
            </a:solidFill>
            <a:prstDash val="solid"/>
          </a:ln>
        </p:spPr>
        <p:txBody>
          <a:bodyPr/>
          <a:lstStyle/>
          <a:p>
            <a:endParaRPr lang="en-US"/>
          </a:p>
        </p:txBody>
      </p:sp>
      <p:sp>
        <p:nvSpPr>
          <p:cNvPr id="10" name="Text 1">
            <a:extLst>
              <a:ext uri="{FF2B5EF4-FFF2-40B4-BE49-F238E27FC236}">
                <a16:creationId xmlns:a16="http://schemas.microsoft.com/office/drawing/2014/main" id="{6FD86EB0-4BE6-003D-D0E1-782FB253A853}"/>
              </a:ext>
            </a:extLst>
          </p:cNvPr>
          <p:cNvSpPr/>
          <p:nvPr/>
        </p:nvSpPr>
        <p:spPr>
          <a:xfrm>
            <a:off x="274320" y="4572"/>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3 — KIẾN TRÚC HỆ THỐNG</a:t>
            </a:r>
            <a:endParaRPr lang="en-US" sz="1100" dirty="0"/>
          </a:p>
        </p:txBody>
      </p:sp>
      <p:pic>
        <p:nvPicPr>
          <p:cNvPr id="7" name="Picture 6">
            <a:extLst>
              <a:ext uri="{FF2B5EF4-FFF2-40B4-BE49-F238E27FC236}">
                <a16:creationId xmlns:a16="http://schemas.microsoft.com/office/drawing/2014/main" id="{E69CD68B-C17C-ADE0-88DA-35D7414CFC32}"/>
              </a:ext>
            </a:extLst>
          </p:cNvPr>
          <p:cNvPicPr>
            <a:picLocks noChangeAspect="1"/>
          </p:cNvPicPr>
          <p:nvPr/>
        </p:nvPicPr>
        <p:blipFill>
          <a:blip r:embed="rId3"/>
          <a:stretch>
            <a:fillRect/>
          </a:stretch>
        </p:blipFill>
        <p:spPr>
          <a:xfrm>
            <a:off x="127590" y="1910569"/>
            <a:ext cx="4453236" cy="2340000"/>
          </a:xfrm>
          <a:prstGeom prst="rect">
            <a:avLst/>
          </a:prstGeom>
        </p:spPr>
      </p:pic>
      <p:pic>
        <p:nvPicPr>
          <p:cNvPr id="11" name="Picture 10">
            <a:extLst>
              <a:ext uri="{FF2B5EF4-FFF2-40B4-BE49-F238E27FC236}">
                <a16:creationId xmlns:a16="http://schemas.microsoft.com/office/drawing/2014/main" id="{7BB6520C-52CA-40FE-1137-FB12D6BC138F}"/>
              </a:ext>
            </a:extLst>
          </p:cNvPr>
          <p:cNvPicPr>
            <a:picLocks noChangeAspect="1"/>
          </p:cNvPicPr>
          <p:nvPr/>
        </p:nvPicPr>
        <p:blipFill>
          <a:blip r:embed="rId4"/>
          <a:stretch>
            <a:fillRect/>
          </a:stretch>
        </p:blipFill>
        <p:spPr>
          <a:xfrm>
            <a:off x="4704942" y="1910569"/>
            <a:ext cx="4299721" cy="2340000"/>
          </a:xfrm>
          <a:prstGeom prst="rect">
            <a:avLst/>
          </a:prstGeom>
        </p:spPr>
      </p:pic>
    </p:spTree>
    <p:extLst>
      <p:ext uri="{BB962C8B-B14F-4D97-AF65-F5344CB8AC3E}">
        <p14:creationId xmlns:p14="http://schemas.microsoft.com/office/powerpoint/2010/main" val="1674277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6A34A"/>
          </a:solidFill>
          <a:ln w="12700">
            <a:solidFill>
              <a:srgbClr val="16A34A"/>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4 — KẾT QUẢ ĐẠT ĐƯỢC</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100% mục tiêu hoàn thành — 4 </a:t>
            </a:r>
            <a:r>
              <a:rPr lang="en-US" sz="3000" b="1" dirty="0" err="1">
                <a:solidFill>
                  <a:srgbClr val="1B3A6B"/>
                </a:solidFill>
                <a:latin typeface="Calibri" pitchFamily="34" charset="0"/>
                <a:ea typeface="Calibri" pitchFamily="34" charset="-122"/>
                <a:cs typeface="Calibri" pitchFamily="34" charset="-120"/>
              </a:rPr>
              <a:t>phân</a:t>
            </a:r>
            <a:r>
              <a:rPr lang="en-US" sz="3000" b="1" dirty="0">
                <a:solidFill>
                  <a:srgbClr val="1B3A6B"/>
                </a:solidFill>
                <a:latin typeface="Calibri" pitchFamily="34" charset="0"/>
                <a:ea typeface="Calibri" pitchFamily="34" charset="-122"/>
                <a:cs typeface="Calibri" pitchFamily="34" charset="-120"/>
              </a:rPr>
              <a:t> </a:t>
            </a:r>
            <a:r>
              <a:rPr lang="en-US" sz="3000" b="1" dirty="0" err="1">
                <a:solidFill>
                  <a:srgbClr val="1B3A6B"/>
                </a:solidFill>
                <a:latin typeface="Calibri" pitchFamily="34" charset="0"/>
                <a:ea typeface="Calibri" pitchFamily="34" charset="-122"/>
                <a:cs typeface="Calibri" pitchFamily="34" charset="-120"/>
              </a:rPr>
              <a:t>hệ</a:t>
            </a:r>
            <a:r>
              <a:rPr lang="en-US" sz="3000" b="1" dirty="0">
                <a:solidFill>
                  <a:srgbClr val="1B3A6B"/>
                </a:solidFill>
                <a:latin typeface="Calibri" pitchFamily="34" charset="0"/>
                <a:ea typeface="Calibri" pitchFamily="34" charset="-122"/>
                <a:cs typeface="Calibri" pitchFamily="34" charset="-120"/>
              </a:rPr>
              <a:t> </a:t>
            </a:r>
            <a:r>
              <a:rPr lang="en-US" sz="3000" b="1" dirty="0" err="1">
                <a:solidFill>
                  <a:srgbClr val="1B3A6B"/>
                </a:solidFill>
                <a:latin typeface="Calibri" pitchFamily="34" charset="0"/>
                <a:ea typeface="Calibri" pitchFamily="34" charset="-122"/>
                <a:cs typeface="Calibri" pitchFamily="34" charset="-120"/>
              </a:rPr>
              <a:t>chính</a:t>
            </a:r>
            <a:endParaRPr lang="en-US" sz="3000" dirty="0"/>
          </a:p>
        </p:txBody>
      </p:sp>
      <p:sp>
        <p:nvSpPr>
          <p:cNvPr id="5" name="Shape 3"/>
          <p:cNvSpPr/>
          <p:nvPr/>
        </p:nvSpPr>
        <p:spPr>
          <a:xfrm>
            <a:off x="320040" y="1243584"/>
            <a:ext cx="8503920" cy="32004"/>
          </a:xfrm>
          <a:prstGeom prst="rect">
            <a:avLst/>
          </a:prstGeom>
          <a:solidFill>
            <a:srgbClr val="16A34A"/>
          </a:solidFill>
          <a:ln w="12700">
            <a:solidFill>
              <a:srgbClr val="16A34A"/>
            </a:solidFill>
            <a:prstDash val="solid"/>
          </a:ln>
        </p:spPr>
        <p:txBody>
          <a:bodyPr/>
          <a:lstStyle/>
          <a:p>
            <a:endParaRPr lang="en-US"/>
          </a:p>
        </p:txBody>
      </p:sp>
      <p:sp>
        <p:nvSpPr>
          <p:cNvPr id="6" name="Shape 4"/>
          <p:cNvSpPr/>
          <p:nvPr/>
        </p:nvSpPr>
        <p:spPr>
          <a:xfrm>
            <a:off x="1234440" y="1353312"/>
            <a:ext cx="1572768"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5"/>
          <p:cNvSpPr/>
          <p:nvPr/>
        </p:nvSpPr>
        <p:spPr>
          <a:xfrm>
            <a:off x="1234440" y="1353312"/>
            <a:ext cx="1572768" cy="45720"/>
          </a:xfrm>
          <a:prstGeom prst="rect">
            <a:avLst/>
          </a:prstGeom>
          <a:solidFill>
            <a:srgbClr val="2563EB"/>
          </a:solidFill>
          <a:ln w="12700">
            <a:solidFill>
              <a:srgbClr val="2563EB"/>
            </a:solidFill>
            <a:prstDash val="solid"/>
          </a:ln>
        </p:spPr>
        <p:txBody>
          <a:bodyPr/>
          <a:lstStyle/>
          <a:p>
            <a:endParaRPr lang="en-US"/>
          </a:p>
        </p:txBody>
      </p:sp>
      <p:sp>
        <p:nvSpPr>
          <p:cNvPr id="8" name="Text 6"/>
          <p:cNvSpPr/>
          <p:nvPr/>
        </p:nvSpPr>
        <p:spPr>
          <a:xfrm>
            <a:off x="1234440" y="1408176"/>
            <a:ext cx="1572768" cy="713232"/>
          </a:xfrm>
          <a:prstGeom prst="rect">
            <a:avLst/>
          </a:prstGeom>
          <a:noFill/>
          <a:ln/>
        </p:spPr>
        <p:txBody>
          <a:bodyPr wrap="square" rtlCol="0" anchor="ctr"/>
          <a:lstStyle/>
          <a:p>
            <a:pPr marL="0" indent="0" algn="ctr">
              <a:buNone/>
            </a:pPr>
            <a:r>
              <a:rPr lang="en-US" sz="4000" b="1" dirty="0">
                <a:solidFill>
                  <a:srgbClr val="2563EB"/>
                </a:solidFill>
                <a:latin typeface="Calibri" pitchFamily="34" charset="0"/>
                <a:ea typeface="Calibri" pitchFamily="34" charset="-122"/>
                <a:cs typeface="Calibri" pitchFamily="34" charset="-120"/>
              </a:rPr>
              <a:t>4</a:t>
            </a:r>
            <a:endParaRPr lang="en-US" sz="4000" dirty="0"/>
          </a:p>
        </p:txBody>
      </p:sp>
      <p:sp>
        <p:nvSpPr>
          <p:cNvPr id="9" name="Text 7"/>
          <p:cNvSpPr/>
          <p:nvPr/>
        </p:nvSpPr>
        <p:spPr>
          <a:xfrm>
            <a:off x="1234440" y="2139696"/>
            <a:ext cx="1572768" cy="384048"/>
          </a:xfrm>
          <a:prstGeom prst="rect">
            <a:avLst/>
          </a:prstGeom>
          <a:noFill/>
          <a:ln/>
        </p:spPr>
        <p:txBody>
          <a:bodyPr wrap="square" rtlCol="0" anchor="ctr"/>
          <a:lstStyle/>
          <a:p>
            <a:pPr marL="0" indent="0" algn="ctr">
              <a:buNone/>
            </a:pPr>
            <a:r>
              <a:rPr lang="en-US" sz="1100" dirty="0" err="1">
                <a:solidFill>
                  <a:srgbClr val="475569"/>
                </a:solidFill>
                <a:latin typeface="Calibri" pitchFamily="34" charset="0"/>
                <a:ea typeface="Calibri" pitchFamily="34" charset="-122"/>
                <a:cs typeface="Calibri" pitchFamily="34" charset="-120"/>
              </a:rPr>
              <a:t>Phân</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hệ</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chính</a:t>
            </a:r>
            <a:endParaRPr lang="en-US" sz="1100" dirty="0"/>
          </a:p>
        </p:txBody>
      </p:sp>
      <p:sp>
        <p:nvSpPr>
          <p:cNvPr id="10" name="Shape 8"/>
          <p:cNvSpPr/>
          <p:nvPr/>
        </p:nvSpPr>
        <p:spPr>
          <a:xfrm>
            <a:off x="2935224" y="1353312"/>
            <a:ext cx="1572768"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1" name="Shape 9"/>
          <p:cNvSpPr/>
          <p:nvPr/>
        </p:nvSpPr>
        <p:spPr>
          <a:xfrm>
            <a:off x="2935224" y="1353312"/>
            <a:ext cx="1572768" cy="45720"/>
          </a:xfrm>
          <a:prstGeom prst="rect">
            <a:avLst/>
          </a:prstGeom>
          <a:solidFill>
            <a:srgbClr val="0891B2"/>
          </a:solidFill>
          <a:ln w="12700">
            <a:solidFill>
              <a:srgbClr val="0891B2"/>
            </a:solidFill>
            <a:prstDash val="solid"/>
          </a:ln>
        </p:spPr>
        <p:txBody>
          <a:bodyPr/>
          <a:lstStyle/>
          <a:p>
            <a:endParaRPr lang="en-US"/>
          </a:p>
        </p:txBody>
      </p:sp>
      <p:sp>
        <p:nvSpPr>
          <p:cNvPr id="12" name="Text 10"/>
          <p:cNvSpPr/>
          <p:nvPr/>
        </p:nvSpPr>
        <p:spPr>
          <a:xfrm>
            <a:off x="2935224" y="1408176"/>
            <a:ext cx="1572768" cy="713232"/>
          </a:xfrm>
          <a:prstGeom prst="rect">
            <a:avLst/>
          </a:prstGeom>
          <a:noFill/>
          <a:ln/>
        </p:spPr>
        <p:txBody>
          <a:bodyPr wrap="square" rtlCol="0" anchor="ctr"/>
          <a:lstStyle/>
          <a:p>
            <a:pPr marL="0" indent="0" algn="ctr">
              <a:buNone/>
            </a:pPr>
            <a:r>
              <a:rPr lang="en-US" sz="4000" b="1" dirty="0">
                <a:solidFill>
                  <a:srgbClr val="0891B2"/>
                </a:solidFill>
                <a:latin typeface="Calibri" pitchFamily="34" charset="0"/>
                <a:ea typeface="Calibri" pitchFamily="34" charset="-122"/>
                <a:cs typeface="Calibri" pitchFamily="34" charset="-120"/>
              </a:rPr>
              <a:t>5+3</a:t>
            </a:r>
            <a:endParaRPr lang="en-US" sz="4000" dirty="0"/>
          </a:p>
        </p:txBody>
      </p:sp>
      <p:sp>
        <p:nvSpPr>
          <p:cNvPr id="13" name="Text 11"/>
          <p:cNvSpPr/>
          <p:nvPr/>
        </p:nvSpPr>
        <p:spPr>
          <a:xfrm>
            <a:off x="2935224" y="2139696"/>
            <a:ext cx="1572768" cy="384048"/>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Thao tác LL</a:t>
            </a:r>
            <a:endParaRPr lang="en-US" sz="1100" dirty="0"/>
          </a:p>
          <a:p>
            <a:pPr marL="0" indent="0" algn="ctr">
              <a:buNone/>
            </a:pPr>
            <a:r>
              <a:rPr lang="en-US" sz="1100" dirty="0">
                <a:solidFill>
                  <a:srgbClr val="475569"/>
                </a:solidFill>
                <a:latin typeface="Calibri" pitchFamily="34" charset="0"/>
                <a:ea typeface="Calibri" pitchFamily="34" charset="-122"/>
                <a:cs typeface="Calibri" pitchFamily="34" charset="-120"/>
              </a:rPr>
              <a:t>+ BST</a:t>
            </a:r>
            <a:endParaRPr lang="en-US" sz="1100" dirty="0"/>
          </a:p>
        </p:txBody>
      </p:sp>
      <p:sp>
        <p:nvSpPr>
          <p:cNvPr id="18" name="Shape 16"/>
          <p:cNvSpPr/>
          <p:nvPr/>
        </p:nvSpPr>
        <p:spPr>
          <a:xfrm>
            <a:off x="4636008" y="1339596"/>
            <a:ext cx="1572768"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636008" y="1339596"/>
            <a:ext cx="1572768" cy="45720"/>
          </a:xfrm>
          <a:prstGeom prst="rect">
            <a:avLst/>
          </a:prstGeom>
          <a:solidFill>
            <a:srgbClr val="EA580C"/>
          </a:solidFill>
          <a:ln w="12700">
            <a:solidFill>
              <a:srgbClr val="EA580C"/>
            </a:solidFill>
            <a:prstDash val="solid"/>
          </a:ln>
        </p:spPr>
        <p:txBody>
          <a:bodyPr/>
          <a:lstStyle/>
          <a:p>
            <a:endParaRPr lang="en-US"/>
          </a:p>
        </p:txBody>
      </p:sp>
      <p:sp>
        <p:nvSpPr>
          <p:cNvPr id="20" name="Text 18"/>
          <p:cNvSpPr/>
          <p:nvPr/>
        </p:nvSpPr>
        <p:spPr>
          <a:xfrm>
            <a:off x="4636008" y="1394460"/>
            <a:ext cx="1572768" cy="713232"/>
          </a:xfrm>
          <a:prstGeom prst="rect">
            <a:avLst/>
          </a:prstGeom>
          <a:noFill/>
          <a:ln/>
        </p:spPr>
        <p:txBody>
          <a:bodyPr wrap="square" rtlCol="0" anchor="ctr"/>
          <a:lstStyle/>
          <a:p>
            <a:pPr marL="0" indent="0" algn="ctr">
              <a:buNone/>
            </a:pPr>
            <a:r>
              <a:rPr lang="en-US" sz="4000" b="1" dirty="0">
                <a:solidFill>
                  <a:srgbClr val="EA580C"/>
                </a:solidFill>
                <a:latin typeface="Calibri" pitchFamily="34" charset="0"/>
                <a:ea typeface="Calibri" pitchFamily="34" charset="-122"/>
                <a:cs typeface="Calibri" pitchFamily="34" charset="-120"/>
              </a:rPr>
              <a:t>2</a:t>
            </a:r>
            <a:endParaRPr lang="en-US" sz="4000" dirty="0"/>
          </a:p>
        </p:txBody>
      </p:sp>
      <p:sp>
        <p:nvSpPr>
          <p:cNvPr id="21" name="Text 19"/>
          <p:cNvSpPr/>
          <p:nvPr/>
        </p:nvSpPr>
        <p:spPr>
          <a:xfrm>
            <a:off x="4636008" y="2125980"/>
            <a:ext cx="1572768" cy="384048"/>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Chế độ</a:t>
            </a:r>
            <a:endParaRPr lang="en-US" sz="1100" dirty="0"/>
          </a:p>
          <a:p>
            <a:pPr marL="0" indent="0" algn="ctr">
              <a:buNone/>
            </a:pPr>
            <a:r>
              <a:rPr lang="en-US" sz="1100" dirty="0">
                <a:solidFill>
                  <a:srgbClr val="475569"/>
                </a:solidFill>
                <a:latin typeface="Calibri" pitchFamily="34" charset="0"/>
                <a:ea typeface="Calibri" pitchFamily="34" charset="-122"/>
                <a:cs typeface="Calibri" pitchFamily="34" charset="-120"/>
              </a:rPr>
              <a:t>Thử thách</a:t>
            </a:r>
            <a:endParaRPr lang="en-US" sz="1100" dirty="0"/>
          </a:p>
        </p:txBody>
      </p:sp>
      <p:sp>
        <p:nvSpPr>
          <p:cNvPr id="22" name="Shape 20"/>
          <p:cNvSpPr/>
          <p:nvPr/>
        </p:nvSpPr>
        <p:spPr>
          <a:xfrm>
            <a:off x="6336792" y="1339596"/>
            <a:ext cx="1572768"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6336792" y="1339596"/>
            <a:ext cx="1572768" cy="45720"/>
          </a:xfrm>
          <a:prstGeom prst="rect">
            <a:avLst/>
          </a:prstGeom>
          <a:solidFill>
            <a:srgbClr val="16A34A"/>
          </a:solidFill>
          <a:ln w="12700">
            <a:solidFill>
              <a:srgbClr val="16A34A"/>
            </a:solidFill>
            <a:prstDash val="solid"/>
          </a:ln>
        </p:spPr>
        <p:txBody>
          <a:bodyPr/>
          <a:lstStyle/>
          <a:p>
            <a:endParaRPr lang="en-US"/>
          </a:p>
        </p:txBody>
      </p:sp>
      <p:sp>
        <p:nvSpPr>
          <p:cNvPr id="24" name="Text 22"/>
          <p:cNvSpPr/>
          <p:nvPr/>
        </p:nvSpPr>
        <p:spPr>
          <a:xfrm>
            <a:off x="6336792" y="1394460"/>
            <a:ext cx="1572768" cy="713232"/>
          </a:xfrm>
          <a:prstGeom prst="rect">
            <a:avLst/>
          </a:prstGeom>
          <a:noFill/>
          <a:ln/>
        </p:spPr>
        <p:txBody>
          <a:bodyPr wrap="square" rtlCol="0" anchor="ctr"/>
          <a:lstStyle/>
          <a:p>
            <a:pPr marL="0" indent="0" algn="ctr">
              <a:buNone/>
            </a:pPr>
            <a:r>
              <a:rPr lang="en-US" sz="4000" b="1" dirty="0">
                <a:solidFill>
                  <a:srgbClr val="16A34A"/>
                </a:solidFill>
                <a:latin typeface="Calibri" pitchFamily="34" charset="0"/>
                <a:ea typeface="Calibri" pitchFamily="34" charset="-122"/>
                <a:cs typeface="Calibri" pitchFamily="34" charset="-120"/>
              </a:rPr>
              <a:t>0</a:t>
            </a:r>
            <a:endParaRPr lang="en-US" sz="4000" dirty="0"/>
          </a:p>
        </p:txBody>
      </p:sp>
      <p:sp>
        <p:nvSpPr>
          <p:cNvPr id="25" name="Text 23"/>
          <p:cNvSpPr/>
          <p:nvPr/>
        </p:nvSpPr>
        <p:spPr>
          <a:xfrm>
            <a:off x="6336792" y="2125980"/>
            <a:ext cx="1572768" cy="384048"/>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Framework</a:t>
            </a:r>
            <a:endParaRPr lang="en-US" sz="1100" dirty="0"/>
          </a:p>
          <a:p>
            <a:pPr marL="0" indent="0" algn="ctr">
              <a:buNone/>
            </a:pPr>
            <a:r>
              <a:rPr lang="en-US" sz="1100" dirty="0">
                <a:solidFill>
                  <a:srgbClr val="475569"/>
                </a:solidFill>
                <a:latin typeface="Calibri" pitchFamily="34" charset="0"/>
                <a:ea typeface="Calibri" pitchFamily="34" charset="-122"/>
                <a:cs typeface="Calibri" pitchFamily="34" charset="-120"/>
              </a:rPr>
              <a:t>ngoài</a:t>
            </a:r>
            <a:endParaRPr lang="en-US" sz="1100" dirty="0"/>
          </a:p>
        </p:txBody>
      </p:sp>
      <p:pic>
        <p:nvPicPr>
          <p:cNvPr id="26" name="Image 0" descr="preencoded.png"/>
          <p:cNvPicPr>
            <a:picLocks noChangeAspect="1"/>
          </p:cNvPicPr>
          <p:nvPr/>
        </p:nvPicPr>
        <p:blipFill>
          <a:blip r:embed="rId3"/>
          <a:stretch>
            <a:fillRect/>
          </a:stretch>
        </p:blipFill>
        <p:spPr>
          <a:xfrm>
            <a:off x="320040" y="2743200"/>
            <a:ext cx="8503920" cy="228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6A34A"/>
          </a:solidFill>
          <a:ln w="12700">
            <a:solidFill>
              <a:srgbClr val="16A34A"/>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4 — ĐÁNH GIÁ ƯU NHƯỢC ĐIỂM</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Đánh giá khách quan hệ thống</a:t>
            </a:r>
            <a:endParaRPr lang="en-US" sz="3000" dirty="0"/>
          </a:p>
        </p:txBody>
      </p:sp>
      <p:sp>
        <p:nvSpPr>
          <p:cNvPr id="5" name="Shape 3"/>
          <p:cNvSpPr/>
          <p:nvPr/>
        </p:nvSpPr>
        <p:spPr>
          <a:xfrm>
            <a:off x="320040" y="1243584"/>
            <a:ext cx="8503920" cy="32004"/>
          </a:xfrm>
          <a:prstGeom prst="rect">
            <a:avLst/>
          </a:prstGeom>
          <a:solidFill>
            <a:srgbClr val="16A34A"/>
          </a:solidFill>
          <a:ln w="12700">
            <a:solidFill>
              <a:srgbClr val="16A34A"/>
            </a:solidFill>
            <a:prstDash val="solid"/>
          </a:ln>
        </p:spPr>
        <p:txBody>
          <a:bodyPr/>
          <a:lstStyle/>
          <a:p>
            <a:endParaRPr lang="en-US"/>
          </a:p>
        </p:txBody>
      </p:sp>
      <p:sp>
        <p:nvSpPr>
          <p:cNvPr id="6" name="Shape 4"/>
          <p:cNvSpPr/>
          <p:nvPr/>
        </p:nvSpPr>
        <p:spPr>
          <a:xfrm>
            <a:off x="274320" y="1399032"/>
            <a:ext cx="420624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417320"/>
            <a:ext cx="4206240" cy="384048"/>
          </a:xfrm>
          <a:prstGeom prst="rect">
            <a:avLst/>
          </a:prstGeom>
          <a:solidFill>
            <a:srgbClr val="16A34A"/>
          </a:solidFill>
          <a:ln w="12700">
            <a:solidFill>
              <a:srgbClr val="16A34A"/>
            </a:solidFill>
            <a:prstDash val="solid"/>
          </a:ln>
        </p:spPr>
        <p:txBody>
          <a:bodyPr/>
          <a:lstStyle/>
          <a:p>
            <a:endParaRPr lang="en-US"/>
          </a:p>
        </p:txBody>
      </p:sp>
      <p:sp>
        <p:nvSpPr>
          <p:cNvPr id="8" name="Text 6"/>
          <p:cNvSpPr/>
          <p:nvPr/>
        </p:nvSpPr>
        <p:spPr>
          <a:xfrm>
            <a:off x="457200" y="1417320"/>
            <a:ext cx="393192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Ưu điểm</a:t>
            </a:r>
            <a:endParaRPr lang="en-US" sz="1400" dirty="0"/>
          </a:p>
        </p:txBody>
      </p:sp>
      <p:sp>
        <p:nvSpPr>
          <p:cNvPr id="9" name="Shape 7"/>
          <p:cNvSpPr/>
          <p:nvPr/>
        </p:nvSpPr>
        <p:spPr>
          <a:xfrm>
            <a:off x="457200" y="1938528"/>
            <a:ext cx="219456" cy="219456"/>
          </a:xfrm>
          <a:prstGeom prst="ellipse">
            <a:avLst/>
          </a:prstGeom>
          <a:solidFill>
            <a:srgbClr val="16A34A"/>
          </a:solidFill>
          <a:ln w="12700">
            <a:solidFill>
              <a:srgbClr val="16A34A"/>
            </a:solidFill>
            <a:prstDash val="solid"/>
          </a:ln>
        </p:spPr>
        <p:txBody>
          <a:bodyPr/>
          <a:lstStyle/>
          <a:p>
            <a:endParaRPr lang="en-US"/>
          </a:p>
        </p:txBody>
      </p:sp>
      <p:sp>
        <p:nvSpPr>
          <p:cNvPr id="10" name="Text 8"/>
          <p:cNvSpPr/>
          <p:nvPr/>
        </p:nvSpPr>
        <p:spPr>
          <a:xfrm>
            <a:off x="768096" y="1901952"/>
            <a:ext cx="3621024"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&lt; 100 KB · Tải gần tức thì · Không cài đặt gì thêm</a:t>
            </a:r>
            <a:endParaRPr lang="en-US" sz="1250" dirty="0"/>
          </a:p>
        </p:txBody>
      </p:sp>
      <p:sp>
        <p:nvSpPr>
          <p:cNvPr id="11" name="Shape 9"/>
          <p:cNvSpPr/>
          <p:nvPr/>
        </p:nvSpPr>
        <p:spPr>
          <a:xfrm>
            <a:off x="457200" y="2505456"/>
            <a:ext cx="219456" cy="219456"/>
          </a:xfrm>
          <a:prstGeom prst="ellipse">
            <a:avLst/>
          </a:prstGeom>
          <a:solidFill>
            <a:srgbClr val="16A34A"/>
          </a:solidFill>
          <a:ln w="12700">
            <a:solidFill>
              <a:srgbClr val="16A34A"/>
            </a:solidFill>
            <a:prstDash val="solid"/>
          </a:ln>
        </p:spPr>
        <p:txBody>
          <a:bodyPr/>
          <a:lstStyle/>
          <a:p>
            <a:endParaRPr lang="en-US"/>
          </a:p>
        </p:txBody>
      </p:sp>
      <p:sp>
        <p:nvSpPr>
          <p:cNvPr id="12" name="Text 10"/>
          <p:cNvSpPr/>
          <p:nvPr/>
        </p:nvSpPr>
        <p:spPr>
          <a:xfrm>
            <a:off x="768096" y="2468880"/>
            <a:ext cx="3621024"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Dark/Light Mode liền mạch — không chớp trắng khi chuyển trang</a:t>
            </a:r>
            <a:endParaRPr lang="en-US" sz="1250" dirty="0"/>
          </a:p>
        </p:txBody>
      </p:sp>
      <p:sp>
        <p:nvSpPr>
          <p:cNvPr id="13" name="Shape 11"/>
          <p:cNvSpPr/>
          <p:nvPr/>
        </p:nvSpPr>
        <p:spPr>
          <a:xfrm>
            <a:off x="457200" y="3072384"/>
            <a:ext cx="219456" cy="219456"/>
          </a:xfrm>
          <a:prstGeom prst="ellipse">
            <a:avLst/>
          </a:prstGeom>
          <a:solidFill>
            <a:srgbClr val="16A34A"/>
          </a:solidFill>
          <a:ln w="12700">
            <a:solidFill>
              <a:srgbClr val="16A34A"/>
            </a:solidFill>
            <a:prstDash val="solid"/>
          </a:ln>
        </p:spPr>
        <p:txBody>
          <a:bodyPr/>
          <a:lstStyle/>
          <a:p>
            <a:endParaRPr lang="en-US"/>
          </a:p>
        </p:txBody>
      </p:sp>
      <p:sp>
        <p:nvSpPr>
          <p:cNvPr id="14" name="Text 12"/>
          <p:cNvSpPr/>
          <p:nvPr/>
        </p:nvSpPr>
        <p:spPr>
          <a:xfrm>
            <a:off x="768096" y="3035808"/>
            <a:ext cx="3621024"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Canvas 3000px + điều hướng 2 trục — không bao giờ vỡ layout</a:t>
            </a:r>
            <a:endParaRPr lang="en-US" sz="1250" dirty="0"/>
          </a:p>
        </p:txBody>
      </p:sp>
      <p:sp>
        <p:nvSpPr>
          <p:cNvPr id="15" name="Shape 13"/>
          <p:cNvSpPr/>
          <p:nvPr/>
        </p:nvSpPr>
        <p:spPr>
          <a:xfrm>
            <a:off x="457200" y="3639312"/>
            <a:ext cx="219456" cy="219456"/>
          </a:xfrm>
          <a:prstGeom prst="ellipse">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768096" y="3602736"/>
            <a:ext cx="3621024"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Time-Travel Engine chuyển học từ thụ động sang chủ động</a:t>
            </a:r>
            <a:endParaRPr lang="en-US" sz="1250" dirty="0"/>
          </a:p>
        </p:txBody>
      </p:sp>
      <p:sp>
        <p:nvSpPr>
          <p:cNvPr id="17" name="Shape 15"/>
          <p:cNvSpPr/>
          <p:nvPr/>
        </p:nvSpPr>
        <p:spPr>
          <a:xfrm>
            <a:off x="457200" y="4206240"/>
            <a:ext cx="219456" cy="219456"/>
          </a:xfrm>
          <a:prstGeom prst="ellipse">
            <a:avLst/>
          </a:prstGeom>
          <a:solidFill>
            <a:srgbClr val="16A34A"/>
          </a:solidFill>
          <a:ln w="12700">
            <a:solidFill>
              <a:srgbClr val="16A34A"/>
            </a:solidFill>
            <a:prstDash val="solid"/>
          </a:ln>
        </p:spPr>
        <p:txBody>
          <a:bodyPr/>
          <a:lstStyle/>
          <a:p>
            <a:endParaRPr lang="en-US"/>
          </a:p>
        </p:txBody>
      </p:sp>
      <p:sp>
        <p:nvSpPr>
          <p:cNvPr id="18" name="Text 16"/>
          <p:cNvSpPr/>
          <p:nvPr/>
        </p:nvSpPr>
        <p:spPr>
          <a:xfrm>
            <a:off x="768096" y="4169664"/>
            <a:ext cx="3621024" cy="47548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Auto-Grading giảm tải chấm điểm cho giảng viên</a:t>
            </a:r>
            <a:endParaRPr lang="en-US" sz="1250" dirty="0"/>
          </a:p>
        </p:txBody>
      </p:sp>
      <p:sp>
        <p:nvSpPr>
          <p:cNvPr id="19" name="Shape 17"/>
          <p:cNvSpPr/>
          <p:nvPr/>
        </p:nvSpPr>
        <p:spPr>
          <a:xfrm>
            <a:off x="4663440" y="1417320"/>
            <a:ext cx="416052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663440" y="1417320"/>
            <a:ext cx="4160520" cy="384048"/>
          </a:xfrm>
          <a:prstGeom prst="rect">
            <a:avLst/>
          </a:prstGeom>
          <a:solidFill>
            <a:srgbClr val="D97706"/>
          </a:solidFill>
          <a:ln w="12700">
            <a:solidFill>
              <a:srgbClr val="D97706"/>
            </a:solidFill>
            <a:prstDash val="solid"/>
          </a:ln>
        </p:spPr>
        <p:txBody>
          <a:bodyPr/>
          <a:lstStyle/>
          <a:p>
            <a:endParaRPr lang="en-US"/>
          </a:p>
        </p:txBody>
      </p:sp>
      <p:sp>
        <p:nvSpPr>
          <p:cNvPr id="21" name="Text 19"/>
          <p:cNvSpPr/>
          <p:nvPr/>
        </p:nvSpPr>
        <p:spPr>
          <a:xfrm>
            <a:off x="4800600" y="1417320"/>
            <a:ext cx="384048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Hạn chế &amp; Hướng cải thiện</a:t>
            </a:r>
            <a:endParaRPr lang="en-US" sz="1400" dirty="0"/>
          </a:p>
        </p:txBody>
      </p:sp>
      <p:sp>
        <p:nvSpPr>
          <p:cNvPr id="22" name="Shape 20"/>
          <p:cNvSpPr/>
          <p:nvPr/>
        </p:nvSpPr>
        <p:spPr>
          <a:xfrm>
            <a:off x="4773168" y="1920240"/>
            <a:ext cx="3931920" cy="6400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Text 21"/>
          <p:cNvSpPr/>
          <p:nvPr/>
        </p:nvSpPr>
        <p:spPr>
          <a:xfrm>
            <a:off x="4892040" y="1965960"/>
            <a:ext cx="3749040" cy="5486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Mới hỗ trợ 2 cấu trúc (chưa có AVL, Heap, Graph)</a:t>
            </a:r>
            <a:endParaRPr lang="en-US" sz="1200" dirty="0"/>
          </a:p>
        </p:txBody>
      </p:sp>
      <p:sp>
        <p:nvSpPr>
          <p:cNvPr id="24" name="Shape 22"/>
          <p:cNvSpPr/>
          <p:nvPr/>
        </p:nvSpPr>
        <p:spPr>
          <a:xfrm>
            <a:off x="4773168" y="2670048"/>
            <a:ext cx="3931920" cy="6400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Text 23"/>
          <p:cNvSpPr/>
          <p:nvPr/>
        </p:nvSpPr>
        <p:spPr>
          <a:xfrm>
            <a:off x="4892040" y="2715768"/>
            <a:ext cx="3749040" cy="5486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DOM rendering tối ưu ở 50-100 Node (không phải 10,000+)</a:t>
            </a:r>
            <a:endParaRPr lang="en-US" sz="1200" dirty="0"/>
          </a:p>
        </p:txBody>
      </p:sp>
      <p:sp>
        <p:nvSpPr>
          <p:cNvPr id="26" name="Shape 24"/>
          <p:cNvSpPr/>
          <p:nvPr/>
        </p:nvSpPr>
        <p:spPr>
          <a:xfrm>
            <a:off x="4773168" y="3419856"/>
            <a:ext cx="3931920" cy="6400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Text 25"/>
          <p:cNvSpPr/>
          <p:nvPr/>
        </p:nvSpPr>
        <p:spPr>
          <a:xfrm>
            <a:off x="4892040" y="3465576"/>
            <a:ext cx="3749040" cy="5486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Chưa có backend — không lưu tiến trình học</a:t>
            </a:r>
            <a:endParaRPr lang="en-US" sz="1200" dirty="0"/>
          </a:p>
        </p:txBody>
      </p:sp>
      <p:sp>
        <p:nvSpPr>
          <p:cNvPr id="28" name="Shape 26"/>
          <p:cNvSpPr/>
          <p:nvPr/>
        </p:nvSpPr>
        <p:spPr>
          <a:xfrm>
            <a:off x="4773168" y="4169664"/>
            <a:ext cx="3931920" cy="6400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9" name="Text 27"/>
          <p:cNvSpPr/>
          <p:nvPr/>
        </p:nvSpPr>
        <p:spPr>
          <a:xfrm>
            <a:off x="4892040" y="4215384"/>
            <a:ext cx="3749040" cy="5486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Kho nhiệm vụ Chiến Binh còn ít (6 nhiệm vụ)</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6A34A"/>
          </a:solidFill>
          <a:ln w="12700">
            <a:solidFill>
              <a:srgbClr val="16A34A"/>
            </a:solidFill>
            <a:prstDash val="solid"/>
          </a:ln>
        </p:spPr>
        <p:txBody>
          <a:bodyPr/>
          <a:lstStyle/>
          <a:p>
            <a:endParaRPr lang="en-US"/>
          </a:p>
        </p:txBody>
      </p:sp>
      <p:sp>
        <p:nvSpPr>
          <p:cNvPr id="3" name="Text 1"/>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4 — HƯỚNG PHÁT TRIỂN</a:t>
            </a:r>
            <a:endParaRPr lang="en-US" sz="1100" dirty="0"/>
          </a:p>
        </p:txBody>
      </p:sp>
      <p:sp>
        <p:nvSpPr>
          <p:cNvPr id="4" name="Text 2"/>
          <p:cNvSpPr/>
          <p:nvPr/>
        </p:nvSpPr>
        <p:spPr>
          <a:xfrm>
            <a:off x="320040" y="566928"/>
            <a:ext cx="8503920" cy="640080"/>
          </a:xfrm>
          <a:prstGeom prst="rect">
            <a:avLst/>
          </a:prstGeom>
          <a:noFill/>
          <a:ln/>
        </p:spPr>
        <p:txBody>
          <a:bodyPr wrap="square" rtlCol="0" anchor="ctr"/>
          <a:lstStyle/>
          <a:p>
            <a:pPr marL="0" indent="0" algn="l">
              <a:buNone/>
            </a:pPr>
            <a:r>
              <a:rPr lang="en-US" sz="3000" b="1" dirty="0">
                <a:solidFill>
                  <a:srgbClr val="1B3A6B"/>
                </a:solidFill>
                <a:latin typeface="Calibri" pitchFamily="34" charset="0"/>
                <a:ea typeface="Calibri" pitchFamily="34" charset="-122"/>
                <a:cs typeface="Calibri" pitchFamily="34" charset="-120"/>
              </a:rPr>
              <a:t>Roadmap — Từ Đồ án đến Nền tảng EdTech</a:t>
            </a:r>
            <a:endParaRPr lang="en-US" sz="3000" dirty="0"/>
          </a:p>
        </p:txBody>
      </p:sp>
      <p:sp>
        <p:nvSpPr>
          <p:cNvPr id="5" name="Shape 3"/>
          <p:cNvSpPr/>
          <p:nvPr/>
        </p:nvSpPr>
        <p:spPr>
          <a:xfrm>
            <a:off x="320040" y="1243584"/>
            <a:ext cx="8503920" cy="32004"/>
          </a:xfrm>
          <a:prstGeom prst="rect">
            <a:avLst/>
          </a:prstGeom>
          <a:solidFill>
            <a:srgbClr val="16A34A"/>
          </a:solidFill>
          <a:ln w="12700">
            <a:solidFill>
              <a:srgbClr val="16A34A"/>
            </a:solidFill>
            <a:prstDash val="solid"/>
          </a:ln>
        </p:spPr>
        <p:txBody>
          <a:bodyPr/>
          <a:lstStyle/>
          <a:p>
            <a:endParaRPr lang="en-US"/>
          </a:p>
        </p:txBody>
      </p:sp>
      <p:sp>
        <p:nvSpPr>
          <p:cNvPr id="7" name="Shape 4"/>
          <p:cNvSpPr/>
          <p:nvPr/>
        </p:nvSpPr>
        <p:spPr>
          <a:xfrm>
            <a:off x="274320" y="3453548"/>
            <a:ext cx="3904488" cy="713232"/>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274320" y="3453548"/>
            <a:ext cx="50928" cy="713232"/>
          </a:xfrm>
          <a:prstGeom prst="rect">
            <a:avLst/>
          </a:prstGeom>
          <a:solidFill>
            <a:srgbClr val="2563EB"/>
          </a:solidFill>
          <a:ln w="12700">
            <a:solidFill>
              <a:srgbClr val="2563EB"/>
            </a:solidFill>
            <a:prstDash val="solid"/>
          </a:ln>
        </p:spPr>
        <p:txBody>
          <a:bodyPr/>
          <a:lstStyle/>
          <a:p>
            <a:endParaRPr lang="en-US"/>
          </a:p>
        </p:txBody>
      </p:sp>
      <p:sp>
        <p:nvSpPr>
          <p:cNvPr id="9" name="Text 6"/>
          <p:cNvSpPr/>
          <p:nvPr/>
        </p:nvSpPr>
        <p:spPr>
          <a:xfrm>
            <a:off x="429768" y="3499268"/>
            <a:ext cx="3480087" cy="268511"/>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AVL Tree + Split-screen</a:t>
            </a:r>
            <a:endParaRPr lang="en-US" sz="1300" dirty="0"/>
          </a:p>
        </p:txBody>
      </p:sp>
      <p:sp>
        <p:nvSpPr>
          <p:cNvPr id="10" name="Text 7"/>
          <p:cNvSpPr/>
          <p:nvPr/>
        </p:nvSpPr>
        <p:spPr>
          <a:xfrm>
            <a:off x="429768" y="3819308"/>
            <a:ext cx="3480087" cy="318857"/>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So sánh BST vs AVL song song, trực quan hóa xoay cây tự cân bằng</a:t>
            </a:r>
            <a:endParaRPr lang="en-US" sz="1100" dirty="0"/>
          </a:p>
        </p:txBody>
      </p:sp>
      <p:sp>
        <p:nvSpPr>
          <p:cNvPr id="11" name="Shape 8"/>
          <p:cNvSpPr/>
          <p:nvPr/>
        </p:nvSpPr>
        <p:spPr>
          <a:xfrm>
            <a:off x="4690872" y="3453548"/>
            <a:ext cx="3904488" cy="713232"/>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2" name="Shape 9"/>
          <p:cNvSpPr/>
          <p:nvPr/>
        </p:nvSpPr>
        <p:spPr>
          <a:xfrm>
            <a:off x="4690872" y="3453548"/>
            <a:ext cx="50928" cy="713232"/>
          </a:xfrm>
          <a:prstGeom prst="rect">
            <a:avLst/>
          </a:prstGeom>
          <a:solidFill>
            <a:srgbClr val="16A34A"/>
          </a:solidFill>
          <a:ln w="12700">
            <a:solidFill>
              <a:srgbClr val="16A34A"/>
            </a:solidFill>
            <a:prstDash val="solid"/>
          </a:ln>
        </p:spPr>
        <p:txBody>
          <a:bodyPr/>
          <a:lstStyle/>
          <a:p>
            <a:endParaRPr lang="en-US"/>
          </a:p>
        </p:txBody>
      </p:sp>
      <p:sp>
        <p:nvSpPr>
          <p:cNvPr id="13" name="Text 10"/>
          <p:cNvSpPr/>
          <p:nvPr/>
        </p:nvSpPr>
        <p:spPr>
          <a:xfrm>
            <a:off x="4846320" y="3499268"/>
            <a:ext cx="3480087" cy="268511"/>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Drag &amp; Drop Interface</a:t>
            </a:r>
            <a:endParaRPr lang="en-US" sz="1300" dirty="0"/>
          </a:p>
        </p:txBody>
      </p:sp>
      <p:sp>
        <p:nvSpPr>
          <p:cNvPr id="14" name="Text 11"/>
          <p:cNvSpPr/>
          <p:nvPr/>
        </p:nvSpPr>
        <p:spPr>
          <a:xfrm>
            <a:off x="4846320" y="3819308"/>
            <a:ext cx="3480087" cy="318857"/>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Kéo thả Node trực tiếp lên Canvas — tăng xúc giác học tập</a:t>
            </a:r>
            <a:endParaRPr lang="en-US" sz="1100" dirty="0"/>
          </a:p>
        </p:txBody>
      </p:sp>
      <p:sp>
        <p:nvSpPr>
          <p:cNvPr id="15" name="Shape 12"/>
          <p:cNvSpPr/>
          <p:nvPr/>
        </p:nvSpPr>
        <p:spPr>
          <a:xfrm>
            <a:off x="274320" y="4349660"/>
            <a:ext cx="3904488" cy="713232"/>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p:cNvSpPr/>
          <p:nvPr/>
        </p:nvSpPr>
        <p:spPr>
          <a:xfrm>
            <a:off x="274320" y="4349660"/>
            <a:ext cx="50928" cy="713232"/>
          </a:xfrm>
          <a:prstGeom prst="rect">
            <a:avLst/>
          </a:prstGeom>
          <a:solidFill>
            <a:srgbClr val="7C3AED"/>
          </a:solidFill>
          <a:ln w="12700">
            <a:solidFill>
              <a:srgbClr val="7C3AED"/>
            </a:solidFill>
            <a:prstDash val="solid"/>
          </a:ln>
        </p:spPr>
        <p:txBody>
          <a:bodyPr/>
          <a:lstStyle/>
          <a:p>
            <a:endParaRPr lang="en-US"/>
          </a:p>
        </p:txBody>
      </p:sp>
      <p:sp>
        <p:nvSpPr>
          <p:cNvPr id="17" name="Text 14"/>
          <p:cNvSpPr/>
          <p:nvPr/>
        </p:nvSpPr>
        <p:spPr>
          <a:xfrm>
            <a:off x="429768" y="4395380"/>
            <a:ext cx="3480087" cy="268511"/>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Full-stack + Leaderboard</a:t>
            </a:r>
            <a:endParaRPr lang="en-US" sz="1300" dirty="0"/>
          </a:p>
        </p:txBody>
      </p:sp>
      <p:sp>
        <p:nvSpPr>
          <p:cNvPr id="18" name="Text 15"/>
          <p:cNvSpPr/>
          <p:nvPr/>
        </p:nvSpPr>
        <p:spPr>
          <a:xfrm>
            <a:off x="429768" y="4715420"/>
            <a:ext cx="3480087" cy="318857"/>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Node.js + MongoDB: lưu tiến trình, bảng </a:t>
            </a:r>
            <a:r>
              <a:rPr lang="en-US" sz="1100" dirty="0" err="1">
                <a:solidFill>
                  <a:srgbClr val="475569"/>
                </a:solidFill>
                <a:latin typeface="Calibri" pitchFamily="34" charset="0"/>
                <a:ea typeface="Calibri" pitchFamily="34" charset="-122"/>
                <a:cs typeface="Calibri" pitchFamily="34" charset="-120"/>
              </a:rPr>
              <a:t>xếp</a:t>
            </a:r>
            <a:r>
              <a:rPr lang="en-US" sz="1100" dirty="0">
                <a:solidFill>
                  <a:srgbClr val="475569"/>
                </a:solidFill>
                <a:latin typeface="Calibri" pitchFamily="34" charset="0"/>
                <a:ea typeface="Calibri" pitchFamily="34" charset="-122"/>
                <a:cs typeface="Calibri" pitchFamily="34" charset="-120"/>
              </a:rPr>
              <a:t> </a:t>
            </a:r>
            <a:r>
              <a:rPr lang="en-US" sz="1100" dirty="0" err="1">
                <a:solidFill>
                  <a:srgbClr val="475569"/>
                </a:solidFill>
                <a:latin typeface="Calibri" pitchFamily="34" charset="0"/>
                <a:ea typeface="Calibri" pitchFamily="34" charset="-122"/>
                <a:cs typeface="Calibri" pitchFamily="34" charset="-120"/>
              </a:rPr>
              <a:t>hạng</a:t>
            </a:r>
            <a:endParaRPr lang="en-US" sz="1100" dirty="0"/>
          </a:p>
        </p:txBody>
      </p:sp>
      <p:sp>
        <p:nvSpPr>
          <p:cNvPr id="19" name="Shape 16"/>
          <p:cNvSpPr/>
          <p:nvPr/>
        </p:nvSpPr>
        <p:spPr>
          <a:xfrm>
            <a:off x="4690872" y="4349660"/>
            <a:ext cx="3904488" cy="713232"/>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7"/>
          <p:cNvSpPr/>
          <p:nvPr/>
        </p:nvSpPr>
        <p:spPr>
          <a:xfrm>
            <a:off x="4690872" y="4349660"/>
            <a:ext cx="50928" cy="713232"/>
          </a:xfrm>
          <a:prstGeom prst="rect">
            <a:avLst/>
          </a:prstGeom>
          <a:solidFill>
            <a:srgbClr val="D97706"/>
          </a:solidFill>
          <a:ln w="12700">
            <a:solidFill>
              <a:srgbClr val="D97706"/>
            </a:solidFill>
            <a:prstDash val="solid"/>
          </a:ln>
        </p:spPr>
        <p:txBody>
          <a:bodyPr/>
          <a:lstStyle/>
          <a:p>
            <a:endParaRPr lang="en-US"/>
          </a:p>
        </p:txBody>
      </p:sp>
      <p:sp>
        <p:nvSpPr>
          <p:cNvPr id="21" name="Text 18"/>
          <p:cNvSpPr/>
          <p:nvPr/>
        </p:nvSpPr>
        <p:spPr>
          <a:xfrm>
            <a:off x="4846320" y="4395380"/>
            <a:ext cx="3480087" cy="268511"/>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AI Chatbot hỗ trợ</a:t>
            </a:r>
            <a:endParaRPr lang="en-US" sz="1300" dirty="0"/>
          </a:p>
        </p:txBody>
      </p:sp>
      <p:sp>
        <p:nvSpPr>
          <p:cNvPr id="22" name="Text 19"/>
          <p:cNvSpPr/>
          <p:nvPr/>
        </p:nvSpPr>
        <p:spPr>
          <a:xfrm>
            <a:off x="4846320" y="4715420"/>
            <a:ext cx="3480087" cy="318857"/>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LLM giải thích thuật toán theo ngữ cảnh — cá nhân hóa lộ trình học</a:t>
            </a:r>
            <a:endParaRPr lang="en-US" sz="1100" dirty="0"/>
          </a:p>
        </p:txBody>
      </p:sp>
      <p:pic>
        <p:nvPicPr>
          <p:cNvPr id="26" name="Picture 25">
            <a:extLst>
              <a:ext uri="{FF2B5EF4-FFF2-40B4-BE49-F238E27FC236}">
                <a16:creationId xmlns:a16="http://schemas.microsoft.com/office/drawing/2014/main" id="{B4B9A14D-D7DA-4872-8456-C529ACE429B2}"/>
              </a:ext>
            </a:extLst>
          </p:cNvPr>
          <p:cNvPicPr>
            <a:picLocks noChangeAspect="1"/>
          </p:cNvPicPr>
          <p:nvPr/>
        </p:nvPicPr>
        <p:blipFill>
          <a:blip r:embed="rId3"/>
          <a:srcRect t="11924" b="16887"/>
          <a:stretch>
            <a:fillRect/>
          </a:stretch>
        </p:blipFill>
        <p:spPr>
          <a:xfrm>
            <a:off x="817593" y="1327463"/>
            <a:ext cx="7441482" cy="207455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74053-94F1-BD0C-C0B3-D6A58E2D747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58093B3-E421-AB71-58A1-A2558117A83D}"/>
              </a:ext>
            </a:extLst>
          </p:cNvPr>
          <p:cNvSpPr/>
          <p:nvPr/>
        </p:nvSpPr>
        <p:spPr>
          <a:xfrm>
            <a:off x="274320" y="0"/>
            <a:ext cx="8595360" cy="50292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CHƯƠNG 4 — ĐÁNH GIÁ ƯU NHƯỢC ĐIỂM</a:t>
            </a:r>
            <a:endParaRPr lang="en-US" sz="1100" dirty="0"/>
          </a:p>
        </p:txBody>
      </p:sp>
      <p:sp>
        <p:nvSpPr>
          <p:cNvPr id="31" name="Shape 0">
            <a:extLst>
              <a:ext uri="{FF2B5EF4-FFF2-40B4-BE49-F238E27FC236}">
                <a16:creationId xmlns:a16="http://schemas.microsoft.com/office/drawing/2014/main" id="{61DF23B4-BAB7-9819-6FFC-9844D41A5FA1}"/>
              </a:ext>
            </a:extLst>
          </p:cNvPr>
          <p:cNvSpPr/>
          <p:nvPr/>
        </p:nvSpPr>
        <p:spPr>
          <a:xfrm>
            <a:off x="0" y="1414130"/>
            <a:ext cx="9144000" cy="1853610"/>
          </a:xfrm>
          <a:prstGeom prst="rect">
            <a:avLst/>
          </a:prstGeom>
          <a:solidFill>
            <a:srgbClr val="16A34A"/>
          </a:solidFill>
          <a:ln w="12700">
            <a:solidFill>
              <a:srgbClr val="16A34A"/>
            </a:solidFill>
            <a:prstDash val="solid"/>
          </a:ln>
        </p:spPr>
        <p:txBody>
          <a:bodyPr/>
          <a:lstStyle/>
          <a:p>
            <a:endParaRPr lang="en-US"/>
          </a:p>
        </p:txBody>
      </p:sp>
      <p:sp>
        <p:nvSpPr>
          <p:cNvPr id="32" name="Text 1">
            <a:extLst>
              <a:ext uri="{FF2B5EF4-FFF2-40B4-BE49-F238E27FC236}">
                <a16:creationId xmlns:a16="http://schemas.microsoft.com/office/drawing/2014/main" id="{41695A51-68B9-6C28-EB91-33C5FB1F0FF8}"/>
              </a:ext>
            </a:extLst>
          </p:cNvPr>
          <p:cNvSpPr/>
          <p:nvPr/>
        </p:nvSpPr>
        <p:spPr>
          <a:xfrm>
            <a:off x="274320" y="1414130"/>
            <a:ext cx="8595360" cy="1853610"/>
          </a:xfrm>
          <a:prstGeom prst="rect">
            <a:avLst/>
          </a:prstGeom>
          <a:noFill/>
          <a:ln/>
        </p:spPr>
        <p:txBody>
          <a:bodyPr wrap="square"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DEMO</a:t>
            </a:r>
            <a:endParaRPr lang="en-US" sz="5000" dirty="0"/>
          </a:p>
        </p:txBody>
      </p:sp>
    </p:spTree>
    <p:extLst>
      <p:ext uri="{BB962C8B-B14F-4D97-AF65-F5344CB8AC3E}">
        <p14:creationId xmlns:p14="http://schemas.microsoft.com/office/powerpoint/2010/main" val="1273168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162D54"/>
          </a:solidFill>
          <a:ln w="12700">
            <a:solidFill>
              <a:srgbClr val="162D54"/>
            </a:solidFill>
            <a:prstDash val="solid"/>
          </a:ln>
        </p:spPr>
        <p:txBody>
          <a:bodyPr/>
          <a:lstStyle/>
          <a:p>
            <a:endParaRPr lang="en-US"/>
          </a:p>
        </p:txBody>
      </p:sp>
      <p:sp>
        <p:nvSpPr>
          <p:cNvPr id="3" name="Shape 1"/>
          <p:cNvSpPr/>
          <p:nvPr/>
        </p:nvSpPr>
        <p:spPr>
          <a:xfrm>
            <a:off x="7498080" y="3657600"/>
            <a:ext cx="2286000" cy="2286000"/>
          </a:xfrm>
          <a:prstGeom prst="ellipse">
            <a:avLst/>
          </a:prstGeom>
          <a:solidFill>
            <a:srgbClr val="162D54"/>
          </a:solidFill>
          <a:ln w="12700">
            <a:solidFill>
              <a:srgbClr val="162D54"/>
            </a:solidFill>
            <a:prstDash val="solid"/>
          </a:ln>
        </p:spPr>
        <p:txBody>
          <a:bodyPr/>
          <a:lstStyle/>
          <a:p>
            <a:endParaRPr lang="en-US"/>
          </a:p>
        </p:txBody>
      </p:sp>
      <p:sp>
        <p:nvSpPr>
          <p:cNvPr id="4" name="Shape 2"/>
          <p:cNvSpPr/>
          <p:nvPr/>
        </p:nvSpPr>
        <p:spPr>
          <a:xfrm>
            <a:off x="0" y="0"/>
            <a:ext cx="9144000" cy="54864"/>
          </a:xfrm>
          <a:prstGeom prst="rect">
            <a:avLst/>
          </a:prstGeom>
          <a:solidFill>
            <a:srgbClr val="2563EB"/>
          </a:solidFill>
          <a:ln w="12700">
            <a:solidFill>
              <a:srgbClr val="2563EB"/>
            </a:solidFill>
            <a:prstDash val="solid"/>
          </a:ln>
        </p:spPr>
        <p:txBody>
          <a:bodyPr/>
          <a:lstStyle/>
          <a:p>
            <a:endParaRPr lang="en-US"/>
          </a:p>
        </p:txBody>
      </p:sp>
      <p:sp>
        <p:nvSpPr>
          <p:cNvPr id="5" name="Shape 3"/>
          <p:cNvSpPr/>
          <p:nvPr/>
        </p:nvSpPr>
        <p:spPr>
          <a:xfrm>
            <a:off x="0" y="5088636"/>
            <a:ext cx="9144000" cy="54864"/>
          </a:xfrm>
          <a:prstGeom prst="rect">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640080"/>
            <a:ext cx="8229600" cy="73152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Cảm ơn Thầy/Cô và các bạn</a:t>
            </a:r>
            <a:endParaRPr lang="en-US" sz="3400" dirty="0"/>
          </a:p>
        </p:txBody>
      </p:sp>
      <p:sp>
        <p:nvSpPr>
          <p:cNvPr id="7" name="Text 5"/>
          <p:cNvSpPr/>
          <p:nvPr/>
        </p:nvSpPr>
        <p:spPr>
          <a:xfrm>
            <a:off x="457200" y="1353312"/>
            <a:ext cx="8229600" cy="640080"/>
          </a:xfrm>
          <a:prstGeom prst="rect">
            <a:avLst/>
          </a:prstGeom>
          <a:noFill/>
          <a:ln/>
        </p:spPr>
        <p:txBody>
          <a:bodyPr wrap="square" rtlCol="0" anchor="ctr"/>
          <a:lstStyle/>
          <a:p>
            <a:pPr marL="0" indent="0" algn="ctr">
              <a:buNone/>
            </a:pPr>
            <a:r>
              <a:rPr lang="en-US" sz="3000" b="1" dirty="0">
                <a:solidFill>
                  <a:srgbClr val="3B82F6"/>
                </a:solidFill>
                <a:latin typeface="Calibri" pitchFamily="34" charset="0"/>
                <a:ea typeface="Calibri" pitchFamily="34" charset="-122"/>
                <a:cs typeface="Calibri" pitchFamily="34" charset="-120"/>
              </a:rPr>
              <a:t>đã lắng nghe!</a:t>
            </a:r>
            <a:endParaRPr lang="en-US" sz="3000" dirty="0"/>
          </a:p>
        </p:txBody>
      </p:sp>
      <p:sp>
        <p:nvSpPr>
          <p:cNvPr id="8" name="Shape 6"/>
          <p:cNvSpPr/>
          <p:nvPr/>
        </p:nvSpPr>
        <p:spPr>
          <a:xfrm>
            <a:off x="2926080" y="2084832"/>
            <a:ext cx="3291840" cy="36576"/>
          </a:xfrm>
          <a:prstGeom prst="rect">
            <a:avLst/>
          </a:prstGeom>
          <a:solidFill>
            <a:srgbClr val="93C5FD"/>
          </a:solidFill>
          <a:ln w="12700">
            <a:solidFill>
              <a:srgbClr val="93C5FD"/>
            </a:solidFill>
            <a:prstDash val="solid"/>
          </a:ln>
        </p:spPr>
        <p:txBody>
          <a:bodyPr/>
          <a:lstStyle/>
          <a:p>
            <a:endParaRPr lang="en-US"/>
          </a:p>
        </p:txBody>
      </p:sp>
      <p:sp>
        <p:nvSpPr>
          <p:cNvPr id="9" name="Text 7"/>
          <p:cNvSpPr/>
          <p:nvPr/>
        </p:nvSpPr>
        <p:spPr>
          <a:xfrm>
            <a:off x="1371600" y="2231136"/>
            <a:ext cx="6400800" cy="1005840"/>
          </a:xfrm>
          <a:prstGeom prst="rect">
            <a:avLst/>
          </a:prstGeom>
          <a:noFill/>
          <a:ln/>
        </p:spPr>
        <p:txBody>
          <a:bodyPr wrap="square" rtlCol="0" anchor="ctr"/>
          <a:lstStyle/>
          <a:p>
            <a:pPr marL="0" indent="0" algn="ctr">
              <a:buNone/>
            </a:pPr>
            <a:r>
              <a:rPr lang="en-US" sz="5800" b="1" kern="0" spc="1400" dirty="0">
                <a:solidFill>
                  <a:srgbClr val="FFFFFF"/>
                </a:solidFill>
                <a:latin typeface="Calibri" pitchFamily="34" charset="0"/>
                <a:ea typeface="Calibri" pitchFamily="34" charset="-122"/>
                <a:cs typeface="Calibri" pitchFamily="34" charset="-120"/>
              </a:rPr>
              <a:t>Q  &amp;  A</a:t>
            </a:r>
            <a:endParaRPr lang="en-US" sz="5800" dirty="0"/>
          </a:p>
        </p:txBody>
      </p:sp>
      <p:sp>
        <p:nvSpPr>
          <p:cNvPr id="10" name="Shape 8"/>
          <p:cNvSpPr/>
          <p:nvPr/>
        </p:nvSpPr>
        <p:spPr>
          <a:xfrm>
            <a:off x="2286000" y="3429000"/>
            <a:ext cx="4572000" cy="502920"/>
          </a:xfrm>
          <a:prstGeom prst="rect">
            <a:avLst/>
          </a:prstGeom>
          <a:solidFill>
            <a:srgbClr val="1E3770"/>
          </a:solidFill>
          <a:ln w="12700">
            <a:solidFill>
              <a:srgbClr val="1E3770"/>
            </a:solidFill>
            <a:prstDash val="solid"/>
          </a:ln>
        </p:spPr>
        <p:txBody>
          <a:bodyPr/>
          <a:lstStyle/>
          <a:p>
            <a:endParaRPr lang="en-US"/>
          </a:p>
        </p:txBody>
      </p:sp>
      <p:sp>
        <p:nvSpPr>
          <p:cNvPr id="11" name="Text 9"/>
          <p:cNvSpPr/>
          <p:nvPr/>
        </p:nvSpPr>
        <p:spPr>
          <a:xfrm>
            <a:off x="2286000" y="3429000"/>
            <a:ext cx="4572000" cy="502920"/>
          </a:xfrm>
          <a:prstGeom prst="rect">
            <a:avLst/>
          </a:prstGeom>
          <a:noFill/>
          <a:ln/>
        </p:spPr>
        <p:txBody>
          <a:bodyPr wrap="square" rtlCol="0" anchor="ctr"/>
          <a:lstStyle/>
          <a:p>
            <a:pPr marL="0" indent="0" algn="ctr">
              <a:buNone/>
            </a:pPr>
            <a:r>
              <a:rPr lang="en-US" sz="1200" i="1" dirty="0">
                <a:solidFill>
                  <a:srgbClr val="93C5FD"/>
                </a:solidFill>
                <a:latin typeface="Calibri" pitchFamily="34" charset="0"/>
                <a:ea typeface="Calibri" pitchFamily="34" charset="-122"/>
                <a:cs typeface="Calibri" pitchFamily="34" charset="-120"/>
              </a:rPr>
              <a:t>Nhóm 6  ·  Đồ án Trí tuệ nhân tạo  ·  DSA Visualizer</a:t>
            </a:r>
            <a:endParaRPr lang="en-US" sz="1200" dirty="0"/>
          </a:p>
        </p:txBody>
      </p:sp>
      <p:sp>
        <p:nvSpPr>
          <p:cNvPr id="12" name="Text 10"/>
          <p:cNvSpPr/>
          <p:nvPr/>
        </p:nvSpPr>
        <p:spPr>
          <a:xfrm>
            <a:off x="2286000" y="4069080"/>
            <a:ext cx="4572000" cy="365760"/>
          </a:xfrm>
          <a:prstGeom prst="rect">
            <a:avLst/>
          </a:prstGeom>
          <a:noFill/>
          <a:ln/>
        </p:spPr>
        <p:txBody>
          <a:bodyPr wrap="square" rtlCol="0" anchor="ctr"/>
          <a:lstStyle/>
          <a:p>
            <a:pPr marL="0" indent="0" algn="ctr">
              <a:buNone/>
            </a:pPr>
            <a:r>
              <a:rPr lang="en-US" sz="1400" b="1" dirty="0">
                <a:solidFill>
                  <a:srgbClr val="FCD34D"/>
                </a:solidFill>
                <a:latin typeface="Calibri" pitchFamily="34" charset="0"/>
                <a:ea typeface="Calibri" pitchFamily="34" charset="-122"/>
                <a:cs typeface="Calibri" pitchFamily="34" charset="-120"/>
              </a:rPr>
              <a:t>🌐  dsai-ivory.vercel.app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1930</Words>
  <Application>Microsoft Office PowerPoint</Application>
  <PresentationFormat>On-screen Show (16:9)</PresentationFormat>
  <Paragraphs>319</Paragraphs>
  <Slides>29</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 Visualizer — Thuyết trình đồ án</dc:title>
  <dc:subject>PptxGenJS Presentation</dc:subject>
  <dc:creator>PptxGenJS</dc:creator>
  <cp:lastModifiedBy>Tô Văn Pháp</cp:lastModifiedBy>
  <cp:revision>56</cp:revision>
  <dcterms:created xsi:type="dcterms:W3CDTF">2026-05-28T05:24:13Z</dcterms:created>
  <dcterms:modified xsi:type="dcterms:W3CDTF">2026-06-04T02:28:50Z</dcterms:modified>
</cp:coreProperties>
</file>